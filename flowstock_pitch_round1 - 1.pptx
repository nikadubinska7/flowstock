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63" r:id="rId2"/>
    <p:sldId id="256" r:id="rId3"/>
    <p:sldId id="257" r:id="rId4"/>
    <p:sldId id="258" r:id="rId5"/>
    <p:sldId id="261" r:id="rId6"/>
    <p:sldId id="264" r:id="rId7"/>
    <p:sldId id="265" r:id="rId8"/>
    <p:sldId id="268" r:id="rId9"/>
    <p:sldId id="269" r:id="rId10"/>
    <p:sldId id="270"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4539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Two things are happening at once here.</a:t>
            </a:r>
          </a:p>
          <a:p>
            <a:endParaRPr dirty="0"/>
          </a:p>
          <a:p>
            <a:r>
              <a:rPr dirty="0"/>
              <a:t>On the left, the market is growing. Sportswear goes from about four hundred</a:t>
            </a:r>
          </a:p>
          <a:p>
            <a:r>
              <a:rPr dirty="0"/>
              <a:t>billion dollars today to nearly nine hundred billion by 2033. Europe is more than</a:t>
            </a:r>
          </a:p>
          <a:p>
            <a:r>
              <a:rPr dirty="0"/>
              <a:t>a quarter of it. Growth is not your problem.</a:t>
            </a:r>
          </a:p>
          <a:p>
            <a:endParaRPr dirty="0"/>
          </a:p>
          <a:p>
            <a:r>
              <a:rPr dirty="0"/>
              <a:t>Your problem is on the right. Seventy shops times twelve hundred products is</a:t>
            </a:r>
          </a:p>
          <a:p>
            <a:r>
              <a:rPr dirty="0"/>
              <a:t>eighty-four thousand decisions, every week — how many units of each product go to</a:t>
            </a:r>
          </a:p>
          <a:p>
            <a:r>
              <a:rPr dirty="0"/>
              <a:t>each shop.</a:t>
            </a:r>
          </a:p>
          <a:p>
            <a:endParaRPr dirty="0"/>
          </a:p>
          <a:p>
            <a:r>
              <a:rPr dirty="0"/>
              <a:t>Now look at the bars. Five planners, ten seconds a decision, about a third of</a:t>
            </a:r>
          </a:p>
          <a:p>
            <a:r>
              <a:rPr dirty="0"/>
              <a:t>their week on replenishment. Sixty hours available. Two hundred and thirty-three</a:t>
            </a:r>
          </a:p>
          <a:p>
            <a:r>
              <a:rPr dirty="0"/>
              <a:t>hours needed.</a:t>
            </a:r>
          </a:p>
          <a:p>
            <a:endParaRPr dirty="0"/>
          </a:p>
          <a:p>
            <a:r>
              <a:rPr dirty="0"/>
              <a:t>I want to be very clear about what that means, because it is not a criticism of</a:t>
            </a:r>
          </a:p>
          <a:p>
            <a:r>
              <a:rPr dirty="0"/>
              <a:t>your team. Nobody could do this properly in sixty hours. So they use sensible</a:t>
            </a:r>
          </a:p>
          <a:p>
            <a:r>
              <a:rPr dirty="0"/>
              <a:t>rules of thumb — send everyone the same, top up whatever looks low. That is the</a:t>
            </a:r>
          </a:p>
          <a:p>
            <a:r>
              <a:rPr dirty="0"/>
              <a:t>correct response to an impossible job. It is also exactly where the money leaks.</a:t>
            </a:r>
          </a:p>
          <a:p>
            <a:endParaRPr dirty="0"/>
          </a:p>
          <a:p>
            <a:r>
              <a:rPr dirty="0"/>
              <a:t>[~70 sec]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Here is what that costs the industry. One point seven seven trillion dollars a</a:t>
            </a:r>
          </a:p>
          <a:p>
            <a:r>
              <a:rPr dirty="0"/>
              <a:t>year — six and a half percent of everything retailers sell worldwide — lost to</a:t>
            </a:r>
          </a:p>
          <a:p>
            <a:r>
              <a:rPr dirty="0"/>
              <a:t>stock sitting in the wrong place. Two thirds of that is empty shelves. The other</a:t>
            </a:r>
          </a:p>
          <a:p>
            <a:r>
              <a:rPr dirty="0"/>
              <a:t>third is stock you already paid for that nobody wants.</a:t>
            </a:r>
          </a:p>
          <a:p>
            <a:endParaRPr dirty="0"/>
          </a:p>
          <a:p>
            <a:r>
              <a:rPr dirty="0"/>
              <a:t>But the right-hand side is the part I actually want you to remember. This is how</a:t>
            </a:r>
          </a:p>
          <a:p>
            <a:r>
              <a:rPr dirty="0"/>
              <a:t>a stockout really plays out.</a:t>
            </a:r>
          </a:p>
          <a:p>
            <a:endParaRPr dirty="0"/>
          </a:p>
          <a:p>
            <a:r>
              <a:rPr dirty="0"/>
              <a:t>Day zero, a product starts selling faster than usual. Day three, the shelf is</a:t>
            </a:r>
          </a:p>
          <a:p>
            <a:r>
              <a:rPr dirty="0"/>
              <a:t>empty — and that customer has already walked out. Day seven, your weekly report</a:t>
            </a:r>
          </a:p>
          <a:p>
            <a:r>
              <a:rPr dirty="0"/>
              <a:t>finally shows it. Day ten, new stock arrives.</a:t>
            </a:r>
          </a:p>
          <a:p>
            <a:endParaRPr dirty="0"/>
          </a:p>
          <a:p>
            <a:r>
              <a:rPr dirty="0"/>
              <a:t>That is a week of lost sales before anybody could do anything.</a:t>
            </a:r>
          </a:p>
          <a:p>
            <a:endParaRPr dirty="0"/>
          </a:p>
          <a:p>
            <a:r>
              <a:rPr dirty="0"/>
              <a:t>And notice — the data existed on day three. It was sitting in your systems.</a:t>
            </a:r>
          </a:p>
          <a:p>
            <a:r>
              <a:rPr dirty="0"/>
              <a:t>Nobody was looking at it, because nobody can look at eighty-four thousand lines</a:t>
            </a:r>
          </a:p>
          <a:p>
            <a:r>
              <a:rPr dirty="0"/>
              <a:t>every day.</a:t>
            </a:r>
          </a:p>
          <a:p>
            <a:endParaRPr dirty="0"/>
          </a:p>
          <a:p>
            <a:r>
              <a:rPr dirty="0"/>
              <a:t>This is not a data problem. It is a speed problem.</a:t>
            </a:r>
          </a:p>
          <a:p>
            <a:endParaRPr dirty="0"/>
          </a:p>
          <a:p>
            <a:r>
              <a:rPr dirty="0"/>
              <a:t>[~70 sec]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 does AI actually fix this? The evidence says yes.</a:t>
            </a:r>
          </a:p>
          <a:p>
            <a:endParaRPr dirty="0"/>
          </a:p>
          <a:p>
            <a:r>
              <a:rPr dirty="0"/>
              <a:t>Retailers using AI report around forty percent less error in predicting demand,</a:t>
            </a:r>
          </a:p>
          <a:p>
            <a:r>
              <a:rPr dirty="0"/>
              <a:t>a third less cash tied up in stock, and roughly forty percent fewer lost sales.</a:t>
            </a:r>
          </a:p>
          <a:p>
            <a:r>
              <a:rPr dirty="0"/>
              <a:t>Fifty-eight percent of retailers are already doing it — up sixteen points in a</a:t>
            </a:r>
          </a:p>
          <a:p>
            <a:r>
              <a:rPr dirty="0"/>
              <a:t>single year. This is not experimental any more.</a:t>
            </a:r>
          </a:p>
          <a:p>
            <a:endParaRPr dirty="0"/>
          </a:p>
          <a:p>
            <a:r>
              <a:rPr dirty="0"/>
              <a:t>But the number on the right is the one that matters most to you, because it is</a:t>
            </a:r>
          </a:p>
          <a:p>
            <a:r>
              <a:rPr dirty="0"/>
              <a:t>your own objection turned into a statistic.</a:t>
            </a:r>
          </a:p>
          <a:p>
            <a:endParaRPr dirty="0"/>
          </a:p>
          <a:p>
            <a:r>
              <a:rPr dirty="0"/>
              <a:t>Seventy percent of AI projects that stall fail for one single reason: nobody can</a:t>
            </a:r>
          </a:p>
          <a:p>
            <a:r>
              <a:rPr dirty="0"/>
              <a:t>explain how the computer reached its answer. Not because the </a:t>
            </a:r>
            <a:r>
              <a:rPr dirty="0" err="1"/>
              <a:t>maths</a:t>
            </a:r>
            <a:r>
              <a:rPr dirty="0"/>
              <a:t> was wrong.</a:t>
            </a:r>
          </a:p>
          <a:p>
            <a:r>
              <a:rPr dirty="0"/>
              <a:t>Because a planner looked at the screen, did not understand where the number came</a:t>
            </a:r>
          </a:p>
          <a:p>
            <a:r>
              <a:rPr dirty="0"/>
              <a:t>from, and overrode it. And a system nobody uses is worth precisely nothing.</a:t>
            </a:r>
          </a:p>
          <a:p>
            <a:endParaRPr dirty="0"/>
          </a:p>
          <a:p>
            <a:r>
              <a:rPr dirty="0"/>
              <a:t>So the system that wins is not the cleverest one. It is the one your team trusts</a:t>
            </a:r>
          </a:p>
          <a:p>
            <a:r>
              <a:rPr dirty="0"/>
              <a:t>enough to act on. Everything from here on is built around that sentence.</a:t>
            </a:r>
          </a:p>
          <a:p>
            <a:endParaRPr dirty="0"/>
          </a:p>
          <a:p>
            <a:r>
              <a:rPr dirty="0"/>
              <a:t>[~70 sec]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 here is what we propose. And here is the direct answer to your question —</a:t>
            </a:r>
          </a:p>
          <a:p>
            <a:r>
              <a:rPr dirty="0"/>
              <a:t>what is "the AI".</a:t>
            </a:r>
          </a:p>
          <a:p>
            <a:endParaRPr dirty="0"/>
          </a:p>
          <a:p>
            <a:r>
              <a:rPr dirty="0"/>
              <a:t>Six steps. Your data comes in overnight. Only two of these six have an AI tag.</a:t>
            </a:r>
          </a:p>
          <a:p>
            <a:endParaRPr dirty="0"/>
          </a:p>
          <a:p>
            <a:r>
              <a:rPr dirty="0"/>
              <a:t>Forecast learns from your own sales history what each shop will sell over the</a:t>
            </a:r>
          </a:p>
          <a:p>
            <a:r>
              <a:rPr dirty="0"/>
              <a:t>next fortnight. Priority ranks which shop earns the most from the next available</a:t>
            </a:r>
          </a:p>
          <a:p>
            <a:r>
              <a:rPr dirty="0"/>
              <a:t>unit — because your warehouse never has enough for everyone, and somebody has to</a:t>
            </a:r>
          </a:p>
          <a:p>
            <a:r>
              <a:rPr dirty="0"/>
              <a:t>decide who gets it.</a:t>
            </a:r>
          </a:p>
          <a:p>
            <a:endParaRPr dirty="0"/>
          </a:p>
          <a:p>
            <a:r>
              <a:rPr dirty="0"/>
              <a:t>Then fixed rules. Warehouse stock, box sizes, shelf space. These are arithmetic,</a:t>
            </a:r>
          </a:p>
          <a:p>
            <a:r>
              <a:rPr dirty="0"/>
              <a:t>not predictions, and we deliberately keep a model away from them. If a box holds</a:t>
            </a:r>
          </a:p>
          <a:p>
            <a:r>
              <a:rPr dirty="0"/>
              <a:t>six, it holds six.</a:t>
            </a:r>
          </a:p>
          <a:p>
            <a:endParaRPr dirty="0"/>
          </a:p>
          <a:p>
            <a:r>
              <a:rPr dirty="0"/>
              <a:t>Then your planner. Adjust any line and the totals move instantly. Nothing ships</a:t>
            </a:r>
          </a:p>
          <a:p>
            <a:r>
              <a:rPr dirty="0"/>
              <a:t>until a person approves it, and any change from the recommendation needs a</a:t>
            </a:r>
          </a:p>
          <a:p>
            <a:r>
              <a:rPr dirty="0"/>
              <a:t>written reason.</a:t>
            </a:r>
          </a:p>
          <a:p>
            <a:endParaRPr dirty="0"/>
          </a:p>
          <a:p>
            <a:r>
              <a:rPr dirty="0"/>
              <a:t>One last thing — one recommendation, not a menu. Your service target is set once,</a:t>
            </a:r>
          </a:p>
          <a:p>
            <a:r>
              <a:rPr dirty="0"/>
              <a:t>by you, and reviewed quarterly. Your planner should not be re-choosing your</a:t>
            </a:r>
          </a:p>
          <a:p>
            <a:r>
              <a:rPr dirty="0"/>
              <a:t>inventory strategy every Monday morning.</a:t>
            </a:r>
          </a:p>
          <a:p>
            <a:endParaRPr dirty="0"/>
          </a:p>
          <a:p>
            <a:r>
              <a:rPr dirty="0"/>
              <a:t>[~80 sec]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I want to be clear that this is not a concept deck. This part runs today.</a:t>
            </a:r>
          </a:p>
          <a:p>
            <a:endParaRPr dirty="0"/>
          </a:p>
          <a:p>
            <a:r>
              <a:rPr dirty="0"/>
              <a:t>That is a real plan across fifty-seven thousand shop-product lines. Sales at risk</a:t>
            </a:r>
          </a:p>
          <a:p>
            <a:r>
              <a:rPr dirty="0"/>
              <a:t>over the next fortnight halved. Shelves likely to run empty went from seventeen</a:t>
            </a:r>
          </a:p>
          <a:p>
            <a:r>
              <a:rPr dirty="0"/>
              <a:t>point seven percent to eight point seven. Thirty-three thousand units proposed,</a:t>
            </a:r>
          </a:p>
          <a:p>
            <a:r>
              <a:rPr dirty="0"/>
              <a:t>six thousand three hundred lines improved.</a:t>
            </a:r>
          </a:p>
          <a:p>
            <a:endParaRPr dirty="0"/>
          </a:p>
          <a:p>
            <a:r>
              <a:rPr dirty="0"/>
              <a:t>Two numbers matter more than the rest.</a:t>
            </a:r>
          </a:p>
          <a:p>
            <a:endParaRPr dirty="0"/>
          </a:p>
          <a:p>
            <a:r>
              <a:rPr dirty="0"/>
              <a:t>Zero shipment rule breaches. Not one line broke a capacity limit or a box size.</a:t>
            </a:r>
          </a:p>
          <a:p>
            <a:endParaRPr dirty="0"/>
          </a:p>
          <a:p>
            <a:r>
              <a:rPr dirty="0"/>
              <a:t>And this one: of four thousand eight hundred high-risk lines, three thousand one</a:t>
            </a:r>
          </a:p>
          <a:p>
            <a:r>
              <a:rPr dirty="0"/>
              <a:t>hundred received stock, and one thousand seven hundred received nothing — every</a:t>
            </a:r>
          </a:p>
          <a:p>
            <a:r>
              <a:rPr dirty="0"/>
              <a:t>single one with a written reason on the screen.</a:t>
            </a:r>
          </a:p>
          <a:p>
            <a:endParaRPr dirty="0"/>
          </a:p>
          <a:p>
            <a:r>
              <a:rPr dirty="0"/>
              <a:t>That second part is the trust mechanism. When your planner asks "why did this</a:t>
            </a:r>
          </a:p>
          <a:p>
            <a:r>
              <a:rPr dirty="0"/>
              <a:t>shop get nothing", the system answers. No stock. No room. Wrong box size. That is</a:t>
            </a:r>
          </a:p>
          <a:p>
            <a:r>
              <a:rPr dirty="0"/>
              <a:t>what stops people overriding it.</a:t>
            </a:r>
          </a:p>
          <a:p>
            <a:endParaRPr dirty="0"/>
          </a:p>
          <a:p>
            <a:r>
              <a:rPr dirty="0"/>
              <a:t>These are simulated outcomes against the supplied forecast. Real service and real</a:t>
            </a:r>
          </a:p>
          <a:p>
            <a:r>
              <a:rPr dirty="0"/>
              <a:t>margin come from a pilot, and I will get to that.</a:t>
            </a:r>
          </a:p>
          <a:p>
            <a:endParaRPr dirty="0"/>
          </a:p>
          <a:p>
            <a:r>
              <a:rPr dirty="0"/>
              <a:t>[~80 sec]</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If it already works, what is the AI actually for?</a:t>
            </a:r>
          </a:p>
          <a:p>
            <a:endParaRPr dirty="0"/>
          </a:p>
          <a:p>
            <a:r>
              <a:rPr dirty="0"/>
              <a:t>Three things.</a:t>
            </a:r>
          </a:p>
          <a:p>
            <a:endParaRPr dirty="0"/>
          </a:p>
          <a:p>
            <a:r>
              <a:rPr dirty="0"/>
              <a:t>Today the plan trusts a forecast we are handed. A trained model replaces it and</a:t>
            </a:r>
          </a:p>
          <a:p>
            <a:r>
              <a:rPr dirty="0"/>
              <a:t>carries its own confidence score — so the system knows which predictions to rely</a:t>
            </a:r>
          </a:p>
          <a:p>
            <a:r>
              <a:rPr dirty="0"/>
              <a:t>on. Fewer surprises.</a:t>
            </a:r>
          </a:p>
          <a:p>
            <a:endParaRPr dirty="0"/>
          </a:p>
          <a:p>
            <a:r>
              <a:rPr dirty="0"/>
              <a:t>Today a fixed fifty-fifty rule ranks the queue. A model learns that ranking from</a:t>
            </a:r>
          </a:p>
          <a:p>
            <a:r>
              <a:rPr dirty="0"/>
              <a:t>what actually sold, so scarce warehouse stock lands where it converts rather than</a:t>
            </a:r>
          </a:p>
          <a:p>
            <a:r>
              <a:rPr dirty="0"/>
              <a:t>where a rule guessed it would.</a:t>
            </a:r>
          </a:p>
          <a:p>
            <a:endParaRPr dirty="0"/>
          </a:p>
          <a:p>
            <a:r>
              <a:rPr dirty="0"/>
              <a:t>And today a person has to start every run. Scheduled jobs would refresh the data,</a:t>
            </a:r>
          </a:p>
          <a:p>
            <a:r>
              <a:rPr dirty="0"/>
              <a:t>build the plan, alert the planner and watch accuracy on their own.</a:t>
            </a:r>
          </a:p>
          <a:p>
            <a:endParaRPr dirty="0"/>
          </a:p>
          <a:p>
            <a:r>
              <a:rPr dirty="0"/>
              <a:t>Here is the part I would underline. The screen your planner uses does not change.</a:t>
            </a:r>
          </a:p>
          <a:p>
            <a:r>
              <a:rPr dirty="0"/>
              <a:t>The workflow does not change. What changes is how good the numbers behind it get.</a:t>
            </a:r>
          </a:p>
          <a:p>
            <a:r>
              <a:rPr dirty="0"/>
              <a:t>That is deliberate — we are not asking your team to learn a new job.</a:t>
            </a:r>
          </a:p>
          <a:p>
            <a:endParaRPr dirty="0"/>
          </a:p>
          <a:p>
            <a:r>
              <a:rPr dirty="0"/>
              <a:t>[~70 sec]</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And here is what we have tested so far. Six cases, all from the working system</a:t>
            </a:r>
          </a:p>
          <a:p>
            <a:r>
              <a:rPr dirty="0"/>
              <a:t>running your full dataset.</a:t>
            </a:r>
          </a:p>
          <a:p>
            <a:endParaRPr dirty="0"/>
          </a:p>
          <a:p>
            <a:r>
              <a:rPr dirty="0"/>
              <a:t>Shop short of a fast seller and the warehouse has stock — it gets a recommended</a:t>
            </a:r>
          </a:p>
          <a:p>
            <a:r>
              <a:rPr dirty="0"/>
              <a:t>quantity. Warehouse empty — zero, with the reason shown. Shelf holds seven, has</a:t>
            </a:r>
          </a:p>
          <a:p>
            <a:r>
              <a:rPr dirty="0"/>
              <a:t>five, box of six — no shipment, because it would not fit. A full plan of</a:t>
            </a:r>
          </a:p>
          <a:p>
            <a:r>
              <a:rPr dirty="0"/>
              <a:t>thirty-three thousand units — not one rule broken. Planner changes a quantity</a:t>
            </a:r>
          </a:p>
          <a:p>
            <a:r>
              <a:rPr dirty="0"/>
              <a:t>without explaining — approval blocked until they do.</a:t>
            </a:r>
          </a:p>
          <a:p>
            <a:endParaRPr dirty="0"/>
          </a:p>
          <a:p>
            <a:r>
              <a:rPr dirty="0"/>
              <a:t>The last one is for your finance team. The same plan sent for approval twice gets</a:t>
            </a:r>
          </a:p>
          <a:p>
            <a:r>
              <a:rPr dirty="0"/>
              <a:t>refused. Stock cannot be committed twice. That protects you from your own users</a:t>
            </a:r>
          </a:p>
          <a:p>
            <a:r>
              <a:rPr dirty="0"/>
              <a:t>on a busy morning.</a:t>
            </a:r>
          </a:p>
          <a:p>
            <a:endParaRPr dirty="0"/>
          </a:p>
          <a:p>
            <a:r>
              <a:rPr dirty="0"/>
              <a:t>One honest note. The commercial figures are simulated against the supplied</a:t>
            </a:r>
          </a:p>
          <a:p>
            <a:r>
              <a:rPr dirty="0"/>
              <a:t>forecast, so they prove the machine behaves correctly and predictably. Measured</a:t>
            </a:r>
          </a:p>
          <a:p>
            <a:r>
              <a:rPr dirty="0"/>
              <a:t>service and margin come from the pilot on real shops.</a:t>
            </a:r>
          </a:p>
          <a:p>
            <a:endParaRPr dirty="0"/>
          </a:p>
          <a:p>
            <a:r>
              <a:rPr dirty="0"/>
              <a:t>The forecasting pipeline itself was built and validated on a public retail</a:t>
            </a:r>
          </a:p>
          <a:p>
            <a:r>
              <a:rPr dirty="0"/>
              <a:t>dataset. A sportswear-specific model is the next piece of work.</a:t>
            </a:r>
          </a:p>
          <a:p>
            <a:endParaRPr dirty="0"/>
          </a:p>
          <a:p>
            <a:r>
              <a:rPr dirty="0"/>
              <a:t>[~80 sec]</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What it costs.</a:t>
            </a:r>
          </a:p>
          <a:p>
            <a:endParaRPr dirty="0"/>
          </a:p>
          <a:p>
            <a:r>
              <a:rPr dirty="0"/>
              <a:t>The prototype is done — there is no charge for that, it exists.</a:t>
            </a:r>
          </a:p>
          <a:p>
            <a:endParaRPr dirty="0"/>
          </a:p>
          <a:p>
            <a:r>
              <a:rPr dirty="0"/>
              <a:t>Weeks one to six, we connect your real data on one category, one region, ten</a:t>
            </a:r>
          </a:p>
          <a:p>
            <a:r>
              <a:rPr dirty="0"/>
              <a:t>shops. Weeks seven to fourteen, we build the sportswear forecast and prove it</a:t>
            </a:r>
          </a:p>
          <a:p>
            <a:r>
              <a:rPr dirty="0"/>
              <a:t>beats what you do today — and if it does not, that gate stops it. Weeks fifteen</a:t>
            </a:r>
          </a:p>
          <a:p>
            <a:r>
              <a:rPr dirty="0"/>
              <a:t>to twenty, we automate the cycle and run the pilot against real sales.</a:t>
            </a:r>
          </a:p>
          <a:p>
            <a:endParaRPr dirty="0"/>
          </a:p>
          <a:p>
            <a:r>
              <a:rPr dirty="0"/>
              <a:t>Sixty-nine thousand euros all in, over twenty weeks.</a:t>
            </a:r>
          </a:p>
          <a:p>
            <a:endParaRPr dirty="0"/>
          </a:p>
          <a:p>
            <a:r>
              <a:rPr dirty="0"/>
              <a:t>The assumptions are on the slide and I want them visible. A seven-hundred-euro</a:t>
            </a:r>
          </a:p>
          <a:p>
            <a:r>
              <a:rPr dirty="0"/>
              <a:t>day rate, one engineer, your data available by week two, and one planner released</a:t>
            </a:r>
          </a:p>
          <a:p>
            <a:r>
              <a:rPr dirty="0"/>
              <a:t>two days a week. It excludes any ERP integration your own IT might need. It is an</a:t>
            </a:r>
          </a:p>
          <a:p>
            <a:r>
              <a:rPr dirty="0"/>
              <a:t>estimate, not a fixed quote.</a:t>
            </a:r>
          </a:p>
          <a:p>
            <a:endParaRPr dirty="0"/>
          </a:p>
          <a:p>
            <a:r>
              <a:rPr dirty="0"/>
              <a:t>On payback. The full modelled benefit was one point one one million a year. I am</a:t>
            </a:r>
          </a:p>
          <a:p>
            <a:r>
              <a:rPr dirty="0"/>
              <a:t>not going to promise you that. But if the pilot delivers even a quarter of it,</a:t>
            </a:r>
          </a:p>
          <a:p>
            <a:r>
              <a:rPr dirty="0"/>
              <a:t>sixty-nine thousand is repaid in under four months — and the cycle keeps running</a:t>
            </a:r>
          </a:p>
          <a:p>
            <a:r>
              <a:rPr dirty="0"/>
              <a:t>after that.</a:t>
            </a:r>
          </a:p>
          <a:p>
            <a:endParaRPr dirty="0"/>
          </a:p>
          <a:p>
            <a:r>
              <a:rPr dirty="0"/>
              <a:t>[~85 sec]</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So what am I actually asking for.</a:t>
            </a:r>
          </a:p>
          <a:p>
            <a:endParaRPr dirty="0"/>
          </a:p>
          <a:p>
            <a:r>
              <a:rPr dirty="0"/>
              <a:t>Two years of sales history — whatever your till system already keeps. Today's</a:t>
            </a:r>
          </a:p>
          <a:p>
            <a:r>
              <a:rPr dirty="0"/>
              <a:t>stock and assortment. One category, one region, about ten shops. And one planner</a:t>
            </a:r>
          </a:p>
          <a:p>
            <a:r>
              <a:rPr dirty="0"/>
              <a:t>for two days a week.</a:t>
            </a:r>
          </a:p>
          <a:p>
            <a:endParaRPr dirty="0"/>
          </a:p>
          <a:p>
            <a:r>
              <a:rPr dirty="0"/>
              <a:t>That last one is not a formality. It has to be the person who knows why the rules</a:t>
            </a:r>
          </a:p>
          <a:p>
            <a:r>
              <a:rPr dirty="0"/>
              <a:t>exist, because they will tell us things the data never will.</a:t>
            </a:r>
          </a:p>
          <a:p>
            <a:endParaRPr dirty="0"/>
          </a:p>
          <a:p>
            <a:r>
              <a:rPr dirty="0"/>
              <a:t>What you get back. A number, not a promise — measured service, stock and margin</a:t>
            </a:r>
          </a:p>
          <a:p>
            <a:r>
              <a:rPr dirty="0"/>
              <a:t>on ten real shops. A decision point at week twenty where rolling it out, changing</a:t>
            </a:r>
          </a:p>
          <a:p>
            <a:r>
              <a:rPr dirty="0"/>
              <a:t>direction, or stopping are all acceptable answers. And everything we build stays</a:t>
            </a:r>
          </a:p>
          <a:p>
            <a:r>
              <a:rPr dirty="0"/>
              <a:t>documented and stays with you, whichever way you decide.</a:t>
            </a:r>
          </a:p>
          <a:p>
            <a:endParaRPr dirty="0"/>
          </a:p>
          <a:p>
            <a:r>
              <a:rPr dirty="0"/>
              <a:t>You asked me what "the AI" is. It is a forecast and a ranking, both checked</a:t>
            </a:r>
          </a:p>
          <a:p>
            <a:r>
              <a:rPr dirty="0"/>
              <a:t>against what really sold, inside a system that shows its reasoning on every</a:t>
            </a:r>
          </a:p>
          <a:p>
            <a:r>
              <a:rPr dirty="0"/>
              <a:t>single line.</a:t>
            </a:r>
          </a:p>
          <a:p>
            <a:endParaRPr dirty="0"/>
          </a:p>
          <a:p>
            <a:r>
              <a:rPr dirty="0"/>
              <a:t>Thank you. Happy to take questions.</a:t>
            </a:r>
          </a:p>
          <a:p>
            <a:endParaRPr dirty="0"/>
          </a:p>
          <a:p>
            <a:r>
              <a:rPr dirty="0"/>
              <a:t>─────────────────────────────────────────────</a:t>
            </a:r>
          </a:p>
          <a:p>
            <a:r>
              <a:rPr dirty="0"/>
              <a:t>LIKELY QUESTIONS</a:t>
            </a:r>
          </a:p>
          <a:p>
            <a:endParaRPr dirty="0"/>
          </a:p>
          <a:p>
            <a:r>
              <a:rPr dirty="0"/>
              <a:t>"Why not just buy Blue Yonder or RELEX?"</a:t>
            </a:r>
          </a:p>
          <a:p>
            <a:r>
              <a:rPr dirty="0"/>
              <a:t> → They are priced for retailers above a billion in revenue. At your scale the</a:t>
            </a:r>
          </a:p>
          <a:p>
            <a:r>
              <a:rPr dirty="0"/>
              <a:t>   </a:t>
            </a:r>
            <a:r>
              <a:rPr dirty="0" err="1"/>
              <a:t>licence</a:t>
            </a:r>
            <a:r>
              <a:rPr dirty="0"/>
              <a:t> alone exceeds this entire </a:t>
            </a:r>
            <a:r>
              <a:rPr dirty="0" err="1"/>
              <a:t>programme</a:t>
            </a:r>
            <a:r>
              <a:rPr dirty="0"/>
              <a:t>, and you would still be</a:t>
            </a:r>
          </a:p>
          <a:p>
            <a:r>
              <a:rPr dirty="0"/>
              <a:t>   configuring it in twenty weeks.</a:t>
            </a:r>
          </a:p>
          <a:p>
            <a:endParaRPr dirty="0"/>
          </a:p>
          <a:p>
            <a:r>
              <a:rPr dirty="0"/>
              <a:t>"How do I know the forecast will be any good?"</a:t>
            </a:r>
          </a:p>
          <a:p>
            <a:r>
              <a:rPr dirty="0"/>
              <a:t> → You do not, yet, and neither do I. That is what weeks seven to fourteen are</a:t>
            </a:r>
          </a:p>
          <a:p>
            <a:r>
              <a:rPr dirty="0"/>
              <a:t>   for. The gate on slide 12 refuses to ship a model that does not beat your</a:t>
            </a:r>
          </a:p>
          <a:p>
            <a:r>
              <a:rPr dirty="0"/>
              <a:t>   current method.</a:t>
            </a:r>
          </a:p>
          <a:p>
            <a:endParaRPr dirty="0"/>
          </a:p>
          <a:p>
            <a:r>
              <a:rPr dirty="0"/>
              <a:t>"What if my planners just ignore it?"</a:t>
            </a:r>
          </a:p>
          <a:p>
            <a:r>
              <a:rPr dirty="0"/>
              <a:t> → Then the model is wrong and we need to know. Override rate is a tracked</a:t>
            </a:r>
          </a:p>
          <a:p>
            <a:r>
              <a:rPr dirty="0"/>
              <a:t>   number in the pilot, not a feeling.</a:t>
            </a:r>
          </a:p>
          <a:p>
            <a:endParaRPr dirty="0"/>
          </a:p>
          <a:p>
            <a:r>
              <a:rPr dirty="0"/>
              <a:t>"Is our data good enough?"</a:t>
            </a:r>
          </a:p>
          <a:p>
            <a:r>
              <a:rPr dirty="0"/>
              <a:t> → Probably not perfectly, and we will find that out in weeks one to six. When we</a:t>
            </a:r>
          </a:p>
          <a:p>
            <a:r>
              <a:rPr dirty="0"/>
              <a:t>   loaded the sample capacity data, every store-category group already exceeded</a:t>
            </a:r>
          </a:p>
          <a:p>
            <a:r>
              <a:rPr dirty="0"/>
              <a:t>   its stated limit. Finding that early is the point of a pilot.</a:t>
            </a:r>
          </a:p>
          <a:p>
            <a:endParaRPr dirty="0"/>
          </a:p>
          <a:p>
            <a:r>
              <a:rPr dirty="0"/>
              <a:t>"Does this fall under the EU AI Act?"</a:t>
            </a:r>
          </a:p>
          <a:p>
            <a:r>
              <a:rPr dirty="0"/>
              <a:t> → Our preliminary view is no high-risk classification — it handles stock and</a:t>
            </a:r>
          </a:p>
          <a:p>
            <a:r>
              <a:rPr dirty="0"/>
              <a:t>   sales figures, no personal data and no decisions about people. We would</a:t>
            </a:r>
          </a:p>
          <a:p>
            <a:r>
              <a:rPr dirty="0"/>
              <a:t>   confirm that formally in the next phase.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A12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98448"/>
            <a:ext cx="6400800" cy="164592"/>
          </a:xfrm>
          <a:prstGeom prst="rect">
            <a:avLst/>
          </a:prstGeom>
          <a:noFill/>
        </p:spPr>
        <p:txBody>
          <a:bodyPr wrap="square" lIns="0" tIns="0" rIns="0" bIns="0" anchor="t">
            <a:spAutoFit/>
          </a:bodyPr>
          <a:lstStyle/>
          <a:p>
            <a:pPr algn="l"/>
            <a:r>
              <a:rPr sz="900" b="1" i="0" spc="200">
                <a:solidFill>
                  <a:srgbClr val="10B981"/>
                </a:solidFill>
                <a:latin typeface="Helvetica Neue"/>
              </a:rPr>
              <a:t>AI CONSULTING PROPOSAL  ·  SEPTEMBER 2026</a:t>
            </a:r>
          </a:p>
        </p:txBody>
      </p:sp>
      <p:sp>
        <p:nvSpPr>
          <p:cNvPr id="4" name="TextBox 3"/>
          <p:cNvSpPr txBox="1"/>
          <p:nvPr/>
        </p:nvSpPr>
        <p:spPr>
          <a:xfrm>
            <a:off x="502920" y="1536192"/>
            <a:ext cx="7315200" cy="960120"/>
          </a:xfrm>
          <a:prstGeom prst="rect">
            <a:avLst/>
          </a:prstGeom>
          <a:noFill/>
        </p:spPr>
        <p:txBody>
          <a:bodyPr wrap="square" lIns="0" tIns="0" rIns="0" bIns="0" anchor="t">
            <a:spAutoFit/>
          </a:bodyPr>
          <a:lstStyle/>
          <a:p>
            <a:pPr algn="l"/>
            <a:r>
              <a:rPr sz="5400" b="1" i="0">
                <a:solidFill>
                  <a:srgbClr val="FFFFFF"/>
                </a:solidFill>
                <a:latin typeface="Helvetica Neue"/>
              </a:rPr>
              <a:t>Flowstock</a:t>
            </a:r>
          </a:p>
        </p:txBody>
      </p:sp>
      <p:sp>
        <p:nvSpPr>
          <p:cNvPr id="5" name="TextBox 4"/>
          <p:cNvSpPr txBox="1"/>
          <p:nvPr/>
        </p:nvSpPr>
        <p:spPr>
          <a:xfrm>
            <a:off x="502920" y="2542032"/>
            <a:ext cx="6949440" cy="329184"/>
          </a:xfrm>
          <a:prstGeom prst="rect">
            <a:avLst/>
          </a:prstGeom>
          <a:noFill/>
        </p:spPr>
        <p:txBody>
          <a:bodyPr wrap="square" lIns="0" tIns="0" rIns="0" bIns="0" anchor="t">
            <a:spAutoFit/>
          </a:bodyPr>
          <a:lstStyle/>
          <a:p>
            <a:pPr algn="l"/>
            <a:r>
              <a:rPr sz="1500" b="0" i="0">
                <a:solidFill>
                  <a:srgbClr val="C3D1E0"/>
                </a:solidFill>
                <a:latin typeface="Helvetica Neue"/>
              </a:rPr>
              <a:t>Getting the right stock into the right shop, every week.</a:t>
            </a:r>
          </a:p>
        </p:txBody>
      </p:sp>
      <p:sp>
        <p:nvSpPr>
          <p:cNvPr id="6" name="Rectangle 5"/>
          <p:cNvSpPr/>
          <p:nvPr/>
        </p:nvSpPr>
        <p:spPr>
          <a:xfrm>
            <a:off x="502920" y="3163824"/>
            <a:ext cx="8138160" cy="10972"/>
          </a:xfrm>
          <a:prstGeom prst="rect">
            <a:avLst/>
          </a:prstGeom>
          <a:solidFill>
            <a:srgbClr val="2232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4352544"/>
            <a:ext cx="5486400" cy="201168"/>
          </a:xfrm>
          <a:prstGeom prst="rect">
            <a:avLst/>
          </a:prstGeom>
          <a:noFill/>
        </p:spPr>
        <p:txBody>
          <a:bodyPr wrap="square" lIns="0" tIns="0" rIns="0" bIns="0" anchor="t">
            <a:spAutoFit/>
          </a:bodyPr>
          <a:lstStyle/>
          <a:p>
            <a:pPr algn="l"/>
            <a:r>
              <a:rPr sz="1050" b="0" i="0">
                <a:solidFill>
                  <a:srgbClr val="FFFFFF"/>
                </a:solidFill>
                <a:latin typeface="Helvetica Neue"/>
              </a:rPr>
              <a:t>Prepared for Chleo, Chief Executive</a:t>
            </a:r>
          </a:p>
        </p:txBody>
      </p:sp>
      <p:sp>
        <p:nvSpPr>
          <p:cNvPr id="14" name="TextBox 13"/>
          <p:cNvSpPr txBox="1"/>
          <p:nvPr/>
        </p:nvSpPr>
        <p:spPr>
          <a:xfrm>
            <a:off x="502920" y="4562856"/>
            <a:ext cx="5486400" cy="182880"/>
          </a:xfrm>
          <a:prstGeom prst="rect">
            <a:avLst/>
          </a:prstGeom>
          <a:noFill/>
        </p:spPr>
        <p:txBody>
          <a:bodyPr wrap="square" lIns="0" tIns="0" rIns="0" bIns="0" anchor="t">
            <a:spAutoFit/>
          </a:bodyPr>
          <a:lstStyle/>
          <a:p>
            <a:pPr algn="l"/>
            <a:r>
              <a:rPr sz="900" b="0" i="0">
                <a:solidFill>
                  <a:srgbClr val="6B7F96"/>
                </a:solidFill>
                <a:latin typeface="Helvetica Neue"/>
              </a:rPr>
              <a:t>Mid-market sportswear retail  ·  Round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74320"/>
            <a:ext cx="5486400" cy="155448"/>
          </a:xfrm>
          <a:prstGeom prst="rect">
            <a:avLst/>
          </a:prstGeom>
          <a:noFill/>
          <a:ln/>
        </p:spPr>
        <p:txBody>
          <a:bodyPr wrap="square" lIns="0" tIns="0" rIns="0" bIns="0" rtlCol="0" anchor="ctr"/>
          <a:lstStyle/>
          <a:p>
            <a:pPr marL="0" indent="0">
              <a:buNone/>
            </a:pPr>
            <a:r>
              <a:rPr lang="en-US" sz="850" b="1" kern="0" spc="200" dirty="0">
                <a:solidFill>
                  <a:srgbClr val="047857"/>
                </a:solidFill>
                <a:latin typeface="Helvetica Neue" pitchFamily="34" charset="0"/>
                <a:ea typeface="Helvetica Neue" pitchFamily="34" charset="-122"/>
                <a:cs typeface="Helvetica Neue" pitchFamily="34" charset="-120"/>
              </a:rPr>
              <a:t>THE MARKET  ·  01</a:t>
            </a:r>
            <a:endParaRPr lang="en-US" sz="850" dirty="0"/>
          </a:p>
        </p:txBody>
      </p:sp>
      <p:sp>
        <p:nvSpPr>
          <p:cNvPr id="3" name="Text 1"/>
          <p:cNvSpPr txBox="1"/>
          <p:nvPr/>
        </p:nvSpPr>
        <p:spPr>
          <a:xfrm>
            <a:off x="502920" y="475488"/>
            <a:ext cx="8138160" cy="530352"/>
          </a:xfrm>
          <a:prstGeom prst="rect">
            <a:avLst/>
          </a:prstGeom>
          <a:noFill/>
          <a:ln/>
        </p:spPr>
        <p:txBody>
          <a:bodyPr wrap="square" lIns="0" tIns="0" rIns="0" bIns="0" rtlCol="0" anchor="t"/>
          <a:lstStyle/>
          <a:p>
            <a:pPr marL="0" indent="0">
              <a:buNone/>
            </a:pPr>
            <a:r>
              <a:rPr lang="en-US" sz="2200" b="1" dirty="0">
                <a:solidFill>
                  <a:srgbClr val="0A1221"/>
                </a:solidFill>
                <a:latin typeface="Helvetica Neue" pitchFamily="34" charset="0"/>
                <a:ea typeface="Helvetica Neue" pitchFamily="34" charset="-122"/>
                <a:cs typeface="Helvetica Neue" pitchFamily="34" charset="-120"/>
              </a:rPr>
              <a:t>A growing market — and far too many decisions</a:t>
            </a:r>
            <a:endParaRPr lang="en-US" sz="2200" dirty="0"/>
          </a:p>
        </p:txBody>
      </p:sp>
      <p:sp>
        <p:nvSpPr>
          <p:cNvPr id="4" name="Shape 2"/>
          <p:cNvSpPr/>
          <p:nvPr/>
        </p:nvSpPr>
        <p:spPr>
          <a:xfrm>
            <a:off x="502920" y="1051560"/>
            <a:ext cx="4160520" cy="3154680"/>
          </a:xfrm>
          <a:prstGeom prst="roundRect">
            <a:avLst>
              <a:gd name="adj" fmla="val 870"/>
            </a:avLst>
          </a:prstGeom>
          <a:solidFill>
            <a:srgbClr val="F4F7FA"/>
          </a:solidFill>
          <a:ln w="9525">
            <a:solidFill>
              <a:srgbClr val="DFE7EF"/>
            </a:solidFill>
            <a:prstDash val="solid"/>
          </a:ln>
        </p:spPr>
        <p:txBody>
          <a:bodyPr/>
          <a:lstStyle/>
          <a:p>
            <a:endParaRPr lang="en-US"/>
          </a:p>
        </p:txBody>
      </p:sp>
      <p:sp>
        <p:nvSpPr>
          <p:cNvPr id="5" name="Text 3"/>
          <p:cNvSpPr txBox="1"/>
          <p:nvPr/>
        </p:nvSpPr>
        <p:spPr>
          <a:xfrm>
            <a:off x="795528" y="1307592"/>
            <a:ext cx="3575304" cy="155448"/>
          </a:xfrm>
          <a:prstGeom prst="rect">
            <a:avLst/>
          </a:prstGeom>
          <a:noFill/>
          <a:ln/>
        </p:spPr>
        <p:txBody>
          <a:bodyPr wrap="square" lIns="0" tIns="0" rIns="0" bIns="0" rtlCol="0" anchor="ctr"/>
          <a:lstStyle/>
          <a:p>
            <a:pPr marL="0" indent="0">
              <a:buNone/>
            </a:pPr>
            <a:r>
              <a:rPr lang="en-US" sz="800" b="1" kern="0" spc="120" dirty="0">
                <a:solidFill>
                  <a:srgbClr val="8A9AAD"/>
                </a:solidFill>
                <a:latin typeface="Helvetica Neue" pitchFamily="34" charset="0"/>
                <a:ea typeface="Helvetica Neue" pitchFamily="34" charset="-122"/>
                <a:cs typeface="Helvetica Neue" pitchFamily="34" charset="-120"/>
              </a:rPr>
              <a:t>THE SPORTSWEAR MARKET WORLDWIDE</a:t>
            </a:r>
            <a:endParaRPr lang="en-US" sz="800" dirty="0"/>
          </a:p>
        </p:txBody>
      </p:sp>
      <p:sp>
        <p:nvSpPr>
          <p:cNvPr id="6" name="Text 4"/>
          <p:cNvSpPr txBox="1"/>
          <p:nvPr/>
        </p:nvSpPr>
        <p:spPr>
          <a:xfrm>
            <a:off x="795528" y="1481328"/>
            <a:ext cx="3575304" cy="310896"/>
          </a:xfrm>
          <a:prstGeom prst="rect">
            <a:avLst/>
          </a:prstGeom>
          <a:noFill/>
          <a:ln/>
        </p:spPr>
        <p:txBody>
          <a:bodyPr wrap="square" lIns="0" tIns="0" rIns="0" bIns="0" rtlCol="0" anchor="ctr"/>
          <a:lstStyle/>
          <a:p>
            <a:pPr marL="0" indent="0">
              <a:buNone/>
            </a:pPr>
            <a:r>
              <a:rPr lang="en-US" sz="2000" b="1" dirty="0">
                <a:solidFill>
                  <a:srgbClr val="0A1221"/>
                </a:solidFill>
                <a:latin typeface="Helvetica Neue" pitchFamily="34" charset="0"/>
                <a:ea typeface="Helvetica Neue" pitchFamily="34" charset="-122"/>
                <a:cs typeface="Helvetica Neue" pitchFamily="34" charset="-120"/>
              </a:rPr>
              <a:t>$399B</a:t>
            </a:r>
            <a:r>
              <a:rPr lang="en-US" sz="1300" dirty="0">
                <a:solidFill>
                  <a:srgbClr val="8A9AAD"/>
                </a:solidFill>
                <a:latin typeface="Helvetica Neue" pitchFamily="34" charset="0"/>
                <a:ea typeface="Helvetica Neue" pitchFamily="34" charset="-122"/>
                <a:cs typeface="Helvetica Neue" pitchFamily="34" charset="-120"/>
              </a:rPr>
              <a:t>   →   </a:t>
            </a:r>
            <a:r>
              <a:rPr lang="en-US" sz="2000" b="1" dirty="0">
                <a:solidFill>
                  <a:srgbClr val="047857"/>
                </a:solidFill>
                <a:latin typeface="Helvetica Neue" pitchFamily="34" charset="0"/>
                <a:ea typeface="Helvetica Neue" pitchFamily="34" charset="-122"/>
                <a:cs typeface="Helvetica Neue" pitchFamily="34" charset="-120"/>
              </a:rPr>
              <a:t>$890B</a:t>
            </a:r>
            <a:r>
              <a:rPr lang="en-US" sz="1000" dirty="0">
                <a:solidFill>
                  <a:srgbClr val="47576B"/>
                </a:solidFill>
                <a:latin typeface="Helvetica Neue" pitchFamily="34" charset="0"/>
                <a:ea typeface="Helvetica Neue" pitchFamily="34" charset="-122"/>
                <a:cs typeface="Helvetica Neue" pitchFamily="34" charset="-120"/>
              </a:rPr>
              <a:t>   by 2033</a:t>
            </a:r>
            <a:endParaRPr lang="en-US" sz="2000" dirty="0"/>
          </a:p>
        </p:txBody>
      </p:sp>
      <p:pic>
        <p:nvPicPr>
          <p:cNvPr id="7" name="Image 0" descr="/home/claude/charts/market_growth.png"/>
          <p:cNvPicPr>
            <a:picLocks noChangeAspect="1"/>
          </p:cNvPicPr>
          <p:nvPr/>
        </p:nvPicPr>
        <p:blipFill>
          <a:blip r:embed="rId3"/>
          <a:stretch>
            <a:fillRect/>
          </a:stretch>
        </p:blipFill>
        <p:spPr>
          <a:xfrm>
            <a:off x="749808" y="1847088"/>
            <a:ext cx="3666744" cy="1828800"/>
          </a:xfrm>
          <a:prstGeom prst="rect">
            <a:avLst/>
          </a:prstGeom>
        </p:spPr>
      </p:pic>
      <p:sp>
        <p:nvSpPr>
          <p:cNvPr id="8" name="Text 5"/>
          <p:cNvSpPr txBox="1"/>
          <p:nvPr/>
        </p:nvSpPr>
        <p:spPr>
          <a:xfrm>
            <a:off x="795528" y="3785616"/>
            <a:ext cx="3575304" cy="182880"/>
          </a:xfrm>
          <a:prstGeom prst="rect">
            <a:avLst/>
          </a:prstGeom>
          <a:noFill/>
          <a:ln/>
        </p:spPr>
        <p:txBody>
          <a:bodyPr wrap="square" lIns="0" tIns="0" rIns="0" bIns="0" rtlCol="0" anchor="ctr"/>
          <a:lstStyle/>
          <a:p>
            <a:pPr marL="0" indent="0">
              <a:buNone/>
            </a:pPr>
            <a:r>
              <a:rPr lang="en-US" sz="800" dirty="0">
                <a:solidFill>
                  <a:srgbClr val="8A9AAD"/>
                </a:solidFill>
                <a:latin typeface="Helvetica Neue" pitchFamily="34" charset="0"/>
                <a:ea typeface="Helvetica Neue" pitchFamily="34" charset="-122"/>
                <a:cs typeface="Helvetica Neue" pitchFamily="34" charset="-120"/>
              </a:rPr>
              <a:t>Growing 10.7% a year  ·  Europe is 27% of it</a:t>
            </a:r>
            <a:endParaRPr lang="en-US" sz="800" dirty="0"/>
          </a:p>
        </p:txBody>
      </p:sp>
      <p:sp>
        <p:nvSpPr>
          <p:cNvPr id="9" name="Shape 6"/>
          <p:cNvSpPr/>
          <p:nvPr/>
        </p:nvSpPr>
        <p:spPr>
          <a:xfrm>
            <a:off x="4892040" y="1051560"/>
            <a:ext cx="3749040" cy="3154680"/>
          </a:xfrm>
          <a:prstGeom prst="roundRect">
            <a:avLst>
              <a:gd name="adj" fmla="val 870"/>
            </a:avLst>
          </a:prstGeom>
          <a:solidFill>
            <a:srgbClr val="F4F7FA"/>
          </a:solidFill>
          <a:ln w="9525">
            <a:solidFill>
              <a:srgbClr val="DFE7EF"/>
            </a:solidFill>
            <a:prstDash val="solid"/>
          </a:ln>
        </p:spPr>
        <p:txBody>
          <a:bodyPr/>
          <a:lstStyle/>
          <a:p>
            <a:endParaRPr lang="en-US"/>
          </a:p>
        </p:txBody>
      </p:sp>
      <p:sp>
        <p:nvSpPr>
          <p:cNvPr id="10" name="Text 7"/>
          <p:cNvSpPr txBox="1"/>
          <p:nvPr/>
        </p:nvSpPr>
        <p:spPr>
          <a:xfrm>
            <a:off x="5129784" y="1307592"/>
            <a:ext cx="3273552" cy="155448"/>
          </a:xfrm>
          <a:prstGeom prst="rect">
            <a:avLst/>
          </a:prstGeom>
          <a:noFill/>
          <a:ln/>
        </p:spPr>
        <p:txBody>
          <a:bodyPr wrap="square" lIns="0" tIns="0" rIns="0" bIns="0" rtlCol="0" anchor="ctr"/>
          <a:lstStyle/>
          <a:p>
            <a:pPr marL="0" indent="0">
              <a:buNone/>
            </a:pPr>
            <a:r>
              <a:rPr lang="en-US" sz="800" b="1" kern="0" spc="120" dirty="0">
                <a:solidFill>
                  <a:srgbClr val="8A9AAD"/>
                </a:solidFill>
                <a:latin typeface="Helvetica Neue" pitchFamily="34" charset="0"/>
                <a:ea typeface="Helvetica Neue" pitchFamily="34" charset="-122"/>
                <a:cs typeface="Helvetica Neue" pitchFamily="34" charset="-120"/>
              </a:rPr>
              <a:t>STOCK DECISIONS, EVERY WEEK</a:t>
            </a:r>
            <a:endParaRPr lang="en-US" sz="800" dirty="0"/>
          </a:p>
        </p:txBody>
      </p:sp>
      <p:sp>
        <p:nvSpPr>
          <p:cNvPr id="11" name="Text 8"/>
          <p:cNvSpPr txBox="1"/>
          <p:nvPr/>
        </p:nvSpPr>
        <p:spPr>
          <a:xfrm>
            <a:off x="5129784" y="1481328"/>
            <a:ext cx="3273552" cy="237744"/>
          </a:xfrm>
          <a:prstGeom prst="rect">
            <a:avLst/>
          </a:prstGeom>
          <a:noFill/>
          <a:ln/>
        </p:spPr>
        <p:txBody>
          <a:bodyPr wrap="square" lIns="0" tIns="0" rIns="0" bIns="0" rtlCol="0" anchor="ctr"/>
          <a:lstStyle/>
          <a:p>
            <a:pPr marL="0" indent="0">
              <a:buNone/>
            </a:pPr>
            <a:r>
              <a:rPr lang="en-US" sz="1200" b="1" dirty="0">
                <a:solidFill>
                  <a:srgbClr val="0A1221"/>
                </a:solidFill>
                <a:latin typeface="Helvetica Neue" pitchFamily="34" charset="0"/>
                <a:ea typeface="Helvetica Neue" pitchFamily="34" charset="-122"/>
                <a:cs typeface="Helvetica Neue" pitchFamily="34" charset="-120"/>
              </a:rPr>
              <a:t>70</a:t>
            </a:r>
            <a:r>
              <a:rPr lang="en-US" sz="1000" dirty="0">
                <a:solidFill>
                  <a:srgbClr val="47576B"/>
                </a:solidFill>
                <a:latin typeface="Helvetica Neue" pitchFamily="34" charset="0"/>
                <a:ea typeface="Helvetica Neue" pitchFamily="34" charset="-122"/>
                <a:cs typeface="Helvetica Neue" pitchFamily="34" charset="-120"/>
              </a:rPr>
              <a:t> shops</a:t>
            </a:r>
            <a:r>
              <a:rPr lang="en-US" sz="1000" dirty="0">
                <a:solidFill>
                  <a:srgbClr val="8A9AAD"/>
                </a:solidFill>
                <a:latin typeface="Helvetica Neue" pitchFamily="34" charset="0"/>
                <a:ea typeface="Helvetica Neue" pitchFamily="34" charset="-122"/>
                <a:cs typeface="Helvetica Neue" pitchFamily="34" charset="-120"/>
              </a:rPr>
              <a:t>   ×   </a:t>
            </a:r>
            <a:r>
              <a:rPr lang="en-US" sz="1200" b="1" dirty="0">
                <a:solidFill>
                  <a:srgbClr val="0A1221"/>
                </a:solidFill>
                <a:latin typeface="Helvetica Neue" pitchFamily="34" charset="0"/>
                <a:ea typeface="Helvetica Neue" pitchFamily="34" charset="-122"/>
                <a:cs typeface="Helvetica Neue" pitchFamily="34" charset="-120"/>
              </a:rPr>
              <a:t>1,200</a:t>
            </a:r>
            <a:r>
              <a:rPr lang="en-US" sz="1000" dirty="0">
                <a:solidFill>
                  <a:srgbClr val="47576B"/>
                </a:solidFill>
                <a:latin typeface="Helvetica Neue" pitchFamily="34" charset="0"/>
                <a:ea typeface="Helvetica Neue" pitchFamily="34" charset="-122"/>
                <a:cs typeface="Helvetica Neue" pitchFamily="34" charset="-120"/>
              </a:rPr>
              <a:t> products</a:t>
            </a:r>
            <a:endParaRPr lang="en-US" sz="1200" dirty="0"/>
          </a:p>
        </p:txBody>
      </p:sp>
      <p:sp>
        <p:nvSpPr>
          <p:cNvPr id="12" name="Text 9"/>
          <p:cNvSpPr txBox="1"/>
          <p:nvPr/>
        </p:nvSpPr>
        <p:spPr>
          <a:xfrm>
            <a:off x="5129784" y="1719072"/>
            <a:ext cx="3273552" cy="658368"/>
          </a:xfrm>
          <a:prstGeom prst="rect">
            <a:avLst/>
          </a:prstGeom>
          <a:noFill/>
          <a:ln/>
        </p:spPr>
        <p:txBody>
          <a:bodyPr wrap="square" lIns="0" tIns="0" rIns="0" bIns="0" rtlCol="0" anchor="ctr"/>
          <a:lstStyle/>
          <a:p>
            <a:pPr marL="0" indent="0">
              <a:buNone/>
            </a:pPr>
            <a:r>
              <a:rPr lang="en-US" sz="4000" b="1" dirty="0">
                <a:solidFill>
                  <a:srgbClr val="047857"/>
                </a:solidFill>
                <a:latin typeface="Helvetica Neue" pitchFamily="34" charset="0"/>
                <a:ea typeface="Helvetica Neue" pitchFamily="34" charset="-122"/>
                <a:cs typeface="Helvetica Neue" pitchFamily="34" charset="-120"/>
              </a:rPr>
              <a:t>84,000</a:t>
            </a:r>
            <a:endParaRPr lang="en-US" sz="4000" dirty="0"/>
          </a:p>
        </p:txBody>
      </p:sp>
      <p:sp>
        <p:nvSpPr>
          <p:cNvPr id="13" name="Text 10"/>
          <p:cNvSpPr txBox="1"/>
          <p:nvPr/>
        </p:nvSpPr>
        <p:spPr>
          <a:xfrm>
            <a:off x="5129784" y="2377440"/>
            <a:ext cx="3273552" cy="201168"/>
          </a:xfrm>
          <a:prstGeom prst="rect">
            <a:avLst/>
          </a:prstGeom>
          <a:noFill/>
          <a:ln/>
        </p:spPr>
        <p:txBody>
          <a:bodyPr wrap="square" lIns="0" tIns="0" rIns="0" bIns="0" rtlCol="0" anchor="ctr"/>
          <a:lstStyle/>
          <a:p>
            <a:pPr marL="0" indent="0">
              <a:buNone/>
            </a:pPr>
            <a:r>
              <a:rPr lang="en-US" sz="1000" dirty="0">
                <a:solidFill>
                  <a:srgbClr val="47576B"/>
                </a:solidFill>
                <a:latin typeface="Helvetica Neue" pitchFamily="34" charset="0"/>
                <a:ea typeface="Helvetica Neue" pitchFamily="34" charset="-122"/>
                <a:cs typeface="Helvetica Neue" pitchFamily="34" charset="-120"/>
              </a:rPr>
              <a:t>separate stock decisions — every single week</a:t>
            </a:r>
            <a:endParaRPr lang="en-US" sz="1000" dirty="0"/>
          </a:p>
        </p:txBody>
      </p:sp>
      <p:pic>
        <p:nvPicPr>
          <p:cNvPr id="14" name="Image 1" descr="/home/claude/charts/capacity_gap_light.png"/>
          <p:cNvPicPr>
            <a:picLocks noChangeAspect="1"/>
          </p:cNvPicPr>
          <p:nvPr/>
        </p:nvPicPr>
        <p:blipFill>
          <a:blip r:embed="rId4"/>
          <a:stretch>
            <a:fillRect/>
          </a:stretch>
        </p:blipFill>
        <p:spPr>
          <a:xfrm>
            <a:off x="5129784" y="2670048"/>
            <a:ext cx="3273552" cy="1207008"/>
          </a:xfrm>
          <a:prstGeom prst="rect">
            <a:avLst/>
          </a:prstGeom>
        </p:spPr>
      </p:pic>
      <p:sp>
        <p:nvSpPr>
          <p:cNvPr id="15" name="Text 11"/>
          <p:cNvSpPr txBox="1"/>
          <p:nvPr/>
        </p:nvSpPr>
        <p:spPr>
          <a:xfrm>
            <a:off x="5129784" y="3913632"/>
            <a:ext cx="3273552" cy="164592"/>
          </a:xfrm>
          <a:prstGeom prst="rect">
            <a:avLst/>
          </a:prstGeom>
          <a:noFill/>
          <a:ln/>
        </p:spPr>
        <p:txBody>
          <a:bodyPr wrap="square" lIns="0" tIns="0" rIns="0" bIns="0" rtlCol="0" anchor="ctr"/>
          <a:lstStyle/>
          <a:p>
            <a:pPr marL="0" indent="0">
              <a:buNone/>
            </a:pPr>
            <a:r>
              <a:rPr lang="en-US" sz="700" i="1" dirty="0">
                <a:solidFill>
                  <a:srgbClr val="8A9AAD"/>
                </a:solidFill>
                <a:latin typeface="Helvetica Neue" pitchFamily="34" charset="0"/>
                <a:ea typeface="Helvetica Neue" pitchFamily="34" charset="-122"/>
                <a:cs typeface="Helvetica Neue" pitchFamily="34" charset="-120"/>
              </a:rPr>
              <a:t>5 planners  ·  10 seconds a decision  ·  a third of their week</a:t>
            </a:r>
            <a:endParaRPr lang="en-US" sz="700" dirty="0"/>
          </a:p>
        </p:txBody>
      </p:sp>
      <p:sp>
        <p:nvSpPr>
          <p:cNvPr id="16" name="Text 12"/>
          <p:cNvSpPr txBox="1"/>
          <p:nvPr/>
        </p:nvSpPr>
        <p:spPr>
          <a:xfrm>
            <a:off x="502920" y="4370832"/>
            <a:ext cx="8138160" cy="274320"/>
          </a:xfrm>
          <a:prstGeom prst="rect">
            <a:avLst/>
          </a:prstGeom>
          <a:noFill/>
          <a:ln/>
        </p:spPr>
        <p:txBody>
          <a:bodyPr wrap="square" lIns="0" tIns="0" rIns="0" bIns="0" rtlCol="0" anchor="ctr"/>
          <a:lstStyle/>
          <a:p>
            <a:pPr marL="0" indent="0">
              <a:buNone/>
            </a:pPr>
            <a:r>
              <a:rPr lang="en-US" sz="1100" dirty="0">
                <a:solidFill>
                  <a:srgbClr val="47576B"/>
                </a:solidFill>
                <a:latin typeface="Helvetica Neue" pitchFamily="34" charset="0"/>
                <a:ea typeface="Helvetica Neue" pitchFamily="34" charset="-122"/>
                <a:cs typeface="Helvetica Neue" pitchFamily="34" charset="-120"/>
              </a:rPr>
              <a:t>Your team is not failing. </a:t>
            </a:r>
            <a:r>
              <a:rPr lang="en-US" sz="1100" b="1" dirty="0">
                <a:solidFill>
                  <a:srgbClr val="047857"/>
                </a:solidFill>
                <a:latin typeface="Helvetica Neue" pitchFamily="34" charset="0"/>
                <a:ea typeface="Helvetica Neue" pitchFamily="34" charset="-122"/>
                <a:cs typeface="Helvetica Neue" pitchFamily="34" charset="-120"/>
              </a:rPr>
              <a:t>They are using rough rules of thumb, because that is all that fits in the time.</a:t>
            </a:r>
            <a:endParaRPr lang="en-US" sz="1100" dirty="0"/>
          </a:p>
        </p:txBody>
      </p:sp>
      <p:sp>
        <p:nvSpPr>
          <p:cNvPr id="17" name="Text 13"/>
          <p:cNvSpPr txBox="1"/>
          <p:nvPr/>
        </p:nvSpPr>
        <p:spPr>
          <a:xfrm>
            <a:off x="502920" y="4791456"/>
            <a:ext cx="8138160" cy="182880"/>
          </a:xfrm>
          <a:prstGeom prst="rect">
            <a:avLst/>
          </a:prstGeom>
          <a:noFill/>
          <a:ln/>
        </p:spPr>
        <p:txBody>
          <a:bodyPr wrap="square" lIns="0" tIns="0" rIns="0" bIns="0" rtlCol="0" anchor="ctr"/>
          <a:lstStyle/>
          <a:p>
            <a:pPr marL="0" indent="0">
              <a:buNone/>
            </a:pPr>
            <a:r>
              <a:rPr lang="en-US" sz="650" dirty="0">
                <a:solidFill>
                  <a:srgbClr val="8A9AAD"/>
                </a:solidFill>
                <a:latin typeface="Helvetica Neue" pitchFamily="34" charset="0"/>
                <a:ea typeface="Helvetica Neue" pitchFamily="34" charset="-122"/>
                <a:cs typeface="Helvetica Neue" pitchFamily="34" charset="-120"/>
              </a:rPr>
              <a:t>Grand View Research 2026  ·  Company profile modelled on a 70-shop chain, using Hibbett Inc. 2024 published figures as the benchmark</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A1221"/>
        </a:solidFill>
        <a:effectLst/>
      </p:bgPr>
    </p:bg>
    <p:spTree>
      <p:nvGrpSpPr>
        <p:cNvPr id="1" name=""/>
        <p:cNvGrpSpPr/>
        <p:nvPr/>
      </p:nvGrpSpPr>
      <p:grpSpPr>
        <a:xfrm>
          <a:off x="0" y="0"/>
          <a:ext cx="0" cy="0"/>
          <a:chOff x="0" y="0"/>
          <a:chExt cx="0" cy="0"/>
        </a:xfrm>
      </p:grpSpPr>
      <p:sp>
        <p:nvSpPr>
          <p:cNvPr id="2" name="Text 0"/>
          <p:cNvSpPr txBox="1"/>
          <p:nvPr/>
        </p:nvSpPr>
        <p:spPr>
          <a:xfrm>
            <a:off x="502920" y="274320"/>
            <a:ext cx="5486400" cy="155448"/>
          </a:xfrm>
          <a:prstGeom prst="rect">
            <a:avLst/>
          </a:prstGeom>
          <a:noFill/>
          <a:ln/>
        </p:spPr>
        <p:txBody>
          <a:bodyPr wrap="square" lIns="0" tIns="0" rIns="0" bIns="0" rtlCol="0" anchor="ctr"/>
          <a:lstStyle/>
          <a:p>
            <a:pPr marL="0" indent="0">
              <a:buNone/>
            </a:pPr>
            <a:r>
              <a:rPr lang="en-US" sz="850" b="1" kern="0" spc="200" dirty="0">
                <a:solidFill>
                  <a:srgbClr val="10B981"/>
                </a:solidFill>
                <a:latin typeface="Helvetica Neue" pitchFamily="34" charset="0"/>
                <a:ea typeface="Helvetica Neue" pitchFamily="34" charset="-122"/>
                <a:cs typeface="Helvetica Neue" pitchFamily="34" charset="-120"/>
              </a:rPr>
              <a:t>THE COST  ·  02</a:t>
            </a:r>
            <a:endParaRPr lang="en-US" sz="850" dirty="0"/>
          </a:p>
        </p:txBody>
      </p:sp>
      <p:sp>
        <p:nvSpPr>
          <p:cNvPr id="3" name="Text 1"/>
          <p:cNvSpPr txBox="1"/>
          <p:nvPr/>
        </p:nvSpPr>
        <p:spPr>
          <a:xfrm>
            <a:off x="502920" y="475488"/>
            <a:ext cx="8138160" cy="530352"/>
          </a:xfrm>
          <a:prstGeom prst="rect">
            <a:avLst/>
          </a:prstGeom>
          <a:noFill/>
          <a:ln/>
        </p:spPr>
        <p:txBody>
          <a:bodyPr wrap="square" lIns="0" tIns="0" rIns="0" bIns="0" rtlCol="0" anchor="t"/>
          <a:lstStyle/>
          <a:p>
            <a:pPr marL="0" indent="0">
              <a:buNone/>
            </a:pPr>
            <a:r>
              <a:rPr lang="en-US" sz="2200" b="1" dirty="0">
                <a:solidFill>
                  <a:srgbClr val="FFFFFF"/>
                </a:solidFill>
                <a:latin typeface="Helvetica Neue" pitchFamily="34" charset="0"/>
                <a:ea typeface="Helvetica Neue" pitchFamily="34" charset="-122"/>
                <a:cs typeface="Helvetica Neue" pitchFamily="34" charset="-120"/>
              </a:rPr>
              <a:t>The problem is not data. It is speed.</a:t>
            </a:r>
            <a:endParaRPr lang="en-US" sz="2200" dirty="0"/>
          </a:p>
        </p:txBody>
      </p:sp>
      <p:sp>
        <p:nvSpPr>
          <p:cNvPr id="4" name="Shape 2"/>
          <p:cNvSpPr/>
          <p:nvPr/>
        </p:nvSpPr>
        <p:spPr>
          <a:xfrm>
            <a:off x="502920" y="1051560"/>
            <a:ext cx="4160520" cy="3154680"/>
          </a:xfrm>
          <a:prstGeom prst="roundRect">
            <a:avLst>
              <a:gd name="adj" fmla="val 870"/>
            </a:avLst>
          </a:prstGeom>
          <a:solidFill>
            <a:srgbClr val="16223C"/>
          </a:solidFill>
          <a:ln w="9525">
            <a:solidFill>
              <a:srgbClr val="223250"/>
            </a:solidFill>
            <a:prstDash val="solid"/>
          </a:ln>
        </p:spPr>
        <p:txBody>
          <a:bodyPr/>
          <a:lstStyle/>
          <a:p>
            <a:endParaRPr lang="en-US"/>
          </a:p>
        </p:txBody>
      </p:sp>
      <p:sp>
        <p:nvSpPr>
          <p:cNvPr id="5" name="Text 3"/>
          <p:cNvSpPr txBox="1"/>
          <p:nvPr/>
        </p:nvSpPr>
        <p:spPr>
          <a:xfrm>
            <a:off x="795528" y="1307592"/>
            <a:ext cx="3575304" cy="155448"/>
          </a:xfrm>
          <a:prstGeom prst="rect">
            <a:avLst/>
          </a:prstGeom>
          <a:noFill/>
          <a:ln/>
        </p:spPr>
        <p:txBody>
          <a:bodyPr wrap="square" lIns="0" tIns="0" rIns="0" bIns="0" rtlCol="0" anchor="ctr"/>
          <a:lstStyle/>
          <a:p>
            <a:pPr marL="0" indent="0">
              <a:buNone/>
            </a:pPr>
            <a:r>
              <a:rPr lang="en-US" sz="800" b="1" kern="0" spc="120" dirty="0">
                <a:solidFill>
                  <a:srgbClr val="6B7F96"/>
                </a:solidFill>
                <a:latin typeface="Helvetica Neue" pitchFamily="34" charset="0"/>
                <a:ea typeface="Helvetica Neue" pitchFamily="34" charset="-122"/>
                <a:cs typeface="Helvetica Neue" pitchFamily="34" charset="-120"/>
              </a:rPr>
              <a:t>LOST EVERY YEAR — STOCK IN THE WRONG PLACE</a:t>
            </a:r>
            <a:endParaRPr lang="en-US" sz="800" dirty="0"/>
          </a:p>
        </p:txBody>
      </p:sp>
      <p:sp>
        <p:nvSpPr>
          <p:cNvPr id="6" name="Text 4"/>
          <p:cNvSpPr txBox="1"/>
          <p:nvPr/>
        </p:nvSpPr>
        <p:spPr>
          <a:xfrm>
            <a:off x="795528" y="1481328"/>
            <a:ext cx="3575304" cy="841248"/>
          </a:xfrm>
          <a:prstGeom prst="rect">
            <a:avLst/>
          </a:prstGeom>
          <a:noFill/>
          <a:ln/>
        </p:spPr>
        <p:txBody>
          <a:bodyPr wrap="square" lIns="0" tIns="0" rIns="0" bIns="0" rtlCol="0" anchor="ctr"/>
          <a:lstStyle/>
          <a:p>
            <a:pPr marL="0" indent="0">
              <a:buNone/>
            </a:pPr>
            <a:r>
              <a:rPr lang="en-US" sz="4800" b="1" dirty="0">
                <a:solidFill>
                  <a:srgbClr val="10B981"/>
                </a:solidFill>
                <a:latin typeface="Helvetica Neue" pitchFamily="34" charset="0"/>
                <a:ea typeface="Helvetica Neue" pitchFamily="34" charset="-122"/>
                <a:cs typeface="Helvetica Neue" pitchFamily="34" charset="-120"/>
              </a:rPr>
              <a:t>$1.77T</a:t>
            </a:r>
            <a:endParaRPr lang="en-US" sz="4800" dirty="0"/>
          </a:p>
        </p:txBody>
      </p:sp>
      <p:sp>
        <p:nvSpPr>
          <p:cNvPr id="7" name="Text 5"/>
          <p:cNvSpPr txBox="1"/>
          <p:nvPr/>
        </p:nvSpPr>
        <p:spPr>
          <a:xfrm>
            <a:off x="795528" y="2304288"/>
            <a:ext cx="3575304" cy="201168"/>
          </a:xfrm>
          <a:prstGeom prst="rect">
            <a:avLst/>
          </a:prstGeom>
          <a:noFill/>
          <a:ln/>
        </p:spPr>
        <p:txBody>
          <a:bodyPr wrap="square" lIns="0" tIns="0" rIns="0" bIns="0" rtlCol="0" anchor="ctr"/>
          <a:lstStyle/>
          <a:p>
            <a:pPr marL="0" indent="0">
              <a:buNone/>
            </a:pPr>
            <a:r>
              <a:rPr lang="en-US" sz="1050" dirty="0">
                <a:solidFill>
                  <a:srgbClr val="C3D1E0"/>
                </a:solidFill>
                <a:latin typeface="Helvetica Neue" pitchFamily="34" charset="0"/>
                <a:ea typeface="Helvetica Neue" pitchFamily="34" charset="-122"/>
                <a:cs typeface="Helvetica Neue" pitchFamily="34" charset="-120"/>
              </a:rPr>
              <a:t>That is 6.5% of everything retailers sell worldwide.</a:t>
            </a:r>
            <a:endParaRPr lang="en-US" sz="1050" dirty="0"/>
          </a:p>
        </p:txBody>
      </p:sp>
      <p:pic>
        <p:nvPicPr>
          <p:cNvPr id="8" name="Image 0" descr="/home/claude/charts/distortion_split.png"/>
          <p:cNvPicPr>
            <a:picLocks noChangeAspect="1"/>
          </p:cNvPicPr>
          <p:nvPr/>
        </p:nvPicPr>
        <p:blipFill>
          <a:blip r:embed="rId3"/>
          <a:stretch>
            <a:fillRect/>
          </a:stretch>
        </p:blipFill>
        <p:spPr>
          <a:xfrm>
            <a:off x="795528" y="2578608"/>
            <a:ext cx="3575304" cy="1371600"/>
          </a:xfrm>
          <a:prstGeom prst="rect">
            <a:avLst/>
          </a:prstGeom>
        </p:spPr>
      </p:pic>
      <p:sp>
        <p:nvSpPr>
          <p:cNvPr id="9" name="Shape 6"/>
          <p:cNvSpPr/>
          <p:nvPr/>
        </p:nvSpPr>
        <p:spPr>
          <a:xfrm>
            <a:off x="4892040" y="1051560"/>
            <a:ext cx="3749040" cy="3154680"/>
          </a:xfrm>
          <a:prstGeom prst="roundRect">
            <a:avLst>
              <a:gd name="adj" fmla="val 870"/>
            </a:avLst>
          </a:prstGeom>
          <a:solidFill>
            <a:srgbClr val="141F35"/>
          </a:solidFill>
          <a:ln w="9525">
            <a:solidFill>
              <a:srgbClr val="223250"/>
            </a:solidFill>
            <a:prstDash val="solid"/>
          </a:ln>
        </p:spPr>
        <p:txBody>
          <a:bodyPr/>
          <a:lstStyle/>
          <a:p>
            <a:endParaRPr lang="en-US"/>
          </a:p>
        </p:txBody>
      </p:sp>
      <p:sp>
        <p:nvSpPr>
          <p:cNvPr id="10" name="Text 7"/>
          <p:cNvSpPr txBox="1"/>
          <p:nvPr/>
        </p:nvSpPr>
        <p:spPr>
          <a:xfrm>
            <a:off x="5129784" y="1307592"/>
            <a:ext cx="3273552" cy="155448"/>
          </a:xfrm>
          <a:prstGeom prst="rect">
            <a:avLst/>
          </a:prstGeom>
          <a:noFill/>
          <a:ln/>
        </p:spPr>
        <p:txBody>
          <a:bodyPr wrap="square" lIns="0" tIns="0" rIns="0" bIns="0" rtlCol="0" anchor="ctr"/>
          <a:lstStyle/>
          <a:p>
            <a:pPr marL="0" indent="0">
              <a:buNone/>
            </a:pPr>
            <a:r>
              <a:rPr lang="en-US" sz="800" b="1" kern="0" spc="120" dirty="0">
                <a:solidFill>
                  <a:srgbClr val="6B7F96"/>
                </a:solidFill>
                <a:latin typeface="Helvetica Neue" pitchFamily="34" charset="0"/>
                <a:ea typeface="Helvetica Neue" pitchFamily="34" charset="-122"/>
                <a:cs typeface="Helvetica Neue" pitchFamily="34" charset="-120"/>
              </a:rPr>
              <a:t>HOW A STOCKOUT ACTUALLY PLAYS OUT</a:t>
            </a:r>
            <a:endParaRPr lang="en-US" sz="800" dirty="0"/>
          </a:p>
        </p:txBody>
      </p:sp>
      <p:sp>
        <p:nvSpPr>
          <p:cNvPr id="11" name="Text 8"/>
          <p:cNvSpPr txBox="1"/>
          <p:nvPr/>
        </p:nvSpPr>
        <p:spPr>
          <a:xfrm>
            <a:off x="5129784" y="1472184"/>
            <a:ext cx="3273552" cy="164592"/>
          </a:xfrm>
          <a:prstGeom prst="rect">
            <a:avLst/>
          </a:prstGeom>
          <a:noFill/>
          <a:ln/>
        </p:spPr>
        <p:txBody>
          <a:bodyPr wrap="square" lIns="0" tIns="0" rIns="0" bIns="0" rtlCol="0" anchor="ctr"/>
          <a:lstStyle/>
          <a:p>
            <a:pPr marL="0" indent="0">
              <a:buNone/>
            </a:pPr>
            <a:r>
              <a:rPr lang="en-US" sz="800" i="1" dirty="0">
                <a:solidFill>
                  <a:srgbClr val="4E617A"/>
                </a:solidFill>
                <a:latin typeface="Helvetica Neue" pitchFamily="34" charset="0"/>
                <a:ea typeface="Helvetica Neue" pitchFamily="34" charset="-122"/>
                <a:cs typeface="Helvetica Neue" pitchFamily="34" charset="-120"/>
              </a:rPr>
              <a:t>A typical week in one shop</a:t>
            </a:r>
            <a:endParaRPr lang="en-US" sz="800" dirty="0"/>
          </a:p>
        </p:txBody>
      </p:sp>
      <p:sp>
        <p:nvSpPr>
          <p:cNvPr id="12" name="Shape 9"/>
          <p:cNvSpPr/>
          <p:nvPr/>
        </p:nvSpPr>
        <p:spPr>
          <a:xfrm>
            <a:off x="5198364" y="1883664"/>
            <a:ext cx="13716" cy="1536192"/>
          </a:xfrm>
          <a:prstGeom prst="rect">
            <a:avLst/>
          </a:prstGeom>
          <a:solidFill>
            <a:srgbClr val="2C3F5C"/>
          </a:solidFill>
          <a:ln w="12700">
            <a:solidFill>
              <a:srgbClr val="2C3F5C"/>
            </a:solidFill>
            <a:prstDash val="solid"/>
          </a:ln>
        </p:spPr>
        <p:txBody>
          <a:bodyPr/>
          <a:lstStyle/>
          <a:p>
            <a:endParaRPr lang="en-US"/>
          </a:p>
        </p:txBody>
      </p:sp>
      <p:sp>
        <p:nvSpPr>
          <p:cNvPr id="13" name="Shape 10"/>
          <p:cNvSpPr/>
          <p:nvPr/>
        </p:nvSpPr>
        <p:spPr>
          <a:xfrm>
            <a:off x="5143500" y="1828800"/>
            <a:ext cx="123444" cy="123444"/>
          </a:xfrm>
          <a:prstGeom prst="ellipse">
            <a:avLst/>
          </a:prstGeom>
          <a:solidFill>
            <a:srgbClr val="10B981"/>
          </a:solidFill>
          <a:ln w="12700">
            <a:solidFill>
              <a:srgbClr val="10B981"/>
            </a:solidFill>
            <a:prstDash val="solid"/>
          </a:ln>
        </p:spPr>
        <p:txBody>
          <a:bodyPr/>
          <a:lstStyle/>
          <a:p>
            <a:endParaRPr lang="en-US"/>
          </a:p>
        </p:txBody>
      </p:sp>
      <p:sp>
        <p:nvSpPr>
          <p:cNvPr id="14" name="Text 11"/>
          <p:cNvSpPr txBox="1"/>
          <p:nvPr/>
        </p:nvSpPr>
        <p:spPr>
          <a:xfrm>
            <a:off x="5394960" y="1773936"/>
            <a:ext cx="3008376" cy="155448"/>
          </a:xfrm>
          <a:prstGeom prst="rect">
            <a:avLst/>
          </a:prstGeom>
          <a:noFill/>
          <a:ln/>
        </p:spPr>
        <p:txBody>
          <a:bodyPr wrap="square" lIns="0" tIns="0" rIns="0" bIns="0" rtlCol="0" anchor="ctr"/>
          <a:lstStyle/>
          <a:p>
            <a:pPr marL="0" indent="0">
              <a:buNone/>
            </a:pPr>
            <a:r>
              <a:rPr lang="en-US" sz="750" b="1" kern="0" spc="100" dirty="0">
                <a:solidFill>
                  <a:srgbClr val="10B981"/>
                </a:solidFill>
                <a:latin typeface="Helvetica Neue" pitchFamily="34" charset="0"/>
                <a:ea typeface="Helvetica Neue" pitchFamily="34" charset="-122"/>
                <a:cs typeface="Helvetica Neue" pitchFamily="34" charset="-120"/>
              </a:rPr>
              <a:t>DAY 0</a:t>
            </a:r>
            <a:endParaRPr lang="en-US" sz="750" dirty="0"/>
          </a:p>
        </p:txBody>
      </p:sp>
      <p:sp>
        <p:nvSpPr>
          <p:cNvPr id="15" name="Text 12"/>
          <p:cNvSpPr txBox="1"/>
          <p:nvPr/>
        </p:nvSpPr>
        <p:spPr>
          <a:xfrm>
            <a:off x="5394960" y="1929384"/>
            <a:ext cx="3008376" cy="256032"/>
          </a:xfrm>
          <a:prstGeom prst="rect">
            <a:avLst/>
          </a:prstGeom>
          <a:noFill/>
          <a:ln/>
        </p:spPr>
        <p:txBody>
          <a:bodyPr wrap="square" lIns="0" tIns="0" rIns="0" bIns="0" rtlCol="0" anchor="ctr"/>
          <a:lstStyle/>
          <a:p>
            <a:pPr marL="0" indent="0">
              <a:buNone/>
            </a:pPr>
            <a:r>
              <a:rPr lang="en-US" sz="950" dirty="0">
                <a:solidFill>
                  <a:srgbClr val="C3D1E0"/>
                </a:solidFill>
                <a:latin typeface="Helvetica Neue" pitchFamily="34" charset="0"/>
                <a:ea typeface="Helvetica Neue" pitchFamily="34" charset="-122"/>
                <a:cs typeface="Helvetica Neue" pitchFamily="34" charset="-120"/>
              </a:rPr>
              <a:t>A product starts selling faster than usual</a:t>
            </a:r>
            <a:endParaRPr lang="en-US" sz="950" dirty="0"/>
          </a:p>
        </p:txBody>
      </p:sp>
      <p:sp>
        <p:nvSpPr>
          <p:cNvPr id="16" name="Shape 13"/>
          <p:cNvSpPr/>
          <p:nvPr/>
        </p:nvSpPr>
        <p:spPr>
          <a:xfrm>
            <a:off x="5143500" y="2340864"/>
            <a:ext cx="123444" cy="123444"/>
          </a:xfrm>
          <a:prstGeom prst="ellipse">
            <a:avLst/>
          </a:prstGeom>
          <a:solidFill>
            <a:srgbClr val="F0A830"/>
          </a:solidFill>
          <a:ln w="12700">
            <a:solidFill>
              <a:srgbClr val="F0A830"/>
            </a:solidFill>
            <a:prstDash val="solid"/>
          </a:ln>
        </p:spPr>
        <p:txBody>
          <a:bodyPr/>
          <a:lstStyle/>
          <a:p>
            <a:endParaRPr lang="en-US"/>
          </a:p>
        </p:txBody>
      </p:sp>
      <p:sp>
        <p:nvSpPr>
          <p:cNvPr id="17" name="Text 14"/>
          <p:cNvSpPr txBox="1"/>
          <p:nvPr/>
        </p:nvSpPr>
        <p:spPr>
          <a:xfrm>
            <a:off x="5394960" y="2286000"/>
            <a:ext cx="3008376" cy="155448"/>
          </a:xfrm>
          <a:prstGeom prst="rect">
            <a:avLst/>
          </a:prstGeom>
          <a:noFill/>
          <a:ln/>
        </p:spPr>
        <p:txBody>
          <a:bodyPr wrap="square" lIns="0" tIns="0" rIns="0" bIns="0" rtlCol="0" anchor="ctr"/>
          <a:lstStyle/>
          <a:p>
            <a:pPr marL="0" indent="0">
              <a:buNone/>
            </a:pPr>
            <a:r>
              <a:rPr lang="en-US" sz="750" b="1" kern="0" spc="100" dirty="0">
                <a:solidFill>
                  <a:srgbClr val="F0A830"/>
                </a:solidFill>
                <a:latin typeface="Helvetica Neue" pitchFamily="34" charset="0"/>
                <a:ea typeface="Helvetica Neue" pitchFamily="34" charset="-122"/>
                <a:cs typeface="Helvetica Neue" pitchFamily="34" charset="-120"/>
              </a:rPr>
              <a:t>DAY 3</a:t>
            </a:r>
            <a:endParaRPr lang="en-US" sz="750" dirty="0"/>
          </a:p>
        </p:txBody>
      </p:sp>
      <p:sp>
        <p:nvSpPr>
          <p:cNvPr id="18" name="Text 15"/>
          <p:cNvSpPr txBox="1"/>
          <p:nvPr/>
        </p:nvSpPr>
        <p:spPr>
          <a:xfrm>
            <a:off x="5394960" y="2441448"/>
            <a:ext cx="3008376" cy="256032"/>
          </a:xfrm>
          <a:prstGeom prst="rect">
            <a:avLst/>
          </a:prstGeom>
          <a:noFill/>
          <a:ln/>
        </p:spPr>
        <p:txBody>
          <a:bodyPr wrap="square" lIns="0" tIns="0" rIns="0" bIns="0" rtlCol="0" anchor="ctr"/>
          <a:lstStyle/>
          <a:p>
            <a:pPr marL="0" indent="0">
              <a:buNone/>
            </a:pPr>
            <a:r>
              <a:rPr lang="en-US" sz="950" dirty="0">
                <a:solidFill>
                  <a:srgbClr val="FFFFFF"/>
                </a:solidFill>
                <a:latin typeface="Helvetica Neue" pitchFamily="34" charset="0"/>
                <a:ea typeface="Helvetica Neue" pitchFamily="34" charset="-122"/>
                <a:cs typeface="Helvetica Neue" pitchFamily="34" charset="-120"/>
              </a:rPr>
              <a:t>The shelf is empty. The customer leaves.</a:t>
            </a:r>
            <a:endParaRPr lang="en-US" sz="950" dirty="0"/>
          </a:p>
        </p:txBody>
      </p:sp>
      <p:sp>
        <p:nvSpPr>
          <p:cNvPr id="19" name="Shape 16"/>
          <p:cNvSpPr/>
          <p:nvPr/>
        </p:nvSpPr>
        <p:spPr>
          <a:xfrm>
            <a:off x="5143500" y="2852928"/>
            <a:ext cx="123444" cy="123444"/>
          </a:xfrm>
          <a:prstGeom prst="ellipse">
            <a:avLst/>
          </a:prstGeom>
          <a:solidFill>
            <a:srgbClr val="10B981"/>
          </a:solidFill>
          <a:ln w="12700">
            <a:solidFill>
              <a:srgbClr val="10B981"/>
            </a:solidFill>
            <a:prstDash val="solid"/>
          </a:ln>
        </p:spPr>
        <p:txBody>
          <a:bodyPr/>
          <a:lstStyle/>
          <a:p>
            <a:endParaRPr lang="en-US"/>
          </a:p>
        </p:txBody>
      </p:sp>
      <p:sp>
        <p:nvSpPr>
          <p:cNvPr id="20" name="Text 17"/>
          <p:cNvSpPr txBox="1"/>
          <p:nvPr/>
        </p:nvSpPr>
        <p:spPr>
          <a:xfrm>
            <a:off x="5394960" y="2798064"/>
            <a:ext cx="3008376" cy="155448"/>
          </a:xfrm>
          <a:prstGeom prst="rect">
            <a:avLst/>
          </a:prstGeom>
          <a:noFill/>
          <a:ln/>
        </p:spPr>
        <p:txBody>
          <a:bodyPr wrap="square" lIns="0" tIns="0" rIns="0" bIns="0" rtlCol="0" anchor="ctr"/>
          <a:lstStyle/>
          <a:p>
            <a:pPr marL="0" indent="0">
              <a:buNone/>
            </a:pPr>
            <a:r>
              <a:rPr lang="en-US" sz="750" b="1" kern="0" spc="100" dirty="0">
                <a:solidFill>
                  <a:srgbClr val="10B981"/>
                </a:solidFill>
                <a:latin typeface="Helvetica Neue" pitchFamily="34" charset="0"/>
                <a:ea typeface="Helvetica Neue" pitchFamily="34" charset="-122"/>
                <a:cs typeface="Helvetica Neue" pitchFamily="34" charset="-120"/>
              </a:rPr>
              <a:t>DAY 7</a:t>
            </a:r>
            <a:endParaRPr lang="en-US" sz="750" dirty="0"/>
          </a:p>
        </p:txBody>
      </p:sp>
      <p:sp>
        <p:nvSpPr>
          <p:cNvPr id="21" name="Text 18"/>
          <p:cNvSpPr txBox="1"/>
          <p:nvPr/>
        </p:nvSpPr>
        <p:spPr>
          <a:xfrm>
            <a:off x="5394960" y="2953512"/>
            <a:ext cx="3008376" cy="256032"/>
          </a:xfrm>
          <a:prstGeom prst="rect">
            <a:avLst/>
          </a:prstGeom>
          <a:noFill/>
          <a:ln/>
        </p:spPr>
        <p:txBody>
          <a:bodyPr wrap="square" lIns="0" tIns="0" rIns="0" bIns="0" rtlCol="0" anchor="ctr"/>
          <a:lstStyle/>
          <a:p>
            <a:pPr marL="0" indent="0">
              <a:buNone/>
            </a:pPr>
            <a:r>
              <a:rPr lang="en-US" sz="950" dirty="0">
                <a:solidFill>
                  <a:srgbClr val="C3D1E0"/>
                </a:solidFill>
                <a:latin typeface="Helvetica Neue" pitchFamily="34" charset="0"/>
                <a:ea typeface="Helvetica Neue" pitchFamily="34" charset="-122"/>
                <a:cs typeface="Helvetica Neue" pitchFamily="34" charset="-120"/>
              </a:rPr>
              <a:t>The weekly report finally shows it</a:t>
            </a:r>
            <a:endParaRPr lang="en-US" sz="950" dirty="0"/>
          </a:p>
        </p:txBody>
      </p:sp>
      <p:sp>
        <p:nvSpPr>
          <p:cNvPr id="22" name="Shape 19"/>
          <p:cNvSpPr/>
          <p:nvPr/>
        </p:nvSpPr>
        <p:spPr>
          <a:xfrm>
            <a:off x="5143500" y="3364992"/>
            <a:ext cx="123444" cy="123444"/>
          </a:xfrm>
          <a:prstGeom prst="ellipse">
            <a:avLst/>
          </a:prstGeom>
          <a:solidFill>
            <a:srgbClr val="10B981"/>
          </a:solidFill>
          <a:ln w="12700">
            <a:solidFill>
              <a:srgbClr val="10B981"/>
            </a:solidFill>
            <a:prstDash val="solid"/>
          </a:ln>
        </p:spPr>
        <p:txBody>
          <a:bodyPr/>
          <a:lstStyle/>
          <a:p>
            <a:endParaRPr lang="en-US"/>
          </a:p>
        </p:txBody>
      </p:sp>
      <p:sp>
        <p:nvSpPr>
          <p:cNvPr id="23" name="Text 20"/>
          <p:cNvSpPr txBox="1"/>
          <p:nvPr/>
        </p:nvSpPr>
        <p:spPr>
          <a:xfrm>
            <a:off x="5394960" y="3310128"/>
            <a:ext cx="3008376" cy="155448"/>
          </a:xfrm>
          <a:prstGeom prst="rect">
            <a:avLst/>
          </a:prstGeom>
          <a:noFill/>
          <a:ln/>
        </p:spPr>
        <p:txBody>
          <a:bodyPr wrap="square" lIns="0" tIns="0" rIns="0" bIns="0" rtlCol="0" anchor="ctr"/>
          <a:lstStyle/>
          <a:p>
            <a:pPr marL="0" indent="0">
              <a:buNone/>
            </a:pPr>
            <a:r>
              <a:rPr lang="en-US" sz="750" b="1" kern="0" spc="100" dirty="0">
                <a:solidFill>
                  <a:srgbClr val="10B981"/>
                </a:solidFill>
                <a:latin typeface="Helvetica Neue" pitchFamily="34" charset="0"/>
                <a:ea typeface="Helvetica Neue" pitchFamily="34" charset="-122"/>
                <a:cs typeface="Helvetica Neue" pitchFamily="34" charset="-120"/>
              </a:rPr>
              <a:t>DAY 10</a:t>
            </a:r>
            <a:endParaRPr lang="en-US" sz="750" dirty="0"/>
          </a:p>
        </p:txBody>
      </p:sp>
      <p:sp>
        <p:nvSpPr>
          <p:cNvPr id="24" name="Text 21"/>
          <p:cNvSpPr txBox="1"/>
          <p:nvPr/>
        </p:nvSpPr>
        <p:spPr>
          <a:xfrm>
            <a:off x="5394960" y="3465576"/>
            <a:ext cx="3008376" cy="256032"/>
          </a:xfrm>
          <a:prstGeom prst="rect">
            <a:avLst/>
          </a:prstGeom>
          <a:noFill/>
          <a:ln/>
        </p:spPr>
        <p:txBody>
          <a:bodyPr wrap="square" lIns="0" tIns="0" rIns="0" bIns="0" rtlCol="0" anchor="ctr"/>
          <a:lstStyle/>
          <a:p>
            <a:pPr marL="0" indent="0">
              <a:buNone/>
            </a:pPr>
            <a:r>
              <a:rPr lang="en-US" sz="950" dirty="0">
                <a:solidFill>
                  <a:srgbClr val="C3D1E0"/>
                </a:solidFill>
                <a:latin typeface="Helvetica Neue" pitchFamily="34" charset="0"/>
                <a:ea typeface="Helvetica Neue" pitchFamily="34" charset="-122"/>
                <a:cs typeface="Helvetica Neue" pitchFamily="34" charset="-120"/>
              </a:rPr>
              <a:t>New stock arrives in the shop</a:t>
            </a:r>
            <a:endParaRPr lang="en-US" sz="950" dirty="0"/>
          </a:p>
        </p:txBody>
      </p:sp>
      <p:sp>
        <p:nvSpPr>
          <p:cNvPr id="25" name="Text 22"/>
          <p:cNvSpPr txBox="1"/>
          <p:nvPr/>
        </p:nvSpPr>
        <p:spPr>
          <a:xfrm>
            <a:off x="5129784" y="3803904"/>
            <a:ext cx="3273552" cy="256032"/>
          </a:xfrm>
          <a:prstGeom prst="rect">
            <a:avLst/>
          </a:prstGeom>
          <a:noFill/>
          <a:ln/>
        </p:spPr>
        <p:txBody>
          <a:bodyPr wrap="square" lIns="0" tIns="0" rIns="0" bIns="0" rtlCol="0" anchor="ctr"/>
          <a:lstStyle/>
          <a:p>
            <a:pPr marL="0" indent="0">
              <a:buNone/>
            </a:pPr>
            <a:r>
              <a:rPr lang="en-US" sz="1200" b="1" dirty="0">
                <a:solidFill>
                  <a:srgbClr val="F0A830"/>
                </a:solidFill>
                <a:latin typeface="Helvetica Neue" pitchFamily="34" charset="0"/>
                <a:ea typeface="Helvetica Neue" pitchFamily="34" charset="-122"/>
                <a:cs typeface="Helvetica Neue" pitchFamily="34" charset="-120"/>
              </a:rPr>
              <a:t>A week of lost sales </a:t>
            </a:r>
            <a:r>
              <a:rPr lang="en-US" sz="1100" dirty="0">
                <a:solidFill>
                  <a:srgbClr val="C3D1E0"/>
                </a:solidFill>
                <a:latin typeface="Helvetica Neue" pitchFamily="34" charset="0"/>
                <a:ea typeface="Helvetica Neue" pitchFamily="34" charset="-122"/>
                <a:cs typeface="Helvetica Neue" pitchFamily="34" charset="-120"/>
              </a:rPr>
              <a:t>before anyone could do anything.</a:t>
            </a:r>
            <a:endParaRPr lang="en-US" sz="1200" dirty="0"/>
          </a:p>
        </p:txBody>
      </p:sp>
      <p:sp>
        <p:nvSpPr>
          <p:cNvPr id="26" name="Text 23"/>
          <p:cNvSpPr txBox="1"/>
          <p:nvPr/>
        </p:nvSpPr>
        <p:spPr>
          <a:xfrm>
            <a:off x="502920" y="4370832"/>
            <a:ext cx="8138160" cy="274320"/>
          </a:xfrm>
          <a:prstGeom prst="rect">
            <a:avLst/>
          </a:prstGeom>
          <a:noFill/>
          <a:ln/>
        </p:spPr>
        <p:txBody>
          <a:bodyPr wrap="square" lIns="0" tIns="0" rIns="0" bIns="0" rtlCol="0" anchor="ctr"/>
          <a:lstStyle/>
          <a:p>
            <a:pPr marL="0" indent="0">
              <a:buNone/>
            </a:pPr>
            <a:r>
              <a:rPr lang="en-US" sz="1100" dirty="0">
                <a:solidFill>
                  <a:srgbClr val="C3D1E0"/>
                </a:solidFill>
                <a:latin typeface="Helvetica Neue" pitchFamily="34" charset="0"/>
                <a:ea typeface="Helvetica Neue" pitchFamily="34" charset="-122"/>
                <a:cs typeface="Helvetica Neue" pitchFamily="34" charset="-120"/>
              </a:rPr>
              <a:t>Retailers do not lack numbers. </a:t>
            </a:r>
            <a:r>
              <a:rPr lang="en-US" sz="1100" b="1" dirty="0">
                <a:solidFill>
                  <a:srgbClr val="10B981"/>
                </a:solidFill>
                <a:latin typeface="Helvetica Neue" pitchFamily="34" charset="0"/>
                <a:ea typeface="Helvetica Neue" pitchFamily="34" charset="-122"/>
                <a:cs typeface="Helvetica Neue" pitchFamily="34" charset="-120"/>
              </a:rPr>
              <a:t>They lack the time to act on them.</a:t>
            </a:r>
            <a:endParaRPr lang="en-US" sz="1100" dirty="0"/>
          </a:p>
        </p:txBody>
      </p:sp>
      <p:sp>
        <p:nvSpPr>
          <p:cNvPr id="27" name="Text 24"/>
          <p:cNvSpPr txBox="1"/>
          <p:nvPr/>
        </p:nvSpPr>
        <p:spPr>
          <a:xfrm>
            <a:off x="502920" y="4791456"/>
            <a:ext cx="8138160" cy="182880"/>
          </a:xfrm>
          <a:prstGeom prst="rect">
            <a:avLst/>
          </a:prstGeom>
          <a:noFill/>
          <a:ln/>
        </p:spPr>
        <p:txBody>
          <a:bodyPr wrap="square" lIns="0" tIns="0" rIns="0" bIns="0" rtlCol="0" anchor="ctr"/>
          <a:lstStyle/>
          <a:p>
            <a:pPr marL="0" indent="0">
              <a:buNone/>
            </a:pPr>
            <a:r>
              <a:rPr lang="en-US" sz="650" dirty="0">
                <a:solidFill>
                  <a:srgbClr val="46586F"/>
                </a:solidFill>
                <a:latin typeface="Helvetica Neue" pitchFamily="34" charset="0"/>
                <a:ea typeface="Helvetica Neue" pitchFamily="34" charset="-122"/>
                <a:cs typeface="Helvetica Neue" pitchFamily="34" charset="-120"/>
              </a:rPr>
              <a:t>IHL Group Inventory Distortion Study 2026  ·  Timeline is illustrative</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74320"/>
            <a:ext cx="5486400" cy="155448"/>
          </a:xfrm>
          <a:prstGeom prst="rect">
            <a:avLst/>
          </a:prstGeom>
          <a:noFill/>
          <a:ln/>
        </p:spPr>
        <p:txBody>
          <a:bodyPr wrap="square" lIns="0" tIns="0" rIns="0" bIns="0" rtlCol="0" anchor="ctr"/>
          <a:lstStyle/>
          <a:p>
            <a:pPr marL="0" indent="0">
              <a:buNone/>
            </a:pPr>
            <a:r>
              <a:rPr lang="en-US" sz="850" b="1" kern="0" spc="200" dirty="0">
                <a:solidFill>
                  <a:srgbClr val="047857"/>
                </a:solidFill>
                <a:latin typeface="Helvetica Neue" pitchFamily="34" charset="0"/>
                <a:ea typeface="Helvetica Neue" pitchFamily="34" charset="-122"/>
                <a:cs typeface="Helvetica Neue" pitchFamily="34" charset="-120"/>
              </a:rPr>
              <a:t>WHAT AI CHANGES  ·  03</a:t>
            </a:r>
            <a:endParaRPr lang="en-US" sz="850" dirty="0"/>
          </a:p>
        </p:txBody>
      </p:sp>
      <p:sp>
        <p:nvSpPr>
          <p:cNvPr id="3" name="Text 1"/>
          <p:cNvSpPr txBox="1"/>
          <p:nvPr/>
        </p:nvSpPr>
        <p:spPr>
          <a:xfrm>
            <a:off x="502920" y="475488"/>
            <a:ext cx="8138160" cy="530352"/>
          </a:xfrm>
          <a:prstGeom prst="rect">
            <a:avLst/>
          </a:prstGeom>
          <a:noFill/>
          <a:ln/>
        </p:spPr>
        <p:txBody>
          <a:bodyPr wrap="square" lIns="0" tIns="0" rIns="0" bIns="0" rtlCol="0" anchor="t"/>
          <a:lstStyle/>
          <a:p>
            <a:pPr marL="0" indent="0">
              <a:buNone/>
            </a:pPr>
            <a:r>
              <a:rPr lang="en-US" sz="2200" b="1" dirty="0">
                <a:solidFill>
                  <a:srgbClr val="0A1221"/>
                </a:solidFill>
                <a:latin typeface="Helvetica Neue" pitchFamily="34" charset="0"/>
                <a:ea typeface="Helvetica Neue" pitchFamily="34" charset="-122"/>
                <a:cs typeface="Helvetica Neue" pitchFamily="34" charset="-120"/>
              </a:rPr>
              <a:t>AI works. Trust decides whether it gets used.</a:t>
            </a:r>
            <a:endParaRPr lang="en-US" sz="2200" dirty="0"/>
          </a:p>
        </p:txBody>
      </p:sp>
      <p:sp>
        <p:nvSpPr>
          <p:cNvPr id="4" name="Shape 2"/>
          <p:cNvSpPr/>
          <p:nvPr/>
        </p:nvSpPr>
        <p:spPr>
          <a:xfrm>
            <a:off x="502920" y="1078992"/>
            <a:ext cx="8003998" cy="3127248"/>
          </a:xfrm>
          <a:prstGeom prst="roundRect">
            <a:avLst>
              <a:gd name="adj" fmla="val 877"/>
            </a:avLst>
          </a:prstGeom>
          <a:solidFill>
            <a:srgbClr val="F4F7FA"/>
          </a:solidFill>
          <a:ln w="9525">
            <a:solidFill>
              <a:srgbClr val="DFE7EF"/>
            </a:solidFill>
            <a:prstDash val="solid"/>
          </a:ln>
        </p:spPr>
        <p:txBody>
          <a:bodyPr/>
          <a:lstStyle/>
          <a:p>
            <a:endParaRPr lang="en-US"/>
          </a:p>
        </p:txBody>
      </p:sp>
      <p:sp>
        <p:nvSpPr>
          <p:cNvPr id="5" name="Text 3"/>
          <p:cNvSpPr txBox="1"/>
          <p:nvPr/>
        </p:nvSpPr>
        <p:spPr>
          <a:xfrm>
            <a:off x="758952" y="1316736"/>
            <a:ext cx="3657600" cy="155448"/>
          </a:xfrm>
          <a:prstGeom prst="rect">
            <a:avLst/>
          </a:prstGeom>
          <a:noFill/>
          <a:ln/>
        </p:spPr>
        <p:txBody>
          <a:bodyPr wrap="square" lIns="0" tIns="0" rIns="0" bIns="0" rtlCol="0" anchor="ctr"/>
          <a:lstStyle/>
          <a:p>
            <a:pPr marL="0" indent="0">
              <a:buNone/>
            </a:pPr>
            <a:r>
              <a:rPr lang="en-US" sz="800" b="1" kern="0" spc="120" dirty="0">
                <a:solidFill>
                  <a:srgbClr val="8A9AAD"/>
                </a:solidFill>
                <a:latin typeface="Helvetica Neue" pitchFamily="34" charset="0"/>
                <a:ea typeface="Helvetica Neue" pitchFamily="34" charset="-122"/>
                <a:cs typeface="Helvetica Neue" pitchFamily="34" charset="-120"/>
              </a:rPr>
              <a:t>WHAT RETAILERS USING AI REPORT</a:t>
            </a:r>
            <a:endParaRPr lang="en-US" sz="800" dirty="0"/>
          </a:p>
        </p:txBody>
      </p:sp>
      <p:pic>
        <p:nvPicPr>
          <p:cNvPr id="6" name="Image 0" descr="/home/claude/charts/ai_benchmark.png"/>
          <p:cNvPicPr>
            <a:picLocks noChangeAspect="1"/>
          </p:cNvPicPr>
          <p:nvPr/>
        </p:nvPicPr>
        <p:blipFill>
          <a:blip r:embed="rId3"/>
          <a:stretch>
            <a:fillRect/>
          </a:stretch>
        </p:blipFill>
        <p:spPr>
          <a:xfrm>
            <a:off x="908854" y="1618488"/>
            <a:ext cx="4217782" cy="1783080"/>
          </a:xfrm>
          <a:prstGeom prst="rect">
            <a:avLst/>
          </a:prstGeom>
        </p:spPr>
      </p:pic>
      <p:sp>
        <p:nvSpPr>
          <p:cNvPr id="7" name="Text 4"/>
          <p:cNvSpPr txBox="1"/>
          <p:nvPr/>
        </p:nvSpPr>
        <p:spPr>
          <a:xfrm>
            <a:off x="758952" y="3438144"/>
            <a:ext cx="3657600" cy="457200"/>
          </a:xfrm>
          <a:prstGeom prst="rect">
            <a:avLst/>
          </a:prstGeom>
          <a:noFill/>
          <a:ln/>
        </p:spPr>
        <p:txBody>
          <a:bodyPr wrap="square" lIns="0" tIns="0" rIns="0" bIns="0" rtlCol="0" anchor="ctr"/>
          <a:lstStyle/>
          <a:p>
            <a:pPr marL="0" indent="0">
              <a:lnSpc>
                <a:spcPct val="120000"/>
              </a:lnSpc>
              <a:buNone/>
            </a:pPr>
            <a:r>
              <a:rPr lang="en-US" sz="1600" b="1" dirty="0">
                <a:solidFill>
                  <a:srgbClr val="047857"/>
                </a:solidFill>
                <a:latin typeface="Helvetica Neue" pitchFamily="34" charset="0"/>
                <a:ea typeface="Helvetica Neue" pitchFamily="34" charset="-122"/>
                <a:cs typeface="Helvetica Neue" pitchFamily="34" charset="-120"/>
              </a:rPr>
              <a:t>58%  </a:t>
            </a:r>
            <a:r>
              <a:rPr lang="en-US" sz="950" dirty="0">
                <a:solidFill>
                  <a:srgbClr val="47576B"/>
                </a:solidFill>
                <a:latin typeface="Helvetica Neue" pitchFamily="34" charset="0"/>
                <a:ea typeface="Helvetica Neue" pitchFamily="34" charset="-122"/>
                <a:cs typeface="Helvetica Neue" pitchFamily="34" charset="-120"/>
              </a:rPr>
              <a:t>of retailers are already using AI in 2026 — up 16 points in a single year.</a:t>
            </a:r>
            <a:endParaRPr lang="en-US" sz="1600" dirty="0"/>
          </a:p>
        </p:txBody>
      </p:sp>
      <p:sp>
        <p:nvSpPr>
          <p:cNvPr id="13" name="Text 10"/>
          <p:cNvSpPr txBox="1"/>
          <p:nvPr/>
        </p:nvSpPr>
        <p:spPr>
          <a:xfrm>
            <a:off x="502920" y="4370832"/>
            <a:ext cx="8138160" cy="274320"/>
          </a:xfrm>
          <a:prstGeom prst="rect">
            <a:avLst/>
          </a:prstGeom>
          <a:noFill/>
          <a:ln/>
        </p:spPr>
        <p:txBody>
          <a:bodyPr wrap="square" lIns="0" tIns="0" rIns="0" bIns="0" rtlCol="0" anchor="ctr"/>
          <a:lstStyle/>
          <a:p>
            <a:pPr marL="0" indent="0">
              <a:buNone/>
            </a:pPr>
            <a:r>
              <a:rPr lang="en-US" sz="1100" dirty="0">
                <a:solidFill>
                  <a:srgbClr val="47576B"/>
                </a:solidFill>
                <a:latin typeface="Helvetica Neue" pitchFamily="34" charset="0"/>
                <a:ea typeface="Helvetica Neue" pitchFamily="34" charset="-122"/>
                <a:cs typeface="Helvetica Neue" pitchFamily="34" charset="-120"/>
              </a:rPr>
              <a:t>The system that wins is not the cleverest one. </a:t>
            </a:r>
            <a:r>
              <a:rPr lang="en-US" sz="1100" b="1" dirty="0">
                <a:solidFill>
                  <a:srgbClr val="047857"/>
                </a:solidFill>
                <a:latin typeface="Helvetica Neue" pitchFamily="34" charset="0"/>
                <a:ea typeface="Helvetica Neue" pitchFamily="34" charset="-122"/>
                <a:cs typeface="Helvetica Neue" pitchFamily="34" charset="-120"/>
              </a:rPr>
              <a:t>It is the one your team trusts enough to act on.</a:t>
            </a:r>
            <a:endParaRPr lang="en-US" sz="1100" dirty="0"/>
          </a:p>
        </p:txBody>
      </p:sp>
      <p:sp>
        <p:nvSpPr>
          <p:cNvPr id="14" name="Text 11"/>
          <p:cNvSpPr txBox="1"/>
          <p:nvPr/>
        </p:nvSpPr>
        <p:spPr>
          <a:xfrm>
            <a:off x="502920" y="4791456"/>
            <a:ext cx="8138160" cy="182880"/>
          </a:xfrm>
          <a:prstGeom prst="rect">
            <a:avLst/>
          </a:prstGeom>
          <a:noFill/>
          <a:ln/>
        </p:spPr>
        <p:txBody>
          <a:bodyPr wrap="square" lIns="0" tIns="0" rIns="0" bIns="0" rtlCol="0" anchor="ctr"/>
          <a:lstStyle/>
          <a:p>
            <a:pPr marL="0" indent="0">
              <a:buNone/>
            </a:pPr>
            <a:r>
              <a:rPr lang="en-US" sz="650" dirty="0">
                <a:solidFill>
                  <a:srgbClr val="8A9AAD"/>
                </a:solidFill>
                <a:latin typeface="Helvetica Neue" pitchFamily="34" charset="0"/>
                <a:ea typeface="Helvetica Neue" pitchFamily="34" charset="-122"/>
                <a:cs typeface="Helvetica Neue" pitchFamily="34" charset="-120"/>
              </a:rPr>
              <a:t>NVIDIA State of AI in Retail 2026  ·  McKinsey State of AI 2025–26  ·  Chart indexed to today = 100, using the midpoint of published ranges</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A1221"/>
        </a:solidFill>
        <a:effectLst/>
      </p:bgPr>
    </p:bg>
    <p:spTree>
      <p:nvGrpSpPr>
        <p:cNvPr id="1" name=""/>
        <p:cNvGrpSpPr/>
        <p:nvPr/>
      </p:nvGrpSpPr>
      <p:grpSpPr>
        <a:xfrm>
          <a:off x="0" y="0"/>
          <a:ext cx="0" cy="0"/>
          <a:chOff x="0" y="0"/>
          <a:chExt cx="0" cy="0"/>
        </a:xfrm>
      </p:grpSpPr>
      <p:sp>
        <p:nvSpPr>
          <p:cNvPr id="2" name="Text 0"/>
          <p:cNvSpPr txBox="1"/>
          <p:nvPr/>
        </p:nvSpPr>
        <p:spPr>
          <a:xfrm>
            <a:off x="502920" y="274320"/>
            <a:ext cx="5486400" cy="155448"/>
          </a:xfrm>
          <a:prstGeom prst="rect">
            <a:avLst/>
          </a:prstGeom>
          <a:noFill/>
          <a:ln/>
        </p:spPr>
        <p:txBody>
          <a:bodyPr wrap="square" lIns="0" tIns="0" rIns="0" bIns="0" rtlCol="0" anchor="ctr"/>
          <a:lstStyle/>
          <a:p>
            <a:pPr marL="0" indent="0">
              <a:buNone/>
            </a:pPr>
            <a:r>
              <a:rPr lang="en-US" sz="850" b="1" kern="0" spc="200" dirty="0">
                <a:solidFill>
                  <a:srgbClr val="10B981"/>
                </a:solidFill>
                <a:latin typeface="Helvetica Neue" pitchFamily="34" charset="0"/>
                <a:ea typeface="Helvetica Neue" pitchFamily="34" charset="-122"/>
                <a:cs typeface="Helvetica Neue" pitchFamily="34" charset="-120"/>
              </a:rPr>
              <a:t>THE SOLUTION  ·  06</a:t>
            </a:r>
            <a:endParaRPr lang="en-US" sz="850" dirty="0"/>
          </a:p>
        </p:txBody>
      </p:sp>
      <p:sp>
        <p:nvSpPr>
          <p:cNvPr id="3" name="Text 1"/>
          <p:cNvSpPr txBox="1"/>
          <p:nvPr/>
        </p:nvSpPr>
        <p:spPr>
          <a:xfrm>
            <a:off x="502920" y="475488"/>
            <a:ext cx="8138160" cy="530352"/>
          </a:xfrm>
          <a:prstGeom prst="rect">
            <a:avLst/>
          </a:prstGeom>
          <a:noFill/>
          <a:ln/>
        </p:spPr>
        <p:txBody>
          <a:bodyPr wrap="square" lIns="0" tIns="0" rIns="0" bIns="0" rtlCol="0" anchor="t"/>
          <a:lstStyle/>
          <a:p>
            <a:pPr marL="0" indent="0">
              <a:buNone/>
            </a:pPr>
            <a:r>
              <a:rPr lang="en-US" sz="2200" b="1" dirty="0">
                <a:solidFill>
                  <a:srgbClr val="FFFFFF"/>
                </a:solidFill>
                <a:latin typeface="Helvetica Neue" pitchFamily="34" charset="0"/>
                <a:ea typeface="Helvetica Neue" pitchFamily="34" charset="-122"/>
                <a:cs typeface="Helvetica Neue" pitchFamily="34" charset="-120"/>
              </a:rPr>
              <a:t>FLOWSTOCK – AI Replenishment Platform</a:t>
            </a:r>
            <a:endParaRPr lang="en-US" sz="2200" dirty="0"/>
          </a:p>
        </p:txBody>
      </p:sp>
      <p:sp>
        <p:nvSpPr>
          <p:cNvPr id="4" name="Shape 2"/>
          <p:cNvSpPr/>
          <p:nvPr/>
        </p:nvSpPr>
        <p:spPr>
          <a:xfrm>
            <a:off x="502920" y="1060704"/>
            <a:ext cx="384048" cy="173736"/>
          </a:xfrm>
          <a:prstGeom prst="roundRect">
            <a:avLst>
              <a:gd name="adj" fmla="val 210526"/>
            </a:avLst>
          </a:prstGeom>
          <a:solidFill>
            <a:srgbClr val="10B981">
              <a:alpha val="18000"/>
            </a:srgbClr>
          </a:solidFill>
          <a:ln w="6350">
            <a:solidFill>
              <a:srgbClr val="10B981"/>
            </a:solidFill>
            <a:prstDash val="solid"/>
          </a:ln>
        </p:spPr>
        <p:txBody>
          <a:bodyPr/>
          <a:lstStyle/>
          <a:p>
            <a:endParaRPr lang="en-US"/>
          </a:p>
        </p:txBody>
      </p:sp>
      <p:sp>
        <p:nvSpPr>
          <p:cNvPr id="5" name="Text 3"/>
          <p:cNvSpPr txBox="1"/>
          <p:nvPr/>
        </p:nvSpPr>
        <p:spPr>
          <a:xfrm>
            <a:off x="502920" y="1077163"/>
            <a:ext cx="384048" cy="146304"/>
          </a:xfrm>
          <a:prstGeom prst="rect">
            <a:avLst/>
          </a:prstGeom>
          <a:noFill/>
          <a:ln/>
        </p:spPr>
        <p:txBody>
          <a:bodyPr wrap="square" lIns="0" tIns="0" rIns="0" bIns="0" rtlCol="0" anchor="ctr"/>
          <a:lstStyle/>
          <a:p>
            <a:pPr marL="0" indent="0" algn="ctr">
              <a:buNone/>
            </a:pPr>
            <a:r>
              <a:rPr lang="en-US" sz="600" b="1" kern="0" spc="40" dirty="0">
                <a:solidFill>
                  <a:srgbClr val="10B981"/>
                </a:solidFill>
                <a:latin typeface="Helvetica Neue" pitchFamily="34" charset="0"/>
                <a:ea typeface="Helvetica Neue" pitchFamily="34" charset="-122"/>
                <a:cs typeface="Helvetica Neue" pitchFamily="34" charset="-120"/>
              </a:rPr>
              <a:t>AI</a:t>
            </a:r>
            <a:endParaRPr lang="en-US" sz="600" dirty="0"/>
          </a:p>
        </p:txBody>
      </p:sp>
      <p:sp>
        <p:nvSpPr>
          <p:cNvPr id="6" name="Text 4"/>
          <p:cNvSpPr txBox="1"/>
          <p:nvPr/>
        </p:nvSpPr>
        <p:spPr>
          <a:xfrm>
            <a:off x="978408" y="1083564"/>
            <a:ext cx="1417320" cy="146304"/>
          </a:xfrm>
          <a:prstGeom prst="rect">
            <a:avLst/>
          </a:prstGeom>
          <a:noFill/>
          <a:ln/>
        </p:spPr>
        <p:txBody>
          <a:bodyPr wrap="square" lIns="0" tIns="0" rIns="0" bIns="0" rtlCol="0" anchor="ctr"/>
          <a:lstStyle/>
          <a:p>
            <a:pPr marL="0" indent="0">
              <a:buNone/>
            </a:pPr>
            <a:r>
              <a:rPr lang="en-US" sz="750" dirty="0">
                <a:solidFill>
                  <a:srgbClr val="6B7F96"/>
                </a:solidFill>
                <a:latin typeface="Helvetica Neue" pitchFamily="34" charset="0"/>
                <a:ea typeface="Helvetica Neue" pitchFamily="34" charset="-122"/>
                <a:cs typeface="Helvetica Neue" pitchFamily="34" charset="-120"/>
              </a:rPr>
              <a:t>learns from your sales</a:t>
            </a:r>
            <a:endParaRPr lang="en-US" sz="750" dirty="0"/>
          </a:p>
        </p:txBody>
      </p:sp>
      <p:sp>
        <p:nvSpPr>
          <p:cNvPr id="7" name="Shape 5"/>
          <p:cNvSpPr/>
          <p:nvPr/>
        </p:nvSpPr>
        <p:spPr>
          <a:xfrm>
            <a:off x="2487168" y="1060704"/>
            <a:ext cx="786384" cy="173736"/>
          </a:xfrm>
          <a:prstGeom prst="roundRect">
            <a:avLst>
              <a:gd name="adj" fmla="val 210526"/>
            </a:avLst>
          </a:prstGeom>
          <a:solidFill>
            <a:srgbClr val="7C93B5">
              <a:alpha val="18000"/>
            </a:srgbClr>
          </a:solidFill>
          <a:ln w="6350">
            <a:solidFill>
              <a:srgbClr val="7C93B5"/>
            </a:solidFill>
            <a:prstDash val="solid"/>
          </a:ln>
        </p:spPr>
        <p:txBody>
          <a:bodyPr/>
          <a:lstStyle/>
          <a:p>
            <a:endParaRPr lang="en-US"/>
          </a:p>
        </p:txBody>
      </p:sp>
      <p:sp>
        <p:nvSpPr>
          <p:cNvPr id="8" name="Text 6"/>
          <p:cNvSpPr txBox="1"/>
          <p:nvPr/>
        </p:nvSpPr>
        <p:spPr>
          <a:xfrm>
            <a:off x="2487168" y="1077163"/>
            <a:ext cx="786384" cy="146304"/>
          </a:xfrm>
          <a:prstGeom prst="rect">
            <a:avLst/>
          </a:prstGeom>
          <a:noFill/>
          <a:ln/>
        </p:spPr>
        <p:txBody>
          <a:bodyPr wrap="square" lIns="0" tIns="0" rIns="0" bIns="0" rtlCol="0" anchor="ctr"/>
          <a:lstStyle/>
          <a:p>
            <a:pPr marL="0" indent="0" algn="ctr">
              <a:buNone/>
            </a:pPr>
            <a:r>
              <a:rPr lang="en-US" sz="600" b="1" kern="0" spc="40" dirty="0">
                <a:solidFill>
                  <a:srgbClr val="7C93B5"/>
                </a:solidFill>
                <a:latin typeface="Helvetica Neue" pitchFamily="34" charset="0"/>
                <a:ea typeface="Helvetica Neue" pitchFamily="34" charset="-122"/>
                <a:cs typeface="Helvetica Neue" pitchFamily="34" charset="-120"/>
              </a:rPr>
              <a:t>FIXED RULES</a:t>
            </a:r>
            <a:endParaRPr lang="en-US" sz="600" dirty="0"/>
          </a:p>
        </p:txBody>
      </p:sp>
      <p:sp>
        <p:nvSpPr>
          <p:cNvPr id="9" name="Text 7"/>
          <p:cNvSpPr txBox="1"/>
          <p:nvPr/>
        </p:nvSpPr>
        <p:spPr>
          <a:xfrm>
            <a:off x="3364992" y="1083564"/>
            <a:ext cx="1417320" cy="146304"/>
          </a:xfrm>
          <a:prstGeom prst="rect">
            <a:avLst/>
          </a:prstGeom>
          <a:noFill/>
          <a:ln/>
        </p:spPr>
        <p:txBody>
          <a:bodyPr wrap="square" lIns="0" tIns="0" rIns="0" bIns="0" rtlCol="0" anchor="ctr"/>
          <a:lstStyle/>
          <a:p>
            <a:pPr marL="0" indent="0">
              <a:buNone/>
            </a:pPr>
            <a:r>
              <a:rPr lang="en-US" sz="750" dirty="0">
                <a:solidFill>
                  <a:srgbClr val="6B7F96"/>
                </a:solidFill>
                <a:latin typeface="Helvetica Neue" pitchFamily="34" charset="0"/>
                <a:ea typeface="Helvetica Neue" pitchFamily="34" charset="-122"/>
                <a:cs typeface="Helvetica Neue" pitchFamily="34" charset="-120"/>
              </a:rPr>
              <a:t>your business limits</a:t>
            </a:r>
            <a:endParaRPr lang="en-US" sz="750" dirty="0"/>
          </a:p>
        </p:txBody>
      </p:sp>
      <p:sp>
        <p:nvSpPr>
          <p:cNvPr id="10" name="Shape 8"/>
          <p:cNvSpPr/>
          <p:nvPr/>
        </p:nvSpPr>
        <p:spPr>
          <a:xfrm>
            <a:off x="4873752" y="1060704"/>
            <a:ext cx="786384" cy="173736"/>
          </a:xfrm>
          <a:prstGeom prst="roundRect">
            <a:avLst>
              <a:gd name="adj" fmla="val 210526"/>
            </a:avLst>
          </a:prstGeom>
          <a:solidFill>
            <a:srgbClr val="F0A830">
              <a:alpha val="18000"/>
            </a:srgbClr>
          </a:solidFill>
          <a:ln w="6350">
            <a:solidFill>
              <a:srgbClr val="F0A830"/>
            </a:solidFill>
            <a:prstDash val="solid"/>
          </a:ln>
        </p:spPr>
        <p:txBody>
          <a:bodyPr/>
          <a:lstStyle/>
          <a:p>
            <a:endParaRPr lang="en-US"/>
          </a:p>
        </p:txBody>
      </p:sp>
      <p:sp>
        <p:nvSpPr>
          <p:cNvPr id="11" name="Text 9"/>
          <p:cNvSpPr txBox="1"/>
          <p:nvPr/>
        </p:nvSpPr>
        <p:spPr>
          <a:xfrm>
            <a:off x="4873752" y="1077163"/>
            <a:ext cx="786384" cy="146304"/>
          </a:xfrm>
          <a:prstGeom prst="rect">
            <a:avLst/>
          </a:prstGeom>
          <a:noFill/>
          <a:ln/>
        </p:spPr>
        <p:txBody>
          <a:bodyPr wrap="square" lIns="0" tIns="0" rIns="0" bIns="0" rtlCol="0" anchor="ctr"/>
          <a:lstStyle/>
          <a:p>
            <a:pPr marL="0" indent="0" algn="ctr">
              <a:buNone/>
            </a:pPr>
            <a:r>
              <a:rPr lang="en-US" sz="600" b="1" kern="0" spc="40" dirty="0">
                <a:solidFill>
                  <a:srgbClr val="F0A830"/>
                </a:solidFill>
                <a:latin typeface="Helvetica Neue" pitchFamily="34" charset="0"/>
                <a:ea typeface="Helvetica Neue" pitchFamily="34" charset="-122"/>
                <a:cs typeface="Helvetica Neue" pitchFamily="34" charset="-120"/>
              </a:rPr>
              <a:t>YOUR TEAM</a:t>
            </a:r>
            <a:endParaRPr lang="en-US" sz="600" dirty="0"/>
          </a:p>
        </p:txBody>
      </p:sp>
      <p:sp>
        <p:nvSpPr>
          <p:cNvPr id="12" name="Text 10"/>
          <p:cNvSpPr txBox="1"/>
          <p:nvPr/>
        </p:nvSpPr>
        <p:spPr>
          <a:xfrm>
            <a:off x="5751576" y="1083564"/>
            <a:ext cx="1417320" cy="146304"/>
          </a:xfrm>
          <a:prstGeom prst="rect">
            <a:avLst/>
          </a:prstGeom>
          <a:noFill/>
          <a:ln/>
        </p:spPr>
        <p:txBody>
          <a:bodyPr wrap="square" lIns="0" tIns="0" rIns="0" bIns="0" rtlCol="0" anchor="ctr"/>
          <a:lstStyle/>
          <a:p>
            <a:pPr marL="0" indent="0">
              <a:buNone/>
            </a:pPr>
            <a:r>
              <a:rPr lang="en-US" sz="750" dirty="0">
                <a:solidFill>
                  <a:srgbClr val="6B7F96"/>
                </a:solidFill>
                <a:latin typeface="Helvetica Neue" pitchFamily="34" charset="0"/>
                <a:ea typeface="Helvetica Neue" pitchFamily="34" charset="-122"/>
                <a:cs typeface="Helvetica Neue" pitchFamily="34" charset="-120"/>
              </a:rPr>
              <a:t>a person decides</a:t>
            </a:r>
            <a:endParaRPr lang="en-US" sz="750" dirty="0"/>
          </a:p>
        </p:txBody>
      </p:sp>
      <p:sp>
        <p:nvSpPr>
          <p:cNvPr id="13" name="Shape 11"/>
          <p:cNvSpPr/>
          <p:nvPr/>
        </p:nvSpPr>
        <p:spPr>
          <a:xfrm>
            <a:off x="502920" y="1316736"/>
            <a:ext cx="1218895" cy="1499616"/>
          </a:xfrm>
          <a:prstGeom prst="roundRect">
            <a:avLst>
              <a:gd name="adj" fmla="val 2251"/>
            </a:avLst>
          </a:prstGeom>
          <a:solidFill>
            <a:srgbClr val="16223C"/>
          </a:solidFill>
          <a:ln w="9525">
            <a:solidFill>
              <a:srgbClr val="223250"/>
            </a:solidFill>
            <a:prstDash val="solid"/>
          </a:ln>
        </p:spPr>
        <p:txBody>
          <a:bodyPr/>
          <a:lstStyle/>
          <a:p>
            <a:endParaRPr lang="en-US"/>
          </a:p>
        </p:txBody>
      </p:sp>
      <p:sp>
        <p:nvSpPr>
          <p:cNvPr id="14" name="Shape 12"/>
          <p:cNvSpPr/>
          <p:nvPr/>
        </p:nvSpPr>
        <p:spPr>
          <a:xfrm>
            <a:off x="612648" y="1435608"/>
            <a:ext cx="420624" cy="173736"/>
          </a:xfrm>
          <a:prstGeom prst="roundRect">
            <a:avLst>
              <a:gd name="adj" fmla="val 210526"/>
            </a:avLst>
          </a:prstGeom>
          <a:solidFill>
            <a:srgbClr val="6B7F96">
              <a:alpha val="18000"/>
            </a:srgbClr>
          </a:solidFill>
          <a:ln w="6350">
            <a:solidFill>
              <a:srgbClr val="6B7F96"/>
            </a:solidFill>
            <a:prstDash val="solid"/>
          </a:ln>
        </p:spPr>
        <p:txBody>
          <a:bodyPr/>
          <a:lstStyle/>
          <a:p>
            <a:endParaRPr lang="en-US"/>
          </a:p>
        </p:txBody>
      </p:sp>
      <p:sp>
        <p:nvSpPr>
          <p:cNvPr id="15" name="Text 13"/>
          <p:cNvSpPr txBox="1"/>
          <p:nvPr/>
        </p:nvSpPr>
        <p:spPr>
          <a:xfrm>
            <a:off x="612648" y="1452067"/>
            <a:ext cx="420624" cy="146304"/>
          </a:xfrm>
          <a:prstGeom prst="rect">
            <a:avLst/>
          </a:prstGeom>
          <a:noFill/>
          <a:ln/>
        </p:spPr>
        <p:txBody>
          <a:bodyPr wrap="square" lIns="0" tIns="0" rIns="0" bIns="0" rtlCol="0" anchor="ctr"/>
          <a:lstStyle/>
          <a:p>
            <a:pPr marL="0" indent="0" algn="ctr">
              <a:buNone/>
            </a:pPr>
            <a:r>
              <a:rPr lang="en-US" sz="600" b="1" kern="0" spc="40" dirty="0">
                <a:solidFill>
                  <a:srgbClr val="6B7F96"/>
                </a:solidFill>
                <a:latin typeface="Helvetica Neue" pitchFamily="34" charset="0"/>
                <a:ea typeface="Helvetica Neue" pitchFamily="34" charset="-122"/>
                <a:cs typeface="Helvetica Neue" pitchFamily="34" charset="-120"/>
              </a:rPr>
              <a:t>SYS</a:t>
            </a:r>
            <a:endParaRPr lang="en-US" sz="600" dirty="0"/>
          </a:p>
        </p:txBody>
      </p:sp>
      <p:sp>
        <p:nvSpPr>
          <p:cNvPr id="16" name="Text 14"/>
          <p:cNvSpPr txBox="1"/>
          <p:nvPr/>
        </p:nvSpPr>
        <p:spPr>
          <a:xfrm>
            <a:off x="612648" y="1673352"/>
            <a:ext cx="999439" cy="137160"/>
          </a:xfrm>
          <a:prstGeom prst="rect">
            <a:avLst/>
          </a:prstGeom>
          <a:noFill/>
          <a:ln/>
        </p:spPr>
        <p:txBody>
          <a:bodyPr wrap="square" lIns="0" tIns="0" rIns="0" bIns="0" rtlCol="0" anchor="ctr"/>
          <a:lstStyle/>
          <a:p>
            <a:pPr marL="0" indent="0">
              <a:buNone/>
            </a:pPr>
            <a:r>
              <a:rPr lang="en-US" sz="650" b="1" kern="0" spc="80" dirty="0">
                <a:solidFill>
                  <a:srgbClr val="6B7F96"/>
                </a:solidFill>
                <a:latin typeface="Helvetica Neue" pitchFamily="34" charset="0"/>
                <a:ea typeface="Helvetica Neue" pitchFamily="34" charset="-122"/>
                <a:cs typeface="Helvetica Neue" pitchFamily="34" charset="-120"/>
              </a:rPr>
              <a:t>YOUR DATA</a:t>
            </a:r>
            <a:endParaRPr lang="en-US" sz="650" dirty="0"/>
          </a:p>
        </p:txBody>
      </p:sp>
      <p:sp>
        <p:nvSpPr>
          <p:cNvPr id="17" name="Text 15"/>
          <p:cNvSpPr txBox="1"/>
          <p:nvPr/>
        </p:nvSpPr>
        <p:spPr>
          <a:xfrm>
            <a:off x="612648" y="1828800"/>
            <a:ext cx="999439" cy="420624"/>
          </a:xfrm>
          <a:prstGeom prst="rect">
            <a:avLst/>
          </a:prstGeom>
          <a:noFill/>
          <a:ln/>
        </p:spPr>
        <p:txBody>
          <a:bodyPr wrap="square" lIns="0" tIns="0" rIns="0" bIns="0" rtlCol="0" anchor="ctr"/>
          <a:lstStyle/>
          <a:p>
            <a:pPr marL="0" indent="0">
              <a:lnSpc>
                <a:spcPct val="112000"/>
              </a:lnSpc>
              <a:buNone/>
            </a:pPr>
            <a:r>
              <a:rPr lang="en-US" sz="900" b="1" dirty="0">
                <a:solidFill>
                  <a:srgbClr val="FFFFFF"/>
                </a:solidFill>
                <a:latin typeface="Helvetica Neue" pitchFamily="34" charset="0"/>
                <a:ea typeface="Helvetica Neue" pitchFamily="34" charset="-122"/>
                <a:cs typeface="Helvetica Neue" pitchFamily="34" charset="-120"/>
              </a:rPr>
              <a:t>Sales and stock</a:t>
            </a:r>
            <a:endParaRPr lang="en-US" sz="900" dirty="0"/>
          </a:p>
          <a:p>
            <a:pPr marL="0" indent="0">
              <a:lnSpc>
                <a:spcPct val="112000"/>
              </a:lnSpc>
              <a:buNone/>
            </a:pPr>
            <a:r>
              <a:rPr lang="en-US" sz="900" b="1" dirty="0">
                <a:solidFill>
                  <a:srgbClr val="FFFFFF"/>
                </a:solidFill>
                <a:latin typeface="Helvetica Neue" pitchFamily="34" charset="0"/>
                <a:ea typeface="Helvetica Neue" pitchFamily="34" charset="-122"/>
                <a:cs typeface="Helvetica Neue" pitchFamily="34" charset="-120"/>
              </a:rPr>
              <a:t>numbers</a:t>
            </a:r>
            <a:endParaRPr lang="en-US" sz="900" dirty="0"/>
          </a:p>
        </p:txBody>
      </p:sp>
      <p:sp>
        <p:nvSpPr>
          <p:cNvPr id="18" name="Text 16"/>
          <p:cNvSpPr txBox="1"/>
          <p:nvPr/>
        </p:nvSpPr>
        <p:spPr>
          <a:xfrm>
            <a:off x="612648" y="2276856"/>
            <a:ext cx="999439" cy="438912"/>
          </a:xfrm>
          <a:prstGeom prst="rect">
            <a:avLst/>
          </a:prstGeom>
          <a:noFill/>
          <a:ln/>
        </p:spPr>
        <p:txBody>
          <a:bodyPr wrap="square" lIns="0" tIns="0" rIns="0" bIns="0" rtlCol="0" anchor="ctr"/>
          <a:lstStyle/>
          <a:p>
            <a:pPr marL="0" indent="0">
              <a:lnSpc>
                <a:spcPct val="115000"/>
              </a:lnSpc>
              <a:buNone/>
            </a:pPr>
            <a:r>
              <a:rPr lang="en-US" sz="750" dirty="0">
                <a:solidFill>
                  <a:srgbClr val="C3D1E0"/>
                </a:solidFill>
                <a:latin typeface="Helvetica Neue" pitchFamily="34" charset="0"/>
                <a:ea typeface="Helvetica Neue" pitchFamily="34" charset="-122"/>
                <a:cs typeface="Helvetica Neue" pitchFamily="34" charset="-120"/>
              </a:rPr>
              <a:t>Pulled in overnight,</a:t>
            </a:r>
            <a:endParaRPr lang="en-US" sz="750" dirty="0"/>
          </a:p>
          <a:p>
            <a:pPr marL="0" indent="0">
              <a:lnSpc>
                <a:spcPct val="115000"/>
              </a:lnSpc>
              <a:buNone/>
            </a:pPr>
            <a:r>
              <a:rPr lang="en-US" sz="750" dirty="0">
                <a:solidFill>
                  <a:srgbClr val="C3D1E0"/>
                </a:solidFill>
                <a:latin typeface="Helvetica Neue" pitchFamily="34" charset="0"/>
                <a:ea typeface="Helvetica Neue" pitchFamily="34" charset="-122"/>
                <a:cs typeface="Helvetica Neue" pitchFamily="34" charset="-120"/>
              </a:rPr>
              <a:t>automatically</a:t>
            </a:r>
            <a:endParaRPr lang="en-US" sz="750" dirty="0"/>
          </a:p>
        </p:txBody>
      </p:sp>
      <p:sp>
        <p:nvSpPr>
          <p:cNvPr id="19" name="Text 17"/>
          <p:cNvSpPr txBox="1"/>
          <p:nvPr/>
        </p:nvSpPr>
        <p:spPr>
          <a:xfrm>
            <a:off x="1726387" y="1938528"/>
            <a:ext cx="155448" cy="219456"/>
          </a:xfrm>
          <a:prstGeom prst="rect">
            <a:avLst/>
          </a:prstGeom>
          <a:noFill/>
          <a:ln/>
        </p:spPr>
        <p:txBody>
          <a:bodyPr wrap="square" lIns="0" tIns="0" rIns="0" bIns="0" rtlCol="0" anchor="ctr"/>
          <a:lstStyle/>
          <a:p>
            <a:pPr marL="0" indent="0" algn="ctr">
              <a:buNone/>
            </a:pPr>
            <a:r>
              <a:rPr lang="en-US" sz="1400" dirty="0">
                <a:solidFill>
                  <a:srgbClr val="3A4F6E"/>
                </a:solidFill>
                <a:latin typeface="Helvetica Neue" pitchFamily="34" charset="0"/>
                <a:ea typeface="Helvetica Neue" pitchFamily="34" charset="-122"/>
                <a:cs typeface="Helvetica Neue" pitchFamily="34" charset="-120"/>
              </a:rPr>
              <a:t>›</a:t>
            </a:r>
            <a:endParaRPr lang="en-US" sz="1400" dirty="0"/>
          </a:p>
        </p:txBody>
      </p:sp>
      <p:sp>
        <p:nvSpPr>
          <p:cNvPr id="20" name="Shape 18"/>
          <p:cNvSpPr/>
          <p:nvPr/>
        </p:nvSpPr>
        <p:spPr>
          <a:xfrm>
            <a:off x="1886407" y="1316736"/>
            <a:ext cx="1218895" cy="1499616"/>
          </a:xfrm>
          <a:prstGeom prst="roundRect">
            <a:avLst>
              <a:gd name="adj" fmla="val 2251"/>
            </a:avLst>
          </a:prstGeom>
          <a:solidFill>
            <a:srgbClr val="132A2A"/>
          </a:solidFill>
          <a:ln w="9525">
            <a:solidFill>
              <a:srgbClr val="17614E"/>
            </a:solidFill>
            <a:prstDash val="solid"/>
          </a:ln>
        </p:spPr>
        <p:txBody>
          <a:bodyPr/>
          <a:lstStyle/>
          <a:p>
            <a:endParaRPr lang="en-US"/>
          </a:p>
        </p:txBody>
      </p:sp>
      <p:sp>
        <p:nvSpPr>
          <p:cNvPr id="21" name="Shape 19"/>
          <p:cNvSpPr/>
          <p:nvPr/>
        </p:nvSpPr>
        <p:spPr>
          <a:xfrm>
            <a:off x="1996135" y="1435608"/>
            <a:ext cx="384048" cy="173736"/>
          </a:xfrm>
          <a:prstGeom prst="roundRect">
            <a:avLst>
              <a:gd name="adj" fmla="val 210526"/>
            </a:avLst>
          </a:prstGeom>
          <a:solidFill>
            <a:srgbClr val="10B981">
              <a:alpha val="18000"/>
            </a:srgbClr>
          </a:solidFill>
          <a:ln w="6350">
            <a:solidFill>
              <a:srgbClr val="10B981"/>
            </a:solidFill>
            <a:prstDash val="solid"/>
          </a:ln>
        </p:spPr>
        <p:txBody>
          <a:bodyPr/>
          <a:lstStyle/>
          <a:p>
            <a:endParaRPr lang="en-US"/>
          </a:p>
        </p:txBody>
      </p:sp>
      <p:sp>
        <p:nvSpPr>
          <p:cNvPr id="22" name="Text 20"/>
          <p:cNvSpPr txBox="1"/>
          <p:nvPr/>
        </p:nvSpPr>
        <p:spPr>
          <a:xfrm>
            <a:off x="1996135" y="1452067"/>
            <a:ext cx="384048" cy="146304"/>
          </a:xfrm>
          <a:prstGeom prst="rect">
            <a:avLst/>
          </a:prstGeom>
          <a:noFill/>
          <a:ln/>
        </p:spPr>
        <p:txBody>
          <a:bodyPr wrap="square" lIns="0" tIns="0" rIns="0" bIns="0" rtlCol="0" anchor="ctr"/>
          <a:lstStyle/>
          <a:p>
            <a:pPr marL="0" indent="0" algn="ctr">
              <a:buNone/>
            </a:pPr>
            <a:r>
              <a:rPr lang="en-US" sz="600" b="1" kern="0" spc="40" dirty="0">
                <a:solidFill>
                  <a:srgbClr val="10B981"/>
                </a:solidFill>
                <a:latin typeface="Helvetica Neue" pitchFamily="34" charset="0"/>
                <a:ea typeface="Helvetica Neue" pitchFamily="34" charset="-122"/>
                <a:cs typeface="Helvetica Neue" pitchFamily="34" charset="-120"/>
              </a:rPr>
              <a:t>AI</a:t>
            </a:r>
            <a:endParaRPr lang="en-US" sz="600" dirty="0"/>
          </a:p>
        </p:txBody>
      </p:sp>
      <p:sp>
        <p:nvSpPr>
          <p:cNvPr id="23" name="Text 21"/>
          <p:cNvSpPr txBox="1"/>
          <p:nvPr/>
        </p:nvSpPr>
        <p:spPr>
          <a:xfrm>
            <a:off x="1996135" y="1673352"/>
            <a:ext cx="999439" cy="137160"/>
          </a:xfrm>
          <a:prstGeom prst="rect">
            <a:avLst/>
          </a:prstGeom>
          <a:noFill/>
          <a:ln/>
        </p:spPr>
        <p:txBody>
          <a:bodyPr wrap="square" lIns="0" tIns="0" rIns="0" bIns="0" rtlCol="0" anchor="ctr"/>
          <a:lstStyle/>
          <a:p>
            <a:pPr marL="0" indent="0">
              <a:buNone/>
            </a:pPr>
            <a:r>
              <a:rPr lang="en-US" sz="650" b="1" kern="0" spc="80" dirty="0">
                <a:solidFill>
                  <a:srgbClr val="6B7F96"/>
                </a:solidFill>
                <a:latin typeface="Helvetica Neue" pitchFamily="34" charset="0"/>
                <a:ea typeface="Helvetica Neue" pitchFamily="34" charset="-122"/>
                <a:cs typeface="Helvetica Neue" pitchFamily="34" charset="-120"/>
              </a:rPr>
              <a:t>FORECAST</a:t>
            </a:r>
            <a:endParaRPr lang="en-US" sz="650" dirty="0"/>
          </a:p>
        </p:txBody>
      </p:sp>
      <p:sp>
        <p:nvSpPr>
          <p:cNvPr id="24" name="Text 22"/>
          <p:cNvSpPr txBox="1"/>
          <p:nvPr/>
        </p:nvSpPr>
        <p:spPr>
          <a:xfrm>
            <a:off x="1996135" y="1828800"/>
            <a:ext cx="999439" cy="420624"/>
          </a:xfrm>
          <a:prstGeom prst="rect">
            <a:avLst/>
          </a:prstGeom>
          <a:noFill/>
          <a:ln/>
        </p:spPr>
        <p:txBody>
          <a:bodyPr wrap="square" lIns="0" tIns="0" rIns="0" bIns="0" rtlCol="0" anchor="ctr"/>
          <a:lstStyle/>
          <a:p>
            <a:pPr marL="0" indent="0">
              <a:lnSpc>
                <a:spcPct val="112000"/>
              </a:lnSpc>
              <a:buNone/>
            </a:pPr>
            <a:r>
              <a:rPr lang="en-US" sz="900" b="1" dirty="0">
                <a:solidFill>
                  <a:srgbClr val="FFFFFF"/>
                </a:solidFill>
                <a:latin typeface="Helvetica Neue" pitchFamily="34" charset="0"/>
                <a:ea typeface="Helvetica Neue" pitchFamily="34" charset="-122"/>
                <a:cs typeface="Helvetica Neue" pitchFamily="34" charset="-120"/>
              </a:rPr>
              <a:t>What will sell,</a:t>
            </a:r>
            <a:endParaRPr lang="en-US" sz="900" dirty="0"/>
          </a:p>
          <a:p>
            <a:pPr marL="0" indent="0">
              <a:lnSpc>
                <a:spcPct val="112000"/>
              </a:lnSpc>
              <a:buNone/>
            </a:pPr>
            <a:r>
              <a:rPr lang="en-US" sz="900" b="1" dirty="0">
                <a:solidFill>
                  <a:srgbClr val="FFFFFF"/>
                </a:solidFill>
                <a:latin typeface="Helvetica Neue" pitchFamily="34" charset="0"/>
                <a:ea typeface="Helvetica Neue" pitchFamily="34" charset="-122"/>
                <a:cs typeface="Helvetica Neue" pitchFamily="34" charset="-120"/>
              </a:rPr>
              <a:t>shop by shop</a:t>
            </a:r>
            <a:endParaRPr lang="en-US" sz="900" dirty="0"/>
          </a:p>
        </p:txBody>
      </p:sp>
      <p:sp>
        <p:nvSpPr>
          <p:cNvPr id="25" name="Text 23"/>
          <p:cNvSpPr txBox="1"/>
          <p:nvPr/>
        </p:nvSpPr>
        <p:spPr>
          <a:xfrm>
            <a:off x="1996135" y="2276856"/>
            <a:ext cx="999439" cy="438912"/>
          </a:xfrm>
          <a:prstGeom prst="rect">
            <a:avLst/>
          </a:prstGeom>
          <a:noFill/>
          <a:ln/>
        </p:spPr>
        <p:txBody>
          <a:bodyPr wrap="square" lIns="0" tIns="0" rIns="0" bIns="0" rtlCol="0" anchor="ctr"/>
          <a:lstStyle/>
          <a:p>
            <a:pPr marL="0" indent="0">
              <a:lnSpc>
                <a:spcPct val="115000"/>
              </a:lnSpc>
              <a:buNone/>
            </a:pPr>
            <a:r>
              <a:rPr lang="en-US" sz="750" dirty="0">
                <a:solidFill>
                  <a:srgbClr val="C3D1E0"/>
                </a:solidFill>
                <a:latin typeface="Helvetica Neue" pitchFamily="34" charset="0"/>
                <a:ea typeface="Helvetica Neue" pitchFamily="34" charset="-122"/>
                <a:cs typeface="Helvetica Neue" pitchFamily="34" charset="-120"/>
              </a:rPr>
              <a:t>Learns from your</a:t>
            </a:r>
            <a:endParaRPr lang="en-US" sz="750" dirty="0"/>
          </a:p>
          <a:p>
            <a:pPr marL="0" indent="0">
              <a:lnSpc>
                <a:spcPct val="115000"/>
              </a:lnSpc>
              <a:buNone/>
            </a:pPr>
            <a:r>
              <a:rPr lang="en-US" sz="750" dirty="0">
                <a:solidFill>
                  <a:srgbClr val="C3D1E0"/>
                </a:solidFill>
                <a:latin typeface="Helvetica Neue" pitchFamily="34" charset="0"/>
                <a:ea typeface="Helvetica Neue" pitchFamily="34" charset="-122"/>
                <a:cs typeface="Helvetica Neue" pitchFamily="34" charset="-120"/>
              </a:rPr>
              <a:t>own sales history</a:t>
            </a:r>
            <a:endParaRPr lang="en-US" sz="750" dirty="0"/>
          </a:p>
        </p:txBody>
      </p:sp>
      <p:sp>
        <p:nvSpPr>
          <p:cNvPr id="26" name="Text 24"/>
          <p:cNvSpPr txBox="1"/>
          <p:nvPr/>
        </p:nvSpPr>
        <p:spPr>
          <a:xfrm>
            <a:off x="3109874" y="1938528"/>
            <a:ext cx="155448" cy="219456"/>
          </a:xfrm>
          <a:prstGeom prst="rect">
            <a:avLst/>
          </a:prstGeom>
          <a:noFill/>
          <a:ln/>
        </p:spPr>
        <p:txBody>
          <a:bodyPr wrap="square" lIns="0" tIns="0" rIns="0" bIns="0" rtlCol="0" anchor="ctr"/>
          <a:lstStyle/>
          <a:p>
            <a:pPr marL="0" indent="0" algn="ctr">
              <a:buNone/>
            </a:pPr>
            <a:r>
              <a:rPr lang="en-US" sz="1400" dirty="0">
                <a:solidFill>
                  <a:srgbClr val="3A4F6E"/>
                </a:solidFill>
                <a:latin typeface="Helvetica Neue" pitchFamily="34" charset="0"/>
                <a:ea typeface="Helvetica Neue" pitchFamily="34" charset="-122"/>
                <a:cs typeface="Helvetica Neue" pitchFamily="34" charset="-120"/>
              </a:rPr>
              <a:t>›</a:t>
            </a:r>
            <a:endParaRPr lang="en-US" sz="1400" dirty="0"/>
          </a:p>
        </p:txBody>
      </p:sp>
      <p:sp>
        <p:nvSpPr>
          <p:cNvPr id="27" name="Shape 25"/>
          <p:cNvSpPr/>
          <p:nvPr/>
        </p:nvSpPr>
        <p:spPr>
          <a:xfrm>
            <a:off x="3269894" y="1316736"/>
            <a:ext cx="1218895" cy="1499616"/>
          </a:xfrm>
          <a:prstGeom prst="roundRect">
            <a:avLst>
              <a:gd name="adj" fmla="val 2251"/>
            </a:avLst>
          </a:prstGeom>
          <a:solidFill>
            <a:srgbClr val="132A2A"/>
          </a:solidFill>
          <a:ln w="9525">
            <a:solidFill>
              <a:srgbClr val="17614E"/>
            </a:solidFill>
            <a:prstDash val="solid"/>
          </a:ln>
        </p:spPr>
        <p:txBody>
          <a:bodyPr/>
          <a:lstStyle/>
          <a:p>
            <a:endParaRPr lang="en-US"/>
          </a:p>
        </p:txBody>
      </p:sp>
      <p:sp>
        <p:nvSpPr>
          <p:cNvPr id="28" name="Shape 26"/>
          <p:cNvSpPr/>
          <p:nvPr/>
        </p:nvSpPr>
        <p:spPr>
          <a:xfrm>
            <a:off x="3379622" y="1435608"/>
            <a:ext cx="384048" cy="173736"/>
          </a:xfrm>
          <a:prstGeom prst="roundRect">
            <a:avLst>
              <a:gd name="adj" fmla="val 210526"/>
            </a:avLst>
          </a:prstGeom>
          <a:solidFill>
            <a:srgbClr val="10B981">
              <a:alpha val="18000"/>
            </a:srgbClr>
          </a:solidFill>
          <a:ln w="6350">
            <a:solidFill>
              <a:srgbClr val="10B981"/>
            </a:solidFill>
            <a:prstDash val="solid"/>
          </a:ln>
        </p:spPr>
        <p:txBody>
          <a:bodyPr/>
          <a:lstStyle/>
          <a:p>
            <a:endParaRPr lang="en-US"/>
          </a:p>
        </p:txBody>
      </p:sp>
      <p:sp>
        <p:nvSpPr>
          <p:cNvPr id="29" name="Text 27"/>
          <p:cNvSpPr txBox="1"/>
          <p:nvPr/>
        </p:nvSpPr>
        <p:spPr>
          <a:xfrm>
            <a:off x="3379622" y="1452067"/>
            <a:ext cx="384048" cy="146304"/>
          </a:xfrm>
          <a:prstGeom prst="rect">
            <a:avLst/>
          </a:prstGeom>
          <a:noFill/>
          <a:ln/>
        </p:spPr>
        <p:txBody>
          <a:bodyPr wrap="square" lIns="0" tIns="0" rIns="0" bIns="0" rtlCol="0" anchor="ctr"/>
          <a:lstStyle/>
          <a:p>
            <a:pPr marL="0" indent="0" algn="ctr">
              <a:buNone/>
            </a:pPr>
            <a:r>
              <a:rPr lang="en-US" sz="600" b="1" kern="0" spc="40" dirty="0">
                <a:solidFill>
                  <a:srgbClr val="10B981"/>
                </a:solidFill>
                <a:latin typeface="Helvetica Neue" pitchFamily="34" charset="0"/>
                <a:ea typeface="Helvetica Neue" pitchFamily="34" charset="-122"/>
                <a:cs typeface="Helvetica Neue" pitchFamily="34" charset="-120"/>
              </a:rPr>
              <a:t>AI</a:t>
            </a:r>
            <a:endParaRPr lang="en-US" sz="600" dirty="0"/>
          </a:p>
        </p:txBody>
      </p:sp>
      <p:sp>
        <p:nvSpPr>
          <p:cNvPr id="30" name="Text 28"/>
          <p:cNvSpPr txBox="1"/>
          <p:nvPr/>
        </p:nvSpPr>
        <p:spPr>
          <a:xfrm>
            <a:off x="3379622" y="1673352"/>
            <a:ext cx="999439" cy="137160"/>
          </a:xfrm>
          <a:prstGeom prst="rect">
            <a:avLst/>
          </a:prstGeom>
          <a:noFill/>
          <a:ln/>
        </p:spPr>
        <p:txBody>
          <a:bodyPr wrap="square" lIns="0" tIns="0" rIns="0" bIns="0" rtlCol="0" anchor="ctr"/>
          <a:lstStyle/>
          <a:p>
            <a:pPr marL="0" indent="0">
              <a:buNone/>
            </a:pPr>
            <a:r>
              <a:rPr lang="en-US" sz="650" b="1" kern="0" spc="80" dirty="0">
                <a:solidFill>
                  <a:srgbClr val="6B7F96"/>
                </a:solidFill>
                <a:latin typeface="Helvetica Neue" pitchFamily="34" charset="0"/>
                <a:ea typeface="Helvetica Neue" pitchFamily="34" charset="-122"/>
                <a:cs typeface="Helvetica Neue" pitchFamily="34" charset="-120"/>
              </a:rPr>
              <a:t>PRIORITY</a:t>
            </a:r>
            <a:endParaRPr lang="en-US" sz="650" dirty="0"/>
          </a:p>
        </p:txBody>
      </p:sp>
      <p:sp>
        <p:nvSpPr>
          <p:cNvPr id="31" name="Text 29"/>
          <p:cNvSpPr txBox="1"/>
          <p:nvPr/>
        </p:nvSpPr>
        <p:spPr>
          <a:xfrm>
            <a:off x="3379622" y="1828800"/>
            <a:ext cx="999439" cy="420624"/>
          </a:xfrm>
          <a:prstGeom prst="rect">
            <a:avLst/>
          </a:prstGeom>
          <a:noFill/>
          <a:ln/>
        </p:spPr>
        <p:txBody>
          <a:bodyPr wrap="square" lIns="0" tIns="0" rIns="0" bIns="0" rtlCol="0" anchor="ctr"/>
          <a:lstStyle/>
          <a:p>
            <a:pPr marL="0" indent="0">
              <a:lnSpc>
                <a:spcPct val="112000"/>
              </a:lnSpc>
              <a:buNone/>
            </a:pPr>
            <a:r>
              <a:rPr lang="en-US" sz="900" b="1" dirty="0">
                <a:solidFill>
                  <a:srgbClr val="FFFFFF"/>
                </a:solidFill>
                <a:latin typeface="Helvetica Neue" pitchFamily="34" charset="0"/>
                <a:ea typeface="Helvetica Neue" pitchFamily="34" charset="-122"/>
                <a:cs typeface="Helvetica Neue" pitchFamily="34" charset="-120"/>
              </a:rPr>
              <a:t>Which shops</a:t>
            </a:r>
            <a:endParaRPr lang="en-US" sz="900" dirty="0"/>
          </a:p>
          <a:p>
            <a:pPr marL="0" indent="0">
              <a:lnSpc>
                <a:spcPct val="112000"/>
              </a:lnSpc>
              <a:buNone/>
            </a:pPr>
            <a:r>
              <a:rPr lang="en-US" sz="900" b="1" dirty="0">
                <a:solidFill>
                  <a:srgbClr val="FFFFFF"/>
                </a:solidFill>
                <a:latin typeface="Helvetica Neue" pitchFamily="34" charset="0"/>
                <a:ea typeface="Helvetica Neue" pitchFamily="34" charset="-122"/>
                <a:cs typeface="Helvetica Neue" pitchFamily="34" charset="-120"/>
              </a:rPr>
              <a:t>need it most</a:t>
            </a:r>
            <a:endParaRPr lang="en-US" sz="900" dirty="0"/>
          </a:p>
        </p:txBody>
      </p:sp>
      <p:sp>
        <p:nvSpPr>
          <p:cNvPr id="32" name="Text 30"/>
          <p:cNvSpPr txBox="1"/>
          <p:nvPr/>
        </p:nvSpPr>
        <p:spPr>
          <a:xfrm>
            <a:off x="3379622" y="2276856"/>
            <a:ext cx="999439" cy="438912"/>
          </a:xfrm>
          <a:prstGeom prst="rect">
            <a:avLst/>
          </a:prstGeom>
          <a:noFill/>
          <a:ln/>
        </p:spPr>
        <p:txBody>
          <a:bodyPr wrap="square" lIns="0" tIns="0" rIns="0" bIns="0" rtlCol="0" anchor="ctr"/>
          <a:lstStyle/>
          <a:p>
            <a:pPr marL="0" indent="0">
              <a:lnSpc>
                <a:spcPct val="115000"/>
              </a:lnSpc>
              <a:buNone/>
            </a:pPr>
            <a:r>
              <a:rPr lang="en-US" sz="750" dirty="0">
                <a:solidFill>
                  <a:srgbClr val="C3D1E0"/>
                </a:solidFill>
                <a:latin typeface="Helvetica Neue" pitchFamily="34" charset="0"/>
                <a:ea typeface="Helvetica Neue" pitchFamily="34" charset="-122"/>
                <a:cs typeface="Helvetica Neue" pitchFamily="34" charset="-120"/>
              </a:rPr>
              <a:t>Sends stock where</a:t>
            </a:r>
            <a:endParaRPr lang="en-US" sz="750" dirty="0"/>
          </a:p>
          <a:p>
            <a:pPr marL="0" indent="0">
              <a:lnSpc>
                <a:spcPct val="115000"/>
              </a:lnSpc>
              <a:buNone/>
            </a:pPr>
            <a:r>
              <a:rPr lang="en-US" sz="750" dirty="0">
                <a:solidFill>
                  <a:srgbClr val="C3D1E0"/>
                </a:solidFill>
                <a:latin typeface="Helvetica Neue" pitchFamily="34" charset="0"/>
                <a:ea typeface="Helvetica Neue" pitchFamily="34" charset="-122"/>
                <a:cs typeface="Helvetica Neue" pitchFamily="34" charset="-120"/>
              </a:rPr>
              <a:t>it earns the most</a:t>
            </a:r>
            <a:endParaRPr lang="en-US" sz="750" dirty="0"/>
          </a:p>
        </p:txBody>
      </p:sp>
      <p:sp>
        <p:nvSpPr>
          <p:cNvPr id="33" name="Text 31"/>
          <p:cNvSpPr txBox="1"/>
          <p:nvPr/>
        </p:nvSpPr>
        <p:spPr>
          <a:xfrm>
            <a:off x="4493362" y="1938528"/>
            <a:ext cx="155448" cy="219456"/>
          </a:xfrm>
          <a:prstGeom prst="rect">
            <a:avLst/>
          </a:prstGeom>
          <a:noFill/>
          <a:ln/>
        </p:spPr>
        <p:txBody>
          <a:bodyPr wrap="square" lIns="0" tIns="0" rIns="0" bIns="0" rtlCol="0" anchor="ctr"/>
          <a:lstStyle/>
          <a:p>
            <a:pPr marL="0" indent="0" algn="ctr">
              <a:buNone/>
            </a:pPr>
            <a:r>
              <a:rPr lang="en-US" sz="1400" dirty="0">
                <a:solidFill>
                  <a:srgbClr val="3A4F6E"/>
                </a:solidFill>
                <a:latin typeface="Helvetica Neue" pitchFamily="34" charset="0"/>
                <a:ea typeface="Helvetica Neue" pitchFamily="34" charset="-122"/>
                <a:cs typeface="Helvetica Neue" pitchFamily="34" charset="-120"/>
              </a:rPr>
              <a:t>›</a:t>
            </a:r>
            <a:endParaRPr lang="en-US" sz="1400" dirty="0"/>
          </a:p>
        </p:txBody>
      </p:sp>
      <p:sp>
        <p:nvSpPr>
          <p:cNvPr id="34" name="Shape 32"/>
          <p:cNvSpPr/>
          <p:nvPr/>
        </p:nvSpPr>
        <p:spPr>
          <a:xfrm>
            <a:off x="4653382" y="1316736"/>
            <a:ext cx="1218895" cy="1499616"/>
          </a:xfrm>
          <a:prstGeom prst="roundRect">
            <a:avLst>
              <a:gd name="adj" fmla="val 2251"/>
            </a:avLst>
          </a:prstGeom>
          <a:solidFill>
            <a:srgbClr val="16223C"/>
          </a:solidFill>
          <a:ln w="9525">
            <a:solidFill>
              <a:srgbClr val="223250"/>
            </a:solidFill>
            <a:prstDash val="solid"/>
          </a:ln>
        </p:spPr>
        <p:txBody>
          <a:bodyPr/>
          <a:lstStyle/>
          <a:p>
            <a:endParaRPr lang="en-US"/>
          </a:p>
        </p:txBody>
      </p:sp>
      <p:sp>
        <p:nvSpPr>
          <p:cNvPr id="35" name="Shape 33"/>
          <p:cNvSpPr/>
          <p:nvPr/>
        </p:nvSpPr>
        <p:spPr>
          <a:xfrm>
            <a:off x="4763110" y="1435608"/>
            <a:ext cx="786384" cy="173736"/>
          </a:xfrm>
          <a:prstGeom prst="roundRect">
            <a:avLst>
              <a:gd name="adj" fmla="val 210526"/>
            </a:avLst>
          </a:prstGeom>
          <a:solidFill>
            <a:srgbClr val="7C93B5">
              <a:alpha val="18000"/>
            </a:srgbClr>
          </a:solidFill>
          <a:ln w="6350">
            <a:solidFill>
              <a:srgbClr val="7C93B5"/>
            </a:solidFill>
            <a:prstDash val="solid"/>
          </a:ln>
        </p:spPr>
        <p:txBody>
          <a:bodyPr/>
          <a:lstStyle/>
          <a:p>
            <a:endParaRPr lang="en-US"/>
          </a:p>
        </p:txBody>
      </p:sp>
      <p:sp>
        <p:nvSpPr>
          <p:cNvPr id="36" name="Text 34"/>
          <p:cNvSpPr txBox="1"/>
          <p:nvPr/>
        </p:nvSpPr>
        <p:spPr>
          <a:xfrm>
            <a:off x="4763110" y="1452067"/>
            <a:ext cx="786384" cy="146304"/>
          </a:xfrm>
          <a:prstGeom prst="rect">
            <a:avLst/>
          </a:prstGeom>
          <a:noFill/>
          <a:ln/>
        </p:spPr>
        <p:txBody>
          <a:bodyPr wrap="square" lIns="0" tIns="0" rIns="0" bIns="0" rtlCol="0" anchor="ctr"/>
          <a:lstStyle/>
          <a:p>
            <a:pPr marL="0" indent="0" algn="ctr">
              <a:buNone/>
            </a:pPr>
            <a:r>
              <a:rPr lang="en-US" sz="600" b="1" kern="0" spc="40" dirty="0">
                <a:solidFill>
                  <a:srgbClr val="7C93B5"/>
                </a:solidFill>
                <a:latin typeface="Helvetica Neue" pitchFamily="34" charset="0"/>
                <a:ea typeface="Helvetica Neue" pitchFamily="34" charset="-122"/>
                <a:cs typeface="Helvetica Neue" pitchFamily="34" charset="-120"/>
              </a:rPr>
              <a:t>FIXED RULES</a:t>
            </a:r>
            <a:endParaRPr lang="en-US" sz="600" dirty="0"/>
          </a:p>
        </p:txBody>
      </p:sp>
      <p:sp>
        <p:nvSpPr>
          <p:cNvPr id="37" name="Text 35"/>
          <p:cNvSpPr txBox="1"/>
          <p:nvPr/>
        </p:nvSpPr>
        <p:spPr>
          <a:xfrm>
            <a:off x="4763110" y="1673352"/>
            <a:ext cx="999439" cy="137160"/>
          </a:xfrm>
          <a:prstGeom prst="rect">
            <a:avLst/>
          </a:prstGeom>
          <a:noFill/>
          <a:ln/>
        </p:spPr>
        <p:txBody>
          <a:bodyPr wrap="square" lIns="0" tIns="0" rIns="0" bIns="0" rtlCol="0" anchor="ctr"/>
          <a:lstStyle/>
          <a:p>
            <a:pPr marL="0" indent="0">
              <a:buNone/>
            </a:pPr>
            <a:r>
              <a:rPr lang="en-US" sz="650" b="1" kern="0" spc="80" dirty="0">
                <a:solidFill>
                  <a:srgbClr val="6B7F96"/>
                </a:solidFill>
                <a:latin typeface="Helvetica Neue" pitchFamily="34" charset="0"/>
                <a:ea typeface="Helvetica Neue" pitchFamily="34" charset="-122"/>
                <a:cs typeface="Helvetica Neue" pitchFamily="34" charset="-120"/>
              </a:rPr>
              <a:t>THE LIMITS</a:t>
            </a:r>
            <a:endParaRPr lang="en-US" sz="650" dirty="0"/>
          </a:p>
        </p:txBody>
      </p:sp>
      <p:sp>
        <p:nvSpPr>
          <p:cNvPr id="38" name="Text 36"/>
          <p:cNvSpPr txBox="1"/>
          <p:nvPr/>
        </p:nvSpPr>
        <p:spPr>
          <a:xfrm>
            <a:off x="4763110" y="1828800"/>
            <a:ext cx="999439" cy="420624"/>
          </a:xfrm>
          <a:prstGeom prst="rect">
            <a:avLst/>
          </a:prstGeom>
          <a:noFill/>
          <a:ln/>
        </p:spPr>
        <p:txBody>
          <a:bodyPr wrap="square" lIns="0" tIns="0" rIns="0" bIns="0" rtlCol="0" anchor="ctr"/>
          <a:lstStyle/>
          <a:p>
            <a:pPr marL="0" indent="0">
              <a:lnSpc>
                <a:spcPct val="112000"/>
              </a:lnSpc>
              <a:buNone/>
            </a:pPr>
            <a:r>
              <a:rPr lang="en-US" sz="900" b="1" dirty="0">
                <a:solidFill>
                  <a:srgbClr val="FFFFFF"/>
                </a:solidFill>
                <a:latin typeface="Helvetica Neue" pitchFamily="34" charset="0"/>
                <a:ea typeface="Helvetica Neue" pitchFamily="34" charset="-122"/>
                <a:cs typeface="Helvetica Neue" pitchFamily="34" charset="-120"/>
              </a:rPr>
              <a:t>What is actually</a:t>
            </a:r>
            <a:endParaRPr lang="en-US" sz="900" dirty="0"/>
          </a:p>
          <a:p>
            <a:pPr marL="0" indent="0">
              <a:lnSpc>
                <a:spcPct val="112000"/>
              </a:lnSpc>
              <a:buNone/>
            </a:pPr>
            <a:r>
              <a:rPr lang="en-US" sz="900" b="1" dirty="0">
                <a:solidFill>
                  <a:srgbClr val="FFFFFF"/>
                </a:solidFill>
                <a:latin typeface="Helvetica Neue" pitchFamily="34" charset="0"/>
                <a:ea typeface="Helvetica Neue" pitchFamily="34" charset="-122"/>
                <a:cs typeface="Helvetica Neue" pitchFamily="34" charset="-120"/>
              </a:rPr>
              <a:t>possible</a:t>
            </a:r>
            <a:endParaRPr lang="en-US" sz="900" dirty="0"/>
          </a:p>
        </p:txBody>
      </p:sp>
      <p:sp>
        <p:nvSpPr>
          <p:cNvPr id="39" name="Text 37"/>
          <p:cNvSpPr txBox="1"/>
          <p:nvPr/>
        </p:nvSpPr>
        <p:spPr>
          <a:xfrm>
            <a:off x="4763110" y="2276856"/>
            <a:ext cx="999439" cy="438912"/>
          </a:xfrm>
          <a:prstGeom prst="rect">
            <a:avLst/>
          </a:prstGeom>
          <a:noFill/>
          <a:ln/>
        </p:spPr>
        <p:txBody>
          <a:bodyPr wrap="square" lIns="0" tIns="0" rIns="0" bIns="0" rtlCol="0" anchor="ctr"/>
          <a:lstStyle/>
          <a:p>
            <a:pPr marL="0" indent="0">
              <a:lnSpc>
                <a:spcPct val="115000"/>
              </a:lnSpc>
              <a:buNone/>
            </a:pPr>
            <a:r>
              <a:rPr lang="en-US" sz="750" dirty="0">
                <a:solidFill>
                  <a:srgbClr val="C3D1E0"/>
                </a:solidFill>
                <a:latin typeface="Helvetica Neue" pitchFamily="34" charset="0"/>
                <a:ea typeface="Helvetica Neue" pitchFamily="34" charset="-122"/>
                <a:cs typeface="Helvetica Neue" pitchFamily="34" charset="-120"/>
              </a:rPr>
              <a:t>Warehouse stock,</a:t>
            </a:r>
            <a:endParaRPr lang="en-US" sz="750" dirty="0"/>
          </a:p>
          <a:p>
            <a:pPr marL="0" indent="0">
              <a:lnSpc>
                <a:spcPct val="115000"/>
              </a:lnSpc>
              <a:buNone/>
            </a:pPr>
            <a:r>
              <a:rPr lang="en-US" sz="750" dirty="0">
                <a:solidFill>
                  <a:srgbClr val="C3D1E0"/>
                </a:solidFill>
                <a:latin typeface="Helvetica Neue" pitchFamily="34" charset="0"/>
                <a:ea typeface="Helvetica Neue" pitchFamily="34" charset="-122"/>
                <a:cs typeface="Helvetica Neue" pitchFamily="34" charset="-120"/>
              </a:rPr>
              <a:t>box sizes, shelf space</a:t>
            </a:r>
            <a:endParaRPr lang="en-US" sz="750" dirty="0"/>
          </a:p>
        </p:txBody>
      </p:sp>
      <p:sp>
        <p:nvSpPr>
          <p:cNvPr id="40" name="Text 38"/>
          <p:cNvSpPr txBox="1"/>
          <p:nvPr/>
        </p:nvSpPr>
        <p:spPr>
          <a:xfrm>
            <a:off x="5876849" y="1938528"/>
            <a:ext cx="155448" cy="219456"/>
          </a:xfrm>
          <a:prstGeom prst="rect">
            <a:avLst/>
          </a:prstGeom>
          <a:noFill/>
          <a:ln/>
        </p:spPr>
        <p:txBody>
          <a:bodyPr wrap="square" lIns="0" tIns="0" rIns="0" bIns="0" rtlCol="0" anchor="ctr"/>
          <a:lstStyle/>
          <a:p>
            <a:pPr marL="0" indent="0" algn="ctr">
              <a:buNone/>
            </a:pPr>
            <a:r>
              <a:rPr lang="en-US" sz="1400" dirty="0">
                <a:solidFill>
                  <a:srgbClr val="3A4F6E"/>
                </a:solidFill>
                <a:latin typeface="Helvetica Neue" pitchFamily="34" charset="0"/>
                <a:ea typeface="Helvetica Neue" pitchFamily="34" charset="-122"/>
                <a:cs typeface="Helvetica Neue" pitchFamily="34" charset="-120"/>
              </a:rPr>
              <a:t>›</a:t>
            </a:r>
            <a:endParaRPr lang="en-US" sz="1400" dirty="0"/>
          </a:p>
        </p:txBody>
      </p:sp>
      <p:sp>
        <p:nvSpPr>
          <p:cNvPr id="41" name="Shape 39"/>
          <p:cNvSpPr/>
          <p:nvPr/>
        </p:nvSpPr>
        <p:spPr>
          <a:xfrm>
            <a:off x="6036869" y="1316736"/>
            <a:ext cx="1218895" cy="1499616"/>
          </a:xfrm>
          <a:prstGeom prst="roundRect">
            <a:avLst>
              <a:gd name="adj" fmla="val 2251"/>
            </a:avLst>
          </a:prstGeom>
          <a:solidFill>
            <a:srgbClr val="1E2C24"/>
          </a:solidFill>
          <a:ln w="9525">
            <a:solidFill>
              <a:srgbClr val="4A3A1E"/>
            </a:solidFill>
            <a:prstDash val="solid"/>
          </a:ln>
        </p:spPr>
        <p:txBody>
          <a:bodyPr/>
          <a:lstStyle/>
          <a:p>
            <a:endParaRPr lang="en-US"/>
          </a:p>
        </p:txBody>
      </p:sp>
      <p:sp>
        <p:nvSpPr>
          <p:cNvPr id="42" name="Shape 40"/>
          <p:cNvSpPr/>
          <p:nvPr/>
        </p:nvSpPr>
        <p:spPr>
          <a:xfrm>
            <a:off x="6146597" y="1435608"/>
            <a:ext cx="786384" cy="173736"/>
          </a:xfrm>
          <a:prstGeom prst="roundRect">
            <a:avLst>
              <a:gd name="adj" fmla="val 210526"/>
            </a:avLst>
          </a:prstGeom>
          <a:solidFill>
            <a:srgbClr val="F0A830">
              <a:alpha val="18000"/>
            </a:srgbClr>
          </a:solidFill>
          <a:ln w="6350">
            <a:solidFill>
              <a:srgbClr val="F0A830"/>
            </a:solidFill>
            <a:prstDash val="solid"/>
          </a:ln>
        </p:spPr>
        <p:txBody>
          <a:bodyPr/>
          <a:lstStyle/>
          <a:p>
            <a:endParaRPr lang="en-US"/>
          </a:p>
        </p:txBody>
      </p:sp>
      <p:sp>
        <p:nvSpPr>
          <p:cNvPr id="43" name="Text 41"/>
          <p:cNvSpPr txBox="1"/>
          <p:nvPr/>
        </p:nvSpPr>
        <p:spPr>
          <a:xfrm>
            <a:off x="6146597" y="1452067"/>
            <a:ext cx="786384" cy="146304"/>
          </a:xfrm>
          <a:prstGeom prst="rect">
            <a:avLst/>
          </a:prstGeom>
          <a:noFill/>
          <a:ln/>
        </p:spPr>
        <p:txBody>
          <a:bodyPr wrap="square" lIns="0" tIns="0" rIns="0" bIns="0" rtlCol="0" anchor="ctr"/>
          <a:lstStyle/>
          <a:p>
            <a:pPr marL="0" indent="0" algn="ctr">
              <a:buNone/>
            </a:pPr>
            <a:r>
              <a:rPr lang="en-US" sz="600" b="1" kern="0" spc="40" dirty="0">
                <a:solidFill>
                  <a:srgbClr val="F0A830"/>
                </a:solidFill>
                <a:latin typeface="Helvetica Neue" pitchFamily="34" charset="0"/>
                <a:ea typeface="Helvetica Neue" pitchFamily="34" charset="-122"/>
                <a:cs typeface="Helvetica Neue" pitchFamily="34" charset="-120"/>
              </a:rPr>
              <a:t>YOUR TEAM</a:t>
            </a:r>
            <a:endParaRPr lang="en-US" sz="600" dirty="0"/>
          </a:p>
        </p:txBody>
      </p:sp>
      <p:sp>
        <p:nvSpPr>
          <p:cNvPr id="44" name="Text 42"/>
          <p:cNvSpPr txBox="1"/>
          <p:nvPr/>
        </p:nvSpPr>
        <p:spPr>
          <a:xfrm>
            <a:off x="6146597" y="1673352"/>
            <a:ext cx="999439" cy="137160"/>
          </a:xfrm>
          <a:prstGeom prst="rect">
            <a:avLst/>
          </a:prstGeom>
          <a:noFill/>
          <a:ln/>
        </p:spPr>
        <p:txBody>
          <a:bodyPr wrap="square" lIns="0" tIns="0" rIns="0" bIns="0" rtlCol="0" anchor="ctr"/>
          <a:lstStyle/>
          <a:p>
            <a:pPr marL="0" indent="0">
              <a:buNone/>
            </a:pPr>
            <a:r>
              <a:rPr lang="en-US" sz="650" b="1" kern="0" spc="80" dirty="0">
                <a:solidFill>
                  <a:srgbClr val="6B7F96"/>
                </a:solidFill>
                <a:latin typeface="Helvetica Neue" pitchFamily="34" charset="0"/>
                <a:ea typeface="Helvetica Neue" pitchFamily="34" charset="-122"/>
                <a:cs typeface="Helvetica Neue" pitchFamily="34" charset="-120"/>
              </a:rPr>
              <a:t>YOUR PLANNER</a:t>
            </a:r>
            <a:endParaRPr lang="en-US" sz="650" dirty="0"/>
          </a:p>
        </p:txBody>
      </p:sp>
      <p:sp>
        <p:nvSpPr>
          <p:cNvPr id="45" name="Text 43"/>
          <p:cNvSpPr txBox="1"/>
          <p:nvPr/>
        </p:nvSpPr>
        <p:spPr>
          <a:xfrm>
            <a:off x="6146597" y="1828800"/>
            <a:ext cx="999439" cy="420624"/>
          </a:xfrm>
          <a:prstGeom prst="rect">
            <a:avLst/>
          </a:prstGeom>
          <a:noFill/>
          <a:ln/>
        </p:spPr>
        <p:txBody>
          <a:bodyPr wrap="square" lIns="0" tIns="0" rIns="0" bIns="0" rtlCol="0" anchor="ctr"/>
          <a:lstStyle/>
          <a:p>
            <a:pPr marL="0" indent="0">
              <a:lnSpc>
                <a:spcPct val="112000"/>
              </a:lnSpc>
              <a:buNone/>
            </a:pPr>
            <a:r>
              <a:rPr lang="en-US" sz="900" b="1" dirty="0">
                <a:solidFill>
                  <a:srgbClr val="FFFFFF"/>
                </a:solidFill>
                <a:latin typeface="Helvetica Neue" pitchFamily="34" charset="0"/>
                <a:ea typeface="Helvetica Neue" pitchFamily="34" charset="-122"/>
                <a:cs typeface="Helvetica Neue" pitchFamily="34" charset="-120"/>
              </a:rPr>
              <a:t>Adjust and</a:t>
            </a:r>
            <a:endParaRPr lang="en-US" sz="900" dirty="0"/>
          </a:p>
          <a:p>
            <a:pPr marL="0" indent="0">
              <a:lnSpc>
                <a:spcPct val="112000"/>
              </a:lnSpc>
              <a:buNone/>
            </a:pPr>
            <a:r>
              <a:rPr lang="en-US" sz="900" b="1" dirty="0">
                <a:solidFill>
                  <a:srgbClr val="FFFFFF"/>
                </a:solidFill>
                <a:latin typeface="Helvetica Neue" pitchFamily="34" charset="0"/>
                <a:ea typeface="Helvetica Neue" pitchFamily="34" charset="-122"/>
                <a:cs typeface="Helvetica Neue" pitchFamily="34" charset="-120"/>
              </a:rPr>
              <a:t>approve</a:t>
            </a:r>
            <a:endParaRPr lang="en-US" sz="900" dirty="0"/>
          </a:p>
        </p:txBody>
      </p:sp>
      <p:sp>
        <p:nvSpPr>
          <p:cNvPr id="46" name="Text 44"/>
          <p:cNvSpPr txBox="1"/>
          <p:nvPr/>
        </p:nvSpPr>
        <p:spPr>
          <a:xfrm>
            <a:off x="6146597" y="2276856"/>
            <a:ext cx="999439" cy="438912"/>
          </a:xfrm>
          <a:prstGeom prst="rect">
            <a:avLst/>
          </a:prstGeom>
          <a:noFill/>
          <a:ln/>
        </p:spPr>
        <p:txBody>
          <a:bodyPr wrap="square" lIns="0" tIns="0" rIns="0" bIns="0" rtlCol="0" anchor="ctr"/>
          <a:lstStyle/>
          <a:p>
            <a:pPr marL="0" indent="0">
              <a:lnSpc>
                <a:spcPct val="115000"/>
              </a:lnSpc>
              <a:buNone/>
            </a:pPr>
            <a:r>
              <a:rPr lang="en-US" sz="750" dirty="0">
                <a:solidFill>
                  <a:srgbClr val="C3D1E0"/>
                </a:solidFill>
                <a:latin typeface="Helvetica Neue" pitchFamily="34" charset="0"/>
                <a:ea typeface="Helvetica Neue" pitchFamily="34" charset="-122"/>
                <a:cs typeface="Helvetica Neue" pitchFamily="34" charset="-120"/>
              </a:rPr>
              <a:t>Change a line, see</a:t>
            </a:r>
            <a:endParaRPr lang="en-US" sz="750" dirty="0"/>
          </a:p>
          <a:p>
            <a:pPr marL="0" indent="0">
              <a:lnSpc>
                <a:spcPct val="115000"/>
              </a:lnSpc>
              <a:buNone/>
            </a:pPr>
            <a:r>
              <a:rPr lang="en-US" sz="750" dirty="0">
                <a:solidFill>
                  <a:srgbClr val="C3D1E0"/>
                </a:solidFill>
                <a:latin typeface="Helvetica Neue" pitchFamily="34" charset="0"/>
                <a:ea typeface="Helvetica Neue" pitchFamily="34" charset="-122"/>
                <a:cs typeface="Helvetica Neue" pitchFamily="34" charset="-120"/>
              </a:rPr>
              <a:t>the impact at once</a:t>
            </a:r>
            <a:endParaRPr lang="en-US" sz="750" dirty="0"/>
          </a:p>
        </p:txBody>
      </p:sp>
      <p:sp>
        <p:nvSpPr>
          <p:cNvPr id="47" name="Text 45"/>
          <p:cNvSpPr txBox="1"/>
          <p:nvPr/>
        </p:nvSpPr>
        <p:spPr>
          <a:xfrm>
            <a:off x="7260336" y="1938528"/>
            <a:ext cx="155448" cy="219456"/>
          </a:xfrm>
          <a:prstGeom prst="rect">
            <a:avLst/>
          </a:prstGeom>
          <a:noFill/>
          <a:ln/>
        </p:spPr>
        <p:txBody>
          <a:bodyPr wrap="square" lIns="0" tIns="0" rIns="0" bIns="0" rtlCol="0" anchor="ctr"/>
          <a:lstStyle/>
          <a:p>
            <a:pPr marL="0" indent="0" algn="ctr">
              <a:buNone/>
            </a:pPr>
            <a:r>
              <a:rPr lang="en-US" sz="1400" dirty="0">
                <a:solidFill>
                  <a:srgbClr val="3A4F6E"/>
                </a:solidFill>
                <a:latin typeface="Helvetica Neue" pitchFamily="34" charset="0"/>
                <a:ea typeface="Helvetica Neue" pitchFamily="34" charset="-122"/>
                <a:cs typeface="Helvetica Neue" pitchFamily="34" charset="-120"/>
              </a:rPr>
              <a:t>›</a:t>
            </a:r>
            <a:endParaRPr lang="en-US" sz="1400" dirty="0"/>
          </a:p>
        </p:txBody>
      </p:sp>
      <p:sp>
        <p:nvSpPr>
          <p:cNvPr id="48" name="Shape 46"/>
          <p:cNvSpPr/>
          <p:nvPr/>
        </p:nvSpPr>
        <p:spPr>
          <a:xfrm>
            <a:off x="7420356" y="1316736"/>
            <a:ext cx="1218895" cy="1499616"/>
          </a:xfrm>
          <a:prstGeom prst="roundRect">
            <a:avLst>
              <a:gd name="adj" fmla="val 2251"/>
            </a:avLst>
          </a:prstGeom>
          <a:solidFill>
            <a:srgbClr val="16223C"/>
          </a:solidFill>
          <a:ln w="9525">
            <a:solidFill>
              <a:srgbClr val="223250"/>
            </a:solidFill>
            <a:prstDash val="solid"/>
          </a:ln>
        </p:spPr>
        <p:txBody>
          <a:bodyPr/>
          <a:lstStyle/>
          <a:p>
            <a:endParaRPr lang="en-US"/>
          </a:p>
        </p:txBody>
      </p:sp>
      <p:sp>
        <p:nvSpPr>
          <p:cNvPr id="49" name="Shape 47"/>
          <p:cNvSpPr/>
          <p:nvPr/>
        </p:nvSpPr>
        <p:spPr>
          <a:xfrm>
            <a:off x="7530084" y="1435608"/>
            <a:ext cx="420624" cy="173736"/>
          </a:xfrm>
          <a:prstGeom prst="roundRect">
            <a:avLst>
              <a:gd name="adj" fmla="val 210526"/>
            </a:avLst>
          </a:prstGeom>
          <a:solidFill>
            <a:srgbClr val="6B7F96">
              <a:alpha val="18000"/>
            </a:srgbClr>
          </a:solidFill>
          <a:ln w="6350">
            <a:solidFill>
              <a:srgbClr val="6B7F96"/>
            </a:solidFill>
            <a:prstDash val="solid"/>
          </a:ln>
        </p:spPr>
        <p:txBody>
          <a:bodyPr/>
          <a:lstStyle/>
          <a:p>
            <a:endParaRPr lang="en-US"/>
          </a:p>
        </p:txBody>
      </p:sp>
      <p:sp>
        <p:nvSpPr>
          <p:cNvPr id="50" name="Text 48"/>
          <p:cNvSpPr txBox="1"/>
          <p:nvPr/>
        </p:nvSpPr>
        <p:spPr>
          <a:xfrm>
            <a:off x="7530084" y="1452067"/>
            <a:ext cx="420624" cy="146304"/>
          </a:xfrm>
          <a:prstGeom prst="rect">
            <a:avLst/>
          </a:prstGeom>
          <a:noFill/>
          <a:ln/>
        </p:spPr>
        <p:txBody>
          <a:bodyPr wrap="square" lIns="0" tIns="0" rIns="0" bIns="0" rtlCol="0" anchor="ctr"/>
          <a:lstStyle/>
          <a:p>
            <a:pPr marL="0" indent="0" algn="ctr">
              <a:buNone/>
            </a:pPr>
            <a:r>
              <a:rPr lang="en-US" sz="600" b="1" kern="0" spc="40" dirty="0">
                <a:solidFill>
                  <a:srgbClr val="6B7F96"/>
                </a:solidFill>
                <a:latin typeface="Helvetica Neue" pitchFamily="34" charset="0"/>
                <a:ea typeface="Helvetica Neue" pitchFamily="34" charset="-122"/>
                <a:cs typeface="Helvetica Neue" pitchFamily="34" charset="-120"/>
              </a:rPr>
              <a:t>SYS</a:t>
            </a:r>
            <a:endParaRPr lang="en-US" sz="600" dirty="0"/>
          </a:p>
        </p:txBody>
      </p:sp>
      <p:sp>
        <p:nvSpPr>
          <p:cNvPr id="51" name="Text 49"/>
          <p:cNvSpPr txBox="1"/>
          <p:nvPr/>
        </p:nvSpPr>
        <p:spPr>
          <a:xfrm>
            <a:off x="7530084" y="1673352"/>
            <a:ext cx="999439" cy="137160"/>
          </a:xfrm>
          <a:prstGeom prst="rect">
            <a:avLst/>
          </a:prstGeom>
          <a:noFill/>
          <a:ln/>
        </p:spPr>
        <p:txBody>
          <a:bodyPr wrap="square" lIns="0" tIns="0" rIns="0" bIns="0" rtlCol="0" anchor="ctr"/>
          <a:lstStyle/>
          <a:p>
            <a:pPr marL="0" indent="0">
              <a:buNone/>
            </a:pPr>
            <a:r>
              <a:rPr lang="en-US" sz="650" b="1" kern="0" spc="80" dirty="0">
                <a:solidFill>
                  <a:srgbClr val="6B7F96"/>
                </a:solidFill>
                <a:latin typeface="Helvetica Neue" pitchFamily="34" charset="0"/>
                <a:ea typeface="Helvetica Neue" pitchFamily="34" charset="-122"/>
                <a:cs typeface="Helvetica Neue" pitchFamily="34" charset="-120"/>
              </a:rPr>
              <a:t>THE OUTPUT</a:t>
            </a:r>
            <a:endParaRPr lang="en-US" sz="650" dirty="0"/>
          </a:p>
        </p:txBody>
      </p:sp>
      <p:sp>
        <p:nvSpPr>
          <p:cNvPr id="52" name="Text 50"/>
          <p:cNvSpPr txBox="1"/>
          <p:nvPr/>
        </p:nvSpPr>
        <p:spPr>
          <a:xfrm>
            <a:off x="7530084" y="1828800"/>
            <a:ext cx="999439" cy="420624"/>
          </a:xfrm>
          <a:prstGeom prst="rect">
            <a:avLst/>
          </a:prstGeom>
          <a:noFill/>
          <a:ln/>
        </p:spPr>
        <p:txBody>
          <a:bodyPr wrap="square" lIns="0" tIns="0" rIns="0" bIns="0" rtlCol="0" anchor="ctr"/>
          <a:lstStyle/>
          <a:p>
            <a:pPr marL="0" indent="0">
              <a:lnSpc>
                <a:spcPct val="112000"/>
              </a:lnSpc>
              <a:buNone/>
            </a:pPr>
            <a:r>
              <a:rPr lang="en-US" sz="900" b="1" dirty="0">
                <a:solidFill>
                  <a:srgbClr val="FFFFFF"/>
                </a:solidFill>
                <a:latin typeface="Helvetica Neue" pitchFamily="34" charset="0"/>
                <a:ea typeface="Helvetica Neue" pitchFamily="34" charset="-122"/>
                <a:cs typeface="Helvetica Neue" pitchFamily="34" charset="-120"/>
              </a:rPr>
              <a:t>Delivery list for</a:t>
            </a:r>
            <a:endParaRPr lang="en-US" sz="900" dirty="0"/>
          </a:p>
          <a:p>
            <a:pPr marL="0" indent="0">
              <a:lnSpc>
                <a:spcPct val="112000"/>
              </a:lnSpc>
              <a:buNone/>
            </a:pPr>
            <a:r>
              <a:rPr lang="en-US" sz="900" b="1" dirty="0">
                <a:solidFill>
                  <a:srgbClr val="FFFFFF"/>
                </a:solidFill>
                <a:latin typeface="Helvetica Neue" pitchFamily="34" charset="0"/>
                <a:ea typeface="Helvetica Neue" pitchFamily="34" charset="-122"/>
                <a:cs typeface="Helvetica Neue" pitchFamily="34" charset="-120"/>
              </a:rPr>
              <a:t>the warehouse</a:t>
            </a:r>
            <a:endParaRPr lang="en-US" sz="900" dirty="0"/>
          </a:p>
        </p:txBody>
      </p:sp>
      <p:sp>
        <p:nvSpPr>
          <p:cNvPr id="53" name="Text 51"/>
          <p:cNvSpPr txBox="1"/>
          <p:nvPr/>
        </p:nvSpPr>
        <p:spPr>
          <a:xfrm>
            <a:off x="7530084" y="2276856"/>
            <a:ext cx="999439" cy="438912"/>
          </a:xfrm>
          <a:prstGeom prst="rect">
            <a:avLst/>
          </a:prstGeom>
          <a:noFill/>
          <a:ln/>
        </p:spPr>
        <p:txBody>
          <a:bodyPr wrap="square" lIns="0" tIns="0" rIns="0" bIns="0" rtlCol="0" anchor="ctr"/>
          <a:lstStyle/>
          <a:p>
            <a:pPr marL="0" indent="0">
              <a:lnSpc>
                <a:spcPct val="115000"/>
              </a:lnSpc>
              <a:buNone/>
            </a:pPr>
            <a:r>
              <a:rPr lang="en-US" sz="750" dirty="0">
                <a:solidFill>
                  <a:srgbClr val="C3D1E0"/>
                </a:solidFill>
                <a:latin typeface="Helvetica Neue" pitchFamily="34" charset="0"/>
                <a:ea typeface="Helvetica Neue" pitchFamily="34" charset="-122"/>
                <a:cs typeface="Helvetica Neue" pitchFamily="34" charset="-120"/>
              </a:rPr>
              <a:t>Sorted by route and</a:t>
            </a:r>
            <a:endParaRPr lang="en-US" sz="750" dirty="0"/>
          </a:p>
          <a:p>
            <a:pPr marL="0" indent="0">
              <a:lnSpc>
                <a:spcPct val="115000"/>
              </a:lnSpc>
              <a:buNone/>
            </a:pPr>
            <a:r>
              <a:rPr lang="en-US" sz="750" dirty="0">
                <a:solidFill>
                  <a:srgbClr val="C3D1E0"/>
                </a:solidFill>
                <a:latin typeface="Helvetica Neue" pitchFamily="34" charset="0"/>
                <a:ea typeface="Helvetica Neue" pitchFamily="34" charset="-122"/>
                <a:cs typeface="Helvetica Neue" pitchFamily="34" charset="-120"/>
              </a:rPr>
              <a:t>delivery day</a:t>
            </a:r>
            <a:endParaRPr lang="en-US" sz="750" dirty="0"/>
          </a:p>
        </p:txBody>
      </p:sp>
      <p:sp>
        <p:nvSpPr>
          <p:cNvPr id="54" name="Shape 52"/>
          <p:cNvSpPr/>
          <p:nvPr/>
        </p:nvSpPr>
        <p:spPr>
          <a:xfrm>
            <a:off x="5262829" y="2962656"/>
            <a:ext cx="1383487" cy="10973"/>
          </a:xfrm>
          <a:prstGeom prst="rect">
            <a:avLst/>
          </a:prstGeom>
          <a:solidFill>
            <a:srgbClr val="46617F"/>
          </a:solidFill>
          <a:ln w="12700">
            <a:solidFill>
              <a:srgbClr val="46617F"/>
            </a:solidFill>
            <a:prstDash val="solid"/>
          </a:ln>
        </p:spPr>
        <p:txBody>
          <a:bodyPr/>
          <a:lstStyle/>
          <a:p>
            <a:endParaRPr lang="en-US"/>
          </a:p>
        </p:txBody>
      </p:sp>
      <p:sp>
        <p:nvSpPr>
          <p:cNvPr id="55" name="Shape 53"/>
          <p:cNvSpPr/>
          <p:nvPr/>
        </p:nvSpPr>
        <p:spPr>
          <a:xfrm>
            <a:off x="5262829" y="2816352"/>
            <a:ext cx="10973" cy="146304"/>
          </a:xfrm>
          <a:prstGeom prst="rect">
            <a:avLst/>
          </a:prstGeom>
          <a:solidFill>
            <a:srgbClr val="46617F"/>
          </a:solidFill>
          <a:ln w="12700">
            <a:solidFill>
              <a:srgbClr val="46617F"/>
            </a:solidFill>
            <a:prstDash val="solid"/>
          </a:ln>
        </p:spPr>
        <p:txBody>
          <a:bodyPr/>
          <a:lstStyle/>
          <a:p>
            <a:endParaRPr lang="en-US"/>
          </a:p>
        </p:txBody>
      </p:sp>
      <p:sp>
        <p:nvSpPr>
          <p:cNvPr id="56" name="Shape 54"/>
          <p:cNvSpPr/>
          <p:nvPr/>
        </p:nvSpPr>
        <p:spPr>
          <a:xfrm>
            <a:off x="6646316" y="2816352"/>
            <a:ext cx="10973" cy="146304"/>
          </a:xfrm>
          <a:prstGeom prst="rect">
            <a:avLst/>
          </a:prstGeom>
          <a:solidFill>
            <a:srgbClr val="46617F"/>
          </a:solidFill>
          <a:ln w="12700">
            <a:solidFill>
              <a:srgbClr val="46617F"/>
            </a:solidFill>
            <a:prstDash val="solid"/>
          </a:ln>
        </p:spPr>
        <p:txBody>
          <a:bodyPr/>
          <a:lstStyle/>
          <a:p>
            <a:endParaRPr lang="en-US"/>
          </a:p>
        </p:txBody>
      </p:sp>
      <p:sp>
        <p:nvSpPr>
          <p:cNvPr id="57" name="Text 55"/>
          <p:cNvSpPr txBox="1"/>
          <p:nvPr/>
        </p:nvSpPr>
        <p:spPr>
          <a:xfrm>
            <a:off x="5180533" y="2834640"/>
            <a:ext cx="182880" cy="201168"/>
          </a:xfrm>
          <a:prstGeom prst="rect">
            <a:avLst/>
          </a:prstGeom>
          <a:noFill/>
          <a:ln/>
        </p:spPr>
        <p:txBody>
          <a:bodyPr wrap="square" lIns="0" tIns="0" rIns="0" bIns="0" rtlCol="0" anchor="ctr"/>
          <a:lstStyle/>
          <a:p>
            <a:pPr marL="0" indent="0" algn="ctr">
              <a:buNone/>
            </a:pPr>
            <a:r>
              <a:rPr lang="en-US" sz="1300" dirty="0">
                <a:solidFill>
                  <a:srgbClr val="46617F"/>
                </a:solidFill>
                <a:latin typeface="Helvetica Neue" pitchFamily="34" charset="0"/>
                <a:ea typeface="Helvetica Neue" pitchFamily="34" charset="-122"/>
                <a:cs typeface="Helvetica Neue" pitchFamily="34" charset="-120"/>
              </a:rPr>
              <a:t>‹</a:t>
            </a:r>
            <a:endParaRPr lang="en-US" sz="1300" dirty="0"/>
          </a:p>
        </p:txBody>
      </p:sp>
      <p:sp>
        <p:nvSpPr>
          <p:cNvPr id="58" name="Text 56"/>
          <p:cNvSpPr txBox="1"/>
          <p:nvPr/>
        </p:nvSpPr>
        <p:spPr>
          <a:xfrm>
            <a:off x="4714189" y="3008376"/>
            <a:ext cx="2514600" cy="146304"/>
          </a:xfrm>
          <a:prstGeom prst="rect">
            <a:avLst/>
          </a:prstGeom>
          <a:noFill/>
          <a:ln/>
        </p:spPr>
        <p:txBody>
          <a:bodyPr wrap="square" lIns="0" tIns="0" rIns="0" bIns="0" rtlCol="0" anchor="ctr"/>
          <a:lstStyle/>
          <a:p>
            <a:pPr marL="0" indent="0" algn="ctr">
              <a:buNone/>
            </a:pPr>
            <a:r>
              <a:rPr lang="en-US" sz="700" i="1" dirty="0">
                <a:solidFill>
                  <a:srgbClr val="7C93B5"/>
                </a:solidFill>
                <a:latin typeface="Helvetica Neue" pitchFamily="34" charset="0"/>
                <a:ea typeface="Helvetica Neue" pitchFamily="34" charset="-122"/>
                <a:cs typeface="Helvetica Neue" pitchFamily="34" charset="-120"/>
              </a:rPr>
              <a:t>every change is re-checked instantly</a:t>
            </a:r>
            <a:endParaRPr lang="en-US" sz="700" dirty="0"/>
          </a:p>
        </p:txBody>
      </p:sp>
      <p:sp>
        <p:nvSpPr>
          <p:cNvPr id="59" name="Shape 57"/>
          <p:cNvSpPr/>
          <p:nvPr/>
        </p:nvSpPr>
        <p:spPr>
          <a:xfrm>
            <a:off x="502920" y="3200400"/>
            <a:ext cx="2688336" cy="896112"/>
          </a:xfrm>
          <a:prstGeom prst="roundRect">
            <a:avLst>
              <a:gd name="adj" fmla="val 3061"/>
            </a:avLst>
          </a:prstGeom>
          <a:solidFill>
            <a:srgbClr val="141F35"/>
          </a:solidFill>
          <a:ln w="9525">
            <a:solidFill>
              <a:srgbClr val="223250"/>
            </a:solidFill>
            <a:prstDash val="solid"/>
          </a:ln>
        </p:spPr>
        <p:txBody>
          <a:bodyPr/>
          <a:lstStyle/>
          <a:p>
            <a:endParaRPr lang="en-US"/>
          </a:p>
        </p:txBody>
      </p:sp>
      <p:sp>
        <p:nvSpPr>
          <p:cNvPr id="60" name="Text 58"/>
          <p:cNvSpPr txBox="1"/>
          <p:nvPr/>
        </p:nvSpPr>
        <p:spPr>
          <a:xfrm>
            <a:off x="685800" y="3346704"/>
            <a:ext cx="2322576" cy="201168"/>
          </a:xfrm>
          <a:prstGeom prst="rect">
            <a:avLst/>
          </a:prstGeom>
          <a:noFill/>
          <a:ln/>
        </p:spPr>
        <p:txBody>
          <a:bodyPr wrap="square" lIns="0" tIns="0" rIns="0" bIns="0" rtlCol="0" anchor="ctr"/>
          <a:lstStyle/>
          <a:p>
            <a:pPr marL="0" indent="0">
              <a:buNone/>
            </a:pPr>
            <a:r>
              <a:rPr lang="en-US" sz="1000" b="1" dirty="0">
                <a:solidFill>
                  <a:srgbClr val="10B981"/>
                </a:solidFill>
                <a:latin typeface="Helvetica Neue" pitchFamily="34" charset="0"/>
                <a:ea typeface="Helvetica Neue" pitchFamily="34" charset="-122"/>
                <a:cs typeface="Helvetica Neue" pitchFamily="34" charset="-120"/>
              </a:rPr>
              <a:t>The AI does two jobs</a:t>
            </a:r>
            <a:endParaRPr lang="en-US" sz="1000" dirty="0"/>
          </a:p>
        </p:txBody>
      </p:sp>
      <p:sp>
        <p:nvSpPr>
          <p:cNvPr id="61" name="Text 59"/>
          <p:cNvSpPr txBox="1"/>
          <p:nvPr/>
        </p:nvSpPr>
        <p:spPr>
          <a:xfrm>
            <a:off x="685800" y="3557016"/>
            <a:ext cx="2322576" cy="457200"/>
          </a:xfrm>
          <a:prstGeom prst="rect">
            <a:avLst/>
          </a:prstGeom>
          <a:noFill/>
          <a:ln/>
        </p:spPr>
        <p:txBody>
          <a:bodyPr wrap="square" lIns="0" tIns="0" rIns="0" bIns="0" rtlCol="0" anchor="ctr"/>
          <a:lstStyle/>
          <a:p>
            <a:pPr marL="0" indent="0">
              <a:lnSpc>
                <a:spcPct val="118000"/>
              </a:lnSpc>
              <a:buNone/>
            </a:pPr>
            <a:r>
              <a:rPr lang="en-US" sz="850" dirty="0">
                <a:solidFill>
                  <a:srgbClr val="C3D1E0"/>
                </a:solidFill>
                <a:latin typeface="Helvetica Neue" pitchFamily="34" charset="0"/>
                <a:ea typeface="Helvetica Neue" pitchFamily="34" charset="-122"/>
                <a:cs typeface="Helvetica Neue" pitchFamily="34" charset="-120"/>
              </a:rPr>
              <a:t>It works out what will sell, then ranks which shops need the stock most.</a:t>
            </a:r>
            <a:endParaRPr lang="en-US" sz="850" dirty="0"/>
          </a:p>
        </p:txBody>
      </p:sp>
      <p:sp>
        <p:nvSpPr>
          <p:cNvPr id="62" name="Shape 60"/>
          <p:cNvSpPr/>
          <p:nvPr/>
        </p:nvSpPr>
        <p:spPr>
          <a:xfrm>
            <a:off x="3227832" y="3200400"/>
            <a:ext cx="2688336" cy="896112"/>
          </a:xfrm>
          <a:prstGeom prst="roundRect">
            <a:avLst>
              <a:gd name="adj" fmla="val 3061"/>
            </a:avLst>
          </a:prstGeom>
          <a:solidFill>
            <a:srgbClr val="141F35"/>
          </a:solidFill>
          <a:ln w="9525">
            <a:solidFill>
              <a:srgbClr val="223250"/>
            </a:solidFill>
            <a:prstDash val="solid"/>
          </a:ln>
        </p:spPr>
        <p:txBody>
          <a:bodyPr/>
          <a:lstStyle/>
          <a:p>
            <a:endParaRPr lang="en-US"/>
          </a:p>
        </p:txBody>
      </p:sp>
      <p:sp>
        <p:nvSpPr>
          <p:cNvPr id="63" name="Text 61"/>
          <p:cNvSpPr txBox="1"/>
          <p:nvPr/>
        </p:nvSpPr>
        <p:spPr>
          <a:xfrm>
            <a:off x="3410712" y="3346704"/>
            <a:ext cx="2322576" cy="201168"/>
          </a:xfrm>
          <a:prstGeom prst="rect">
            <a:avLst/>
          </a:prstGeom>
          <a:noFill/>
          <a:ln/>
        </p:spPr>
        <p:txBody>
          <a:bodyPr wrap="square" lIns="0" tIns="0" rIns="0" bIns="0" rtlCol="0" anchor="ctr"/>
          <a:lstStyle/>
          <a:p>
            <a:pPr marL="0" indent="0">
              <a:buNone/>
            </a:pPr>
            <a:r>
              <a:rPr lang="en-US" sz="1000" b="1" dirty="0">
                <a:solidFill>
                  <a:srgbClr val="10B981"/>
                </a:solidFill>
                <a:latin typeface="Helvetica Neue" pitchFamily="34" charset="0"/>
                <a:ea typeface="Helvetica Neue" pitchFamily="34" charset="-122"/>
                <a:cs typeface="Helvetica Neue" pitchFamily="34" charset="-120"/>
              </a:rPr>
              <a:t>One answer, not a menu</a:t>
            </a:r>
            <a:endParaRPr lang="en-US" sz="1000" dirty="0"/>
          </a:p>
        </p:txBody>
      </p:sp>
      <p:sp>
        <p:nvSpPr>
          <p:cNvPr id="64" name="Text 62"/>
          <p:cNvSpPr txBox="1"/>
          <p:nvPr/>
        </p:nvSpPr>
        <p:spPr>
          <a:xfrm>
            <a:off x="3410712" y="3557016"/>
            <a:ext cx="2322576" cy="457200"/>
          </a:xfrm>
          <a:prstGeom prst="rect">
            <a:avLst/>
          </a:prstGeom>
          <a:noFill/>
          <a:ln/>
        </p:spPr>
        <p:txBody>
          <a:bodyPr wrap="square" lIns="0" tIns="0" rIns="0" bIns="0" rtlCol="0" anchor="ctr"/>
          <a:lstStyle/>
          <a:p>
            <a:pPr marL="0" indent="0">
              <a:lnSpc>
                <a:spcPct val="118000"/>
              </a:lnSpc>
              <a:buNone/>
            </a:pPr>
            <a:r>
              <a:rPr lang="en-US" sz="850" dirty="0">
                <a:solidFill>
                  <a:srgbClr val="C3D1E0"/>
                </a:solidFill>
                <a:latin typeface="Helvetica Neue" pitchFamily="34" charset="0"/>
                <a:ea typeface="Helvetica Neue" pitchFamily="34" charset="-122"/>
                <a:cs typeface="Helvetica Neue" pitchFamily="34" charset="-120"/>
              </a:rPr>
              <a:t>Your service target is set once by you — not re-chosen every Monday.</a:t>
            </a:r>
            <a:endParaRPr lang="en-US" sz="850" dirty="0"/>
          </a:p>
        </p:txBody>
      </p:sp>
      <p:sp>
        <p:nvSpPr>
          <p:cNvPr id="65" name="Shape 63"/>
          <p:cNvSpPr/>
          <p:nvPr/>
        </p:nvSpPr>
        <p:spPr>
          <a:xfrm>
            <a:off x="5952744" y="3200400"/>
            <a:ext cx="2688336" cy="896112"/>
          </a:xfrm>
          <a:prstGeom prst="roundRect">
            <a:avLst>
              <a:gd name="adj" fmla="val 3061"/>
            </a:avLst>
          </a:prstGeom>
          <a:solidFill>
            <a:srgbClr val="141F35"/>
          </a:solidFill>
          <a:ln w="9525">
            <a:solidFill>
              <a:srgbClr val="223250"/>
            </a:solidFill>
            <a:prstDash val="solid"/>
          </a:ln>
        </p:spPr>
        <p:txBody>
          <a:bodyPr/>
          <a:lstStyle/>
          <a:p>
            <a:endParaRPr lang="en-US"/>
          </a:p>
        </p:txBody>
      </p:sp>
      <p:sp>
        <p:nvSpPr>
          <p:cNvPr id="66" name="Text 64"/>
          <p:cNvSpPr txBox="1"/>
          <p:nvPr/>
        </p:nvSpPr>
        <p:spPr>
          <a:xfrm>
            <a:off x="6135624" y="3346704"/>
            <a:ext cx="2322576" cy="201168"/>
          </a:xfrm>
          <a:prstGeom prst="rect">
            <a:avLst/>
          </a:prstGeom>
          <a:noFill/>
          <a:ln/>
        </p:spPr>
        <p:txBody>
          <a:bodyPr wrap="square" lIns="0" tIns="0" rIns="0" bIns="0" rtlCol="0" anchor="ctr"/>
          <a:lstStyle/>
          <a:p>
            <a:pPr marL="0" indent="0">
              <a:buNone/>
            </a:pPr>
            <a:r>
              <a:rPr lang="en-US" sz="1000" b="1" dirty="0">
                <a:solidFill>
                  <a:srgbClr val="10B981"/>
                </a:solidFill>
                <a:latin typeface="Helvetica Neue" pitchFamily="34" charset="0"/>
                <a:ea typeface="Helvetica Neue" pitchFamily="34" charset="-122"/>
                <a:cs typeface="Helvetica Neue" pitchFamily="34" charset="-120"/>
              </a:rPr>
              <a:t>Your team always decides</a:t>
            </a:r>
            <a:endParaRPr lang="en-US" sz="1000" dirty="0"/>
          </a:p>
        </p:txBody>
      </p:sp>
      <p:sp>
        <p:nvSpPr>
          <p:cNvPr id="67" name="Text 65"/>
          <p:cNvSpPr txBox="1"/>
          <p:nvPr/>
        </p:nvSpPr>
        <p:spPr>
          <a:xfrm>
            <a:off x="6135624" y="3557016"/>
            <a:ext cx="2322576" cy="457200"/>
          </a:xfrm>
          <a:prstGeom prst="rect">
            <a:avLst/>
          </a:prstGeom>
          <a:noFill/>
          <a:ln/>
        </p:spPr>
        <p:txBody>
          <a:bodyPr wrap="square" lIns="0" tIns="0" rIns="0" bIns="0" rtlCol="0" anchor="ctr"/>
          <a:lstStyle/>
          <a:p>
            <a:pPr marL="0" indent="0">
              <a:lnSpc>
                <a:spcPct val="118000"/>
              </a:lnSpc>
              <a:buNone/>
            </a:pPr>
            <a:r>
              <a:rPr lang="en-US" sz="850" dirty="0">
                <a:solidFill>
                  <a:srgbClr val="C3D1E0"/>
                </a:solidFill>
                <a:latin typeface="Helvetica Neue" pitchFamily="34" charset="0"/>
                <a:ea typeface="Helvetica Neue" pitchFamily="34" charset="-122"/>
                <a:cs typeface="Helvetica Neue" pitchFamily="34" charset="-120"/>
              </a:rPr>
              <a:t>Adjust any line and watch the totals move before you approve it.</a:t>
            </a:r>
            <a:endParaRPr lang="en-US" sz="850" dirty="0"/>
          </a:p>
        </p:txBody>
      </p:sp>
      <p:sp>
        <p:nvSpPr>
          <p:cNvPr id="68" name="Text 66"/>
          <p:cNvSpPr txBox="1"/>
          <p:nvPr/>
        </p:nvSpPr>
        <p:spPr>
          <a:xfrm>
            <a:off x="502920" y="4224528"/>
            <a:ext cx="8138160" cy="274320"/>
          </a:xfrm>
          <a:prstGeom prst="rect">
            <a:avLst/>
          </a:prstGeom>
          <a:noFill/>
          <a:ln/>
        </p:spPr>
        <p:txBody>
          <a:bodyPr wrap="square" lIns="0" tIns="0" rIns="0" bIns="0" rtlCol="0" anchor="ctr"/>
          <a:lstStyle/>
          <a:p>
            <a:pPr marL="0" indent="0">
              <a:buNone/>
            </a:pPr>
            <a:r>
              <a:rPr lang="en-US" sz="1100" dirty="0">
                <a:solidFill>
                  <a:srgbClr val="C3D1E0"/>
                </a:solidFill>
                <a:latin typeface="Helvetica Neue" pitchFamily="34" charset="0"/>
                <a:ea typeface="Helvetica Neue" pitchFamily="34" charset="-122"/>
                <a:cs typeface="Helvetica Neue" pitchFamily="34" charset="-120"/>
              </a:rPr>
              <a:t>The AI predicts and prioritises. </a:t>
            </a:r>
            <a:r>
              <a:rPr lang="en-US" sz="1100" b="1" dirty="0">
                <a:solidFill>
                  <a:srgbClr val="10B981"/>
                </a:solidFill>
                <a:latin typeface="Helvetica Neue" pitchFamily="34" charset="0"/>
                <a:ea typeface="Helvetica Neue" pitchFamily="34" charset="-122"/>
                <a:cs typeface="Helvetica Neue" pitchFamily="34" charset="-120"/>
              </a:rPr>
              <a:t>Your team still decides — and can always see why.</a:t>
            </a:r>
            <a:endParaRPr lang="en-US" sz="1100" dirty="0"/>
          </a:p>
        </p:txBody>
      </p:sp>
      <p:sp>
        <p:nvSpPr>
          <p:cNvPr id="69" name="Text 67"/>
          <p:cNvSpPr txBox="1"/>
          <p:nvPr/>
        </p:nvSpPr>
        <p:spPr>
          <a:xfrm>
            <a:off x="502920" y="4791456"/>
            <a:ext cx="8138160" cy="182880"/>
          </a:xfrm>
          <a:prstGeom prst="rect">
            <a:avLst/>
          </a:prstGeom>
          <a:noFill/>
          <a:ln/>
        </p:spPr>
        <p:txBody>
          <a:bodyPr wrap="square" lIns="0" tIns="0" rIns="0" bIns="0" rtlCol="0" anchor="ctr"/>
          <a:lstStyle/>
          <a:p>
            <a:pPr marL="0" indent="0">
              <a:buNone/>
            </a:pPr>
            <a:r>
              <a:rPr lang="en-US" sz="650" dirty="0">
                <a:solidFill>
                  <a:srgbClr val="46586F"/>
                </a:solidFill>
                <a:latin typeface="Helvetica Neue" pitchFamily="34" charset="0"/>
                <a:ea typeface="Helvetica Neue" pitchFamily="34" charset="-122"/>
                <a:cs typeface="Helvetica Neue" pitchFamily="34" charset="-120"/>
              </a:rPr>
              <a:t>Concept design for this meeting  ·  Working version to be built next  ·  The priority model needs a few months of history before it beats a simple rule</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5943600" cy="155448"/>
          </a:xfrm>
          <a:prstGeom prst="rect">
            <a:avLst/>
          </a:prstGeom>
          <a:noFill/>
        </p:spPr>
        <p:txBody>
          <a:bodyPr wrap="square" lIns="0" tIns="0" rIns="0" bIns="0" anchor="t">
            <a:spAutoFit/>
          </a:bodyPr>
          <a:lstStyle/>
          <a:p>
            <a:pPr algn="l"/>
            <a:r>
              <a:rPr sz="850" b="1" i="0" spc="200">
                <a:solidFill>
                  <a:srgbClr val="047857"/>
                </a:solidFill>
                <a:latin typeface="Helvetica Neue"/>
              </a:rPr>
              <a:t>BUILT AND RUNNING  ·  08</a:t>
            </a:r>
          </a:p>
        </p:txBody>
      </p:sp>
      <p:sp>
        <p:nvSpPr>
          <p:cNvPr id="4" name="TextBox 3"/>
          <p:cNvSpPr txBox="1"/>
          <p:nvPr/>
        </p:nvSpPr>
        <p:spPr>
          <a:xfrm>
            <a:off x="502920" y="475488"/>
            <a:ext cx="8138160" cy="530352"/>
          </a:xfrm>
          <a:prstGeom prst="rect">
            <a:avLst/>
          </a:prstGeom>
          <a:noFill/>
        </p:spPr>
        <p:txBody>
          <a:bodyPr wrap="square" lIns="0" tIns="0" rIns="0" bIns="0" anchor="t">
            <a:spAutoFit/>
          </a:bodyPr>
          <a:lstStyle/>
          <a:p>
            <a:pPr algn="l"/>
            <a:r>
              <a:rPr sz="2200" b="1" i="0">
                <a:solidFill>
                  <a:srgbClr val="0A1221"/>
                </a:solidFill>
                <a:latin typeface="Helvetica Neue"/>
              </a:rPr>
              <a:t>This is not a sketch. It runs today.</a:t>
            </a:r>
          </a:p>
        </p:txBody>
      </p:sp>
      <p:sp>
        <p:nvSpPr>
          <p:cNvPr id="5" name="Rounded Rectangle 4"/>
          <p:cNvSpPr/>
          <p:nvPr/>
        </p:nvSpPr>
        <p:spPr>
          <a:xfrm>
            <a:off x="502920" y="1051560"/>
            <a:ext cx="4160520" cy="3154680"/>
          </a:xfrm>
          <a:prstGeom prst="roundRect">
            <a:avLst>
              <a:gd name="adj" fmla="val 4000"/>
            </a:avLst>
          </a:prstGeom>
          <a:solidFill>
            <a:srgbClr val="F4F7FA"/>
          </a:solidFill>
          <a:ln w="9525">
            <a:solidFill>
              <a:srgbClr val="DF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8" y="1307592"/>
            <a:ext cx="3575304" cy="155448"/>
          </a:xfrm>
          <a:prstGeom prst="rect">
            <a:avLst/>
          </a:prstGeom>
          <a:noFill/>
        </p:spPr>
        <p:txBody>
          <a:bodyPr wrap="square" lIns="0" tIns="0" rIns="0" bIns="0" anchor="t">
            <a:spAutoFit/>
          </a:bodyPr>
          <a:lstStyle/>
          <a:p>
            <a:pPr algn="l"/>
            <a:r>
              <a:rPr sz="800" b="1" i="0" spc="120">
                <a:solidFill>
                  <a:srgbClr val="8A9AAD"/>
                </a:solidFill>
                <a:latin typeface="Helvetica Neue"/>
              </a:rPr>
              <a:t>ONE PLAN, 57,114 SHOP-PRODUCT LINES</a:t>
            </a:r>
          </a:p>
        </p:txBody>
      </p:sp>
      <p:sp>
        <p:nvSpPr>
          <p:cNvPr id="7" name="TextBox 6"/>
          <p:cNvSpPr txBox="1"/>
          <p:nvPr/>
        </p:nvSpPr>
        <p:spPr>
          <a:xfrm>
            <a:off x="795528" y="1536192"/>
            <a:ext cx="2423160" cy="155448"/>
          </a:xfrm>
          <a:prstGeom prst="rect">
            <a:avLst/>
          </a:prstGeom>
          <a:noFill/>
        </p:spPr>
        <p:txBody>
          <a:bodyPr wrap="square" lIns="0" tIns="0" rIns="0" bIns="0" anchor="t">
            <a:spAutoFit/>
          </a:bodyPr>
          <a:lstStyle/>
          <a:p>
            <a:pPr algn="l"/>
            <a:r>
              <a:rPr sz="800" b="1" i="0" spc="90">
                <a:solidFill>
                  <a:srgbClr val="8A9AAD"/>
                </a:solidFill>
                <a:latin typeface="Helvetica Neue"/>
              </a:rPr>
              <a:t>Sales at risk over 14 days</a:t>
            </a:r>
          </a:p>
        </p:txBody>
      </p:sp>
      <p:sp>
        <p:nvSpPr>
          <p:cNvPr id="8" name="TextBox 7"/>
          <p:cNvSpPr txBox="1"/>
          <p:nvPr/>
        </p:nvSpPr>
        <p:spPr>
          <a:xfrm>
            <a:off x="795528" y="1719072"/>
            <a:ext cx="2423160" cy="274320"/>
          </a:xfrm>
          <a:prstGeom prst="rect">
            <a:avLst/>
          </a:prstGeom>
          <a:noFill/>
        </p:spPr>
        <p:txBody>
          <a:bodyPr wrap="square" lIns="0" tIns="0" rIns="0" bIns="0" anchor="t">
            <a:spAutoFit/>
          </a:bodyPr>
          <a:lstStyle/>
          <a:p>
            <a:pPr algn="l"/>
            <a:r>
              <a:rPr sz="1200" b="0" i="0">
                <a:solidFill>
                  <a:srgbClr val="8A9AAD"/>
                </a:solidFill>
                <a:latin typeface="Helvetica Neue"/>
              </a:rPr>
              <a:t>€1.61m</a:t>
            </a:r>
            <a:r>
              <a:rPr sz="900" b="0" i="0">
                <a:solidFill>
                  <a:srgbClr val="8A9AAD"/>
                </a:solidFill>
                <a:latin typeface="Helvetica Neue"/>
              </a:rPr>
              <a:t>   →   </a:t>
            </a:r>
            <a:r>
              <a:rPr sz="1400" b="1" i="0">
                <a:solidFill>
                  <a:srgbClr val="047857"/>
                </a:solidFill>
                <a:latin typeface="Helvetica Neue"/>
              </a:rPr>
              <a:t>€799k</a:t>
            </a:r>
          </a:p>
        </p:txBody>
      </p:sp>
      <p:sp>
        <p:nvSpPr>
          <p:cNvPr id="9" name="Rounded Rectangle 8"/>
          <p:cNvSpPr/>
          <p:nvPr/>
        </p:nvSpPr>
        <p:spPr>
          <a:xfrm>
            <a:off x="3401568" y="1700784"/>
            <a:ext cx="841248" cy="219456"/>
          </a:xfrm>
          <a:prstGeom prst="roundRect">
            <a:avLst>
              <a:gd name="adj" fmla="val 50000"/>
            </a:avLst>
          </a:prstGeom>
          <a:solidFill>
            <a:srgbClr val="E2EFE9"/>
          </a:solidFill>
          <a:ln w="63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01568" y="1723643"/>
            <a:ext cx="841248" cy="219456"/>
          </a:xfrm>
          <a:prstGeom prst="rect">
            <a:avLst/>
          </a:prstGeom>
          <a:noFill/>
        </p:spPr>
        <p:txBody>
          <a:bodyPr wrap="square" lIns="0" tIns="0" rIns="0" bIns="0" anchor="t">
            <a:spAutoFit/>
          </a:bodyPr>
          <a:lstStyle/>
          <a:p>
            <a:pPr algn="ctr"/>
            <a:r>
              <a:rPr sz="800" b="1" i="0" spc="50">
                <a:solidFill>
                  <a:srgbClr val="047857"/>
                </a:solidFill>
                <a:latin typeface="Helvetica Neue"/>
              </a:rPr>
              <a:t>−50%</a:t>
            </a:r>
          </a:p>
        </p:txBody>
      </p:sp>
      <p:sp>
        <p:nvSpPr>
          <p:cNvPr id="11" name="TextBox 10"/>
          <p:cNvSpPr txBox="1"/>
          <p:nvPr/>
        </p:nvSpPr>
        <p:spPr>
          <a:xfrm>
            <a:off x="795528" y="2157984"/>
            <a:ext cx="2423160" cy="155448"/>
          </a:xfrm>
          <a:prstGeom prst="rect">
            <a:avLst/>
          </a:prstGeom>
          <a:noFill/>
        </p:spPr>
        <p:txBody>
          <a:bodyPr wrap="square" lIns="0" tIns="0" rIns="0" bIns="0" anchor="t">
            <a:spAutoFit/>
          </a:bodyPr>
          <a:lstStyle/>
          <a:p>
            <a:pPr algn="l"/>
            <a:r>
              <a:rPr sz="800" b="1" i="0" spc="90">
                <a:solidFill>
                  <a:srgbClr val="8A9AAD"/>
                </a:solidFill>
                <a:latin typeface="Helvetica Neue"/>
              </a:rPr>
              <a:t>Shelves likely to run empty</a:t>
            </a:r>
          </a:p>
        </p:txBody>
      </p:sp>
      <p:sp>
        <p:nvSpPr>
          <p:cNvPr id="12" name="TextBox 11"/>
          <p:cNvSpPr txBox="1"/>
          <p:nvPr/>
        </p:nvSpPr>
        <p:spPr>
          <a:xfrm>
            <a:off x="795528" y="2340864"/>
            <a:ext cx="2423160" cy="274320"/>
          </a:xfrm>
          <a:prstGeom prst="rect">
            <a:avLst/>
          </a:prstGeom>
          <a:noFill/>
        </p:spPr>
        <p:txBody>
          <a:bodyPr wrap="square" lIns="0" tIns="0" rIns="0" bIns="0" anchor="t">
            <a:spAutoFit/>
          </a:bodyPr>
          <a:lstStyle/>
          <a:p>
            <a:pPr algn="l"/>
            <a:r>
              <a:rPr sz="1200" b="0" i="0">
                <a:solidFill>
                  <a:srgbClr val="8A9AAD"/>
                </a:solidFill>
                <a:latin typeface="Helvetica Neue"/>
              </a:rPr>
              <a:t>17.7%</a:t>
            </a:r>
            <a:r>
              <a:rPr sz="900" b="0" i="0">
                <a:solidFill>
                  <a:srgbClr val="8A9AAD"/>
                </a:solidFill>
                <a:latin typeface="Helvetica Neue"/>
              </a:rPr>
              <a:t>   →   </a:t>
            </a:r>
            <a:r>
              <a:rPr sz="1400" b="1" i="0">
                <a:solidFill>
                  <a:srgbClr val="047857"/>
                </a:solidFill>
                <a:latin typeface="Helvetica Neue"/>
              </a:rPr>
              <a:t>8.7%</a:t>
            </a:r>
          </a:p>
        </p:txBody>
      </p:sp>
      <p:sp>
        <p:nvSpPr>
          <p:cNvPr id="13" name="Rounded Rectangle 12"/>
          <p:cNvSpPr/>
          <p:nvPr/>
        </p:nvSpPr>
        <p:spPr>
          <a:xfrm>
            <a:off x="3401568" y="2322576"/>
            <a:ext cx="841248" cy="219456"/>
          </a:xfrm>
          <a:prstGeom prst="roundRect">
            <a:avLst>
              <a:gd name="adj" fmla="val 50000"/>
            </a:avLst>
          </a:prstGeom>
          <a:solidFill>
            <a:srgbClr val="E2EFE9"/>
          </a:solidFill>
          <a:ln w="63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01568" y="2345436"/>
            <a:ext cx="841248" cy="219456"/>
          </a:xfrm>
          <a:prstGeom prst="rect">
            <a:avLst/>
          </a:prstGeom>
          <a:noFill/>
        </p:spPr>
        <p:txBody>
          <a:bodyPr wrap="square" lIns="0" tIns="0" rIns="0" bIns="0" anchor="t">
            <a:spAutoFit/>
          </a:bodyPr>
          <a:lstStyle/>
          <a:p>
            <a:pPr algn="ctr"/>
            <a:r>
              <a:rPr sz="800" b="1" i="0" spc="50">
                <a:solidFill>
                  <a:srgbClr val="047857"/>
                </a:solidFill>
                <a:latin typeface="Helvetica Neue"/>
              </a:rPr>
              <a:t>−9.0 pts</a:t>
            </a:r>
          </a:p>
        </p:txBody>
      </p:sp>
      <p:sp>
        <p:nvSpPr>
          <p:cNvPr id="15" name="TextBox 14"/>
          <p:cNvSpPr txBox="1"/>
          <p:nvPr/>
        </p:nvSpPr>
        <p:spPr>
          <a:xfrm>
            <a:off x="795528" y="2779776"/>
            <a:ext cx="2423160" cy="155448"/>
          </a:xfrm>
          <a:prstGeom prst="rect">
            <a:avLst/>
          </a:prstGeom>
          <a:noFill/>
        </p:spPr>
        <p:txBody>
          <a:bodyPr wrap="square" lIns="0" tIns="0" rIns="0" bIns="0" anchor="t">
            <a:spAutoFit/>
          </a:bodyPr>
          <a:lstStyle/>
          <a:p>
            <a:pPr algn="l"/>
            <a:r>
              <a:rPr sz="800" b="1" i="0" spc="90">
                <a:solidFill>
                  <a:srgbClr val="8A9AAD"/>
                </a:solidFill>
                <a:latin typeface="Helvetica Neue"/>
              </a:rPr>
              <a:t>Stock working in shops</a:t>
            </a:r>
          </a:p>
        </p:txBody>
      </p:sp>
      <p:sp>
        <p:nvSpPr>
          <p:cNvPr id="16" name="TextBox 15"/>
          <p:cNvSpPr txBox="1"/>
          <p:nvPr/>
        </p:nvSpPr>
        <p:spPr>
          <a:xfrm>
            <a:off x="795528" y="2962656"/>
            <a:ext cx="2423160" cy="274320"/>
          </a:xfrm>
          <a:prstGeom prst="rect">
            <a:avLst/>
          </a:prstGeom>
          <a:noFill/>
        </p:spPr>
        <p:txBody>
          <a:bodyPr wrap="square" lIns="0" tIns="0" rIns="0" bIns="0" anchor="t">
            <a:spAutoFit/>
          </a:bodyPr>
          <a:lstStyle/>
          <a:p>
            <a:pPr algn="l"/>
            <a:r>
              <a:rPr sz="1200" b="0" i="0">
                <a:solidFill>
                  <a:srgbClr val="8A9AAD"/>
                </a:solidFill>
                <a:latin typeface="Helvetica Neue"/>
              </a:rPr>
              <a:t>€16.79m</a:t>
            </a:r>
            <a:r>
              <a:rPr sz="900" b="0" i="0">
                <a:solidFill>
                  <a:srgbClr val="8A9AAD"/>
                </a:solidFill>
                <a:latin typeface="Helvetica Neue"/>
              </a:rPr>
              <a:t>   →   </a:t>
            </a:r>
            <a:r>
              <a:rPr sz="1400" b="1" i="0">
                <a:solidFill>
                  <a:srgbClr val="047857"/>
                </a:solidFill>
                <a:latin typeface="Helvetica Neue"/>
              </a:rPr>
              <a:t>€17.66m</a:t>
            </a:r>
          </a:p>
        </p:txBody>
      </p:sp>
      <p:sp>
        <p:nvSpPr>
          <p:cNvPr id="17" name="Rounded Rectangle 16"/>
          <p:cNvSpPr/>
          <p:nvPr/>
        </p:nvSpPr>
        <p:spPr>
          <a:xfrm>
            <a:off x="3401568" y="2944368"/>
            <a:ext cx="841248" cy="219456"/>
          </a:xfrm>
          <a:prstGeom prst="roundRect">
            <a:avLst>
              <a:gd name="adj" fmla="val 50000"/>
            </a:avLst>
          </a:prstGeom>
          <a:solidFill>
            <a:srgbClr val="E2EFE9"/>
          </a:solidFill>
          <a:ln w="63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01568" y="2967228"/>
            <a:ext cx="841248" cy="219456"/>
          </a:xfrm>
          <a:prstGeom prst="rect">
            <a:avLst/>
          </a:prstGeom>
          <a:noFill/>
        </p:spPr>
        <p:txBody>
          <a:bodyPr wrap="square" lIns="0" tIns="0" rIns="0" bIns="0" anchor="t">
            <a:spAutoFit/>
          </a:bodyPr>
          <a:lstStyle/>
          <a:p>
            <a:pPr algn="ctr"/>
            <a:r>
              <a:rPr sz="800" b="1" i="0" spc="50">
                <a:solidFill>
                  <a:srgbClr val="047857"/>
                </a:solidFill>
                <a:latin typeface="Helvetica Neue"/>
              </a:rPr>
              <a:t>+€0.87m</a:t>
            </a:r>
          </a:p>
        </p:txBody>
      </p:sp>
      <p:sp>
        <p:nvSpPr>
          <p:cNvPr id="19" name="TextBox 18"/>
          <p:cNvSpPr txBox="1"/>
          <p:nvPr/>
        </p:nvSpPr>
        <p:spPr>
          <a:xfrm>
            <a:off x="795528" y="3401568"/>
            <a:ext cx="2423160" cy="155448"/>
          </a:xfrm>
          <a:prstGeom prst="rect">
            <a:avLst/>
          </a:prstGeom>
          <a:noFill/>
        </p:spPr>
        <p:txBody>
          <a:bodyPr wrap="square" lIns="0" tIns="0" rIns="0" bIns="0" anchor="t">
            <a:spAutoFit/>
          </a:bodyPr>
          <a:lstStyle/>
          <a:p>
            <a:pPr algn="l"/>
            <a:r>
              <a:rPr sz="800" b="1" i="0" spc="90">
                <a:solidFill>
                  <a:srgbClr val="8A9AAD"/>
                </a:solidFill>
                <a:latin typeface="Helvetica Neue"/>
              </a:rPr>
              <a:t>Warehouse stock drawn down</a:t>
            </a:r>
          </a:p>
        </p:txBody>
      </p:sp>
      <p:sp>
        <p:nvSpPr>
          <p:cNvPr id="20" name="TextBox 19"/>
          <p:cNvSpPr txBox="1"/>
          <p:nvPr/>
        </p:nvSpPr>
        <p:spPr>
          <a:xfrm>
            <a:off x="795528" y="3584448"/>
            <a:ext cx="2423160" cy="274320"/>
          </a:xfrm>
          <a:prstGeom prst="rect">
            <a:avLst/>
          </a:prstGeom>
          <a:noFill/>
        </p:spPr>
        <p:txBody>
          <a:bodyPr wrap="square" lIns="0" tIns="0" rIns="0" bIns="0" anchor="t">
            <a:spAutoFit/>
          </a:bodyPr>
          <a:lstStyle/>
          <a:p>
            <a:pPr algn="l"/>
            <a:r>
              <a:rPr sz="1200" b="0" i="0">
                <a:solidFill>
                  <a:srgbClr val="8A9AAD"/>
                </a:solidFill>
                <a:latin typeface="Helvetica Neue"/>
              </a:rPr>
              <a:t>433,498</a:t>
            </a:r>
            <a:r>
              <a:rPr sz="900" b="0" i="0">
                <a:solidFill>
                  <a:srgbClr val="8A9AAD"/>
                </a:solidFill>
                <a:latin typeface="Helvetica Neue"/>
              </a:rPr>
              <a:t>   →   </a:t>
            </a:r>
            <a:r>
              <a:rPr sz="1400" b="1" i="0">
                <a:solidFill>
                  <a:srgbClr val="047857"/>
                </a:solidFill>
                <a:latin typeface="Helvetica Neue"/>
              </a:rPr>
              <a:t>400,086</a:t>
            </a:r>
          </a:p>
        </p:txBody>
      </p:sp>
      <p:sp>
        <p:nvSpPr>
          <p:cNvPr id="21" name="Rounded Rectangle 20"/>
          <p:cNvSpPr/>
          <p:nvPr/>
        </p:nvSpPr>
        <p:spPr>
          <a:xfrm>
            <a:off x="3401568" y="3566160"/>
            <a:ext cx="841248" cy="219456"/>
          </a:xfrm>
          <a:prstGeom prst="roundRect">
            <a:avLst>
              <a:gd name="adj" fmla="val 50000"/>
            </a:avLst>
          </a:prstGeom>
          <a:solidFill>
            <a:srgbClr val="E2EFE9"/>
          </a:solidFill>
          <a:ln w="63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401568" y="3589020"/>
            <a:ext cx="841248" cy="219456"/>
          </a:xfrm>
          <a:prstGeom prst="rect">
            <a:avLst/>
          </a:prstGeom>
          <a:noFill/>
        </p:spPr>
        <p:txBody>
          <a:bodyPr wrap="square" lIns="0" tIns="0" rIns="0" bIns="0" anchor="t">
            <a:spAutoFit/>
          </a:bodyPr>
          <a:lstStyle/>
          <a:p>
            <a:pPr algn="ctr"/>
            <a:r>
              <a:rPr sz="800" b="1" i="0" spc="50">
                <a:solidFill>
                  <a:srgbClr val="047857"/>
                </a:solidFill>
                <a:latin typeface="Helvetica Neue"/>
              </a:rPr>
              <a:t>−33,412</a:t>
            </a:r>
          </a:p>
        </p:txBody>
      </p:sp>
      <p:sp>
        <p:nvSpPr>
          <p:cNvPr id="23" name="Rounded Rectangle 22"/>
          <p:cNvSpPr/>
          <p:nvPr/>
        </p:nvSpPr>
        <p:spPr>
          <a:xfrm>
            <a:off x="4892040" y="1051560"/>
            <a:ext cx="3749039" cy="3154680"/>
          </a:xfrm>
          <a:prstGeom prst="roundRect">
            <a:avLst>
              <a:gd name="adj" fmla="val 4000"/>
            </a:avLst>
          </a:prstGeom>
          <a:solidFill>
            <a:srgbClr val="F4F7FA"/>
          </a:solidFill>
          <a:ln w="9525">
            <a:solidFill>
              <a:srgbClr val="DF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29784" y="1307592"/>
            <a:ext cx="3273552" cy="155448"/>
          </a:xfrm>
          <a:prstGeom prst="rect">
            <a:avLst/>
          </a:prstGeom>
          <a:noFill/>
        </p:spPr>
        <p:txBody>
          <a:bodyPr wrap="square" lIns="0" tIns="0" rIns="0" bIns="0" anchor="t">
            <a:spAutoFit/>
          </a:bodyPr>
          <a:lstStyle/>
          <a:p>
            <a:pPr algn="l"/>
            <a:r>
              <a:rPr sz="800" b="1" i="0" spc="120">
                <a:solidFill>
                  <a:srgbClr val="8A9AAD"/>
                </a:solidFill>
                <a:latin typeface="Helvetica Neue"/>
              </a:rPr>
              <a:t>WHAT THE PLAN ACTUALLY DID</a:t>
            </a:r>
          </a:p>
        </p:txBody>
      </p:sp>
      <p:sp>
        <p:nvSpPr>
          <p:cNvPr id="25" name="Oval 24"/>
          <p:cNvSpPr/>
          <p:nvPr/>
        </p:nvSpPr>
        <p:spPr>
          <a:xfrm>
            <a:off x="5148072" y="1604772"/>
            <a:ext cx="82296" cy="82296"/>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340096" y="1554480"/>
            <a:ext cx="3108960" cy="182880"/>
          </a:xfrm>
          <a:prstGeom prst="rect">
            <a:avLst/>
          </a:prstGeom>
          <a:noFill/>
        </p:spPr>
        <p:txBody>
          <a:bodyPr wrap="square" lIns="0" tIns="0" rIns="0" bIns="0" anchor="t">
            <a:spAutoFit/>
          </a:bodyPr>
          <a:lstStyle/>
          <a:p>
            <a:pPr algn="l"/>
            <a:r>
              <a:rPr sz="1050" b="1" i="0">
                <a:solidFill>
                  <a:srgbClr val="0A1221"/>
                </a:solidFill>
                <a:latin typeface="Helvetica Neue"/>
              </a:rPr>
              <a:t>33,412 units</a:t>
            </a:r>
          </a:p>
        </p:txBody>
      </p:sp>
      <p:sp>
        <p:nvSpPr>
          <p:cNvPr id="27" name="TextBox 26"/>
          <p:cNvSpPr txBox="1"/>
          <p:nvPr/>
        </p:nvSpPr>
        <p:spPr>
          <a:xfrm>
            <a:off x="5340096" y="1737360"/>
            <a:ext cx="3108960" cy="201168"/>
          </a:xfrm>
          <a:prstGeom prst="rect">
            <a:avLst/>
          </a:prstGeom>
          <a:noFill/>
        </p:spPr>
        <p:txBody>
          <a:bodyPr wrap="square" lIns="0" tIns="0" rIns="0" bIns="0" anchor="t">
            <a:spAutoFit/>
          </a:bodyPr>
          <a:lstStyle/>
          <a:p>
            <a:pPr algn="l"/>
            <a:r>
              <a:rPr sz="850" b="0" i="0">
                <a:solidFill>
                  <a:srgbClr val="47576B"/>
                </a:solidFill>
                <a:latin typeface="Helvetica Neue"/>
              </a:rPr>
              <a:t>proposed for shipment from the warehouse</a:t>
            </a:r>
          </a:p>
        </p:txBody>
      </p:sp>
      <p:sp>
        <p:nvSpPr>
          <p:cNvPr id="28" name="Oval 27"/>
          <p:cNvSpPr/>
          <p:nvPr/>
        </p:nvSpPr>
        <p:spPr>
          <a:xfrm>
            <a:off x="5148072" y="2116836"/>
            <a:ext cx="82296" cy="82296"/>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340096" y="2066543"/>
            <a:ext cx="3108960" cy="182880"/>
          </a:xfrm>
          <a:prstGeom prst="rect">
            <a:avLst/>
          </a:prstGeom>
          <a:noFill/>
        </p:spPr>
        <p:txBody>
          <a:bodyPr wrap="square" lIns="0" tIns="0" rIns="0" bIns="0" anchor="t">
            <a:spAutoFit/>
          </a:bodyPr>
          <a:lstStyle/>
          <a:p>
            <a:pPr algn="l"/>
            <a:r>
              <a:rPr sz="1050" b="1" i="0">
                <a:solidFill>
                  <a:srgbClr val="0A1221"/>
                </a:solidFill>
                <a:latin typeface="Helvetica Neue"/>
              </a:rPr>
              <a:t>6,299 lines</a:t>
            </a:r>
          </a:p>
        </p:txBody>
      </p:sp>
      <p:sp>
        <p:nvSpPr>
          <p:cNvPr id="30" name="TextBox 29"/>
          <p:cNvSpPr txBox="1"/>
          <p:nvPr/>
        </p:nvSpPr>
        <p:spPr>
          <a:xfrm>
            <a:off x="5340096" y="2249424"/>
            <a:ext cx="3108960" cy="201168"/>
          </a:xfrm>
          <a:prstGeom prst="rect">
            <a:avLst/>
          </a:prstGeom>
          <a:noFill/>
        </p:spPr>
        <p:txBody>
          <a:bodyPr wrap="square" lIns="0" tIns="0" rIns="0" bIns="0" anchor="t">
            <a:spAutoFit/>
          </a:bodyPr>
          <a:lstStyle/>
          <a:p>
            <a:pPr algn="l"/>
            <a:r>
              <a:rPr sz="850" b="0" i="0">
                <a:solidFill>
                  <a:srgbClr val="47576B"/>
                </a:solidFill>
                <a:latin typeface="Helvetica Neue"/>
              </a:rPr>
              <a:t>improved against their current position</a:t>
            </a:r>
          </a:p>
        </p:txBody>
      </p:sp>
      <p:sp>
        <p:nvSpPr>
          <p:cNvPr id="31" name="Oval 30"/>
          <p:cNvSpPr/>
          <p:nvPr/>
        </p:nvSpPr>
        <p:spPr>
          <a:xfrm>
            <a:off x="5148072" y="2628900"/>
            <a:ext cx="82296" cy="82296"/>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340096" y="2578608"/>
            <a:ext cx="3108960" cy="182880"/>
          </a:xfrm>
          <a:prstGeom prst="rect">
            <a:avLst/>
          </a:prstGeom>
          <a:noFill/>
        </p:spPr>
        <p:txBody>
          <a:bodyPr wrap="square" lIns="0" tIns="0" rIns="0" bIns="0" anchor="t">
            <a:spAutoFit/>
          </a:bodyPr>
          <a:lstStyle/>
          <a:p>
            <a:pPr algn="l"/>
            <a:r>
              <a:rPr sz="1050" b="1" i="0">
                <a:solidFill>
                  <a:srgbClr val="0A1221"/>
                </a:solidFill>
                <a:latin typeface="Helvetica Neue"/>
              </a:rPr>
              <a:t>€814k / €456k</a:t>
            </a:r>
          </a:p>
        </p:txBody>
      </p:sp>
      <p:sp>
        <p:nvSpPr>
          <p:cNvPr id="33" name="TextBox 32"/>
          <p:cNvSpPr txBox="1"/>
          <p:nvPr/>
        </p:nvSpPr>
        <p:spPr>
          <a:xfrm>
            <a:off x="5340096" y="2761488"/>
            <a:ext cx="3108960" cy="201168"/>
          </a:xfrm>
          <a:prstGeom prst="rect">
            <a:avLst/>
          </a:prstGeom>
          <a:noFill/>
        </p:spPr>
        <p:txBody>
          <a:bodyPr wrap="square" lIns="0" tIns="0" rIns="0" bIns="0" anchor="t">
            <a:spAutoFit/>
          </a:bodyPr>
          <a:lstStyle/>
          <a:p>
            <a:pPr algn="l"/>
            <a:r>
              <a:rPr sz="850" b="0" i="0">
                <a:solidFill>
                  <a:srgbClr val="47576B"/>
                </a:solidFill>
                <a:latin typeface="Helvetica Neue"/>
              </a:rPr>
              <a:t>projected recovered sales and margin</a:t>
            </a:r>
          </a:p>
        </p:txBody>
      </p:sp>
      <p:sp>
        <p:nvSpPr>
          <p:cNvPr id="34" name="Oval 33"/>
          <p:cNvSpPr/>
          <p:nvPr/>
        </p:nvSpPr>
        <p:spPr>
          <a:xfrm>
            <a:off x="5148072" y="3140964"/>
            <a:ext cx="82296" cy="82296"/>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340096" y="3090672"/>
            <a:ext cx="3108960" cy="182880"/>
          </a:xfrm>
          <a:prstGeom prst="rect">
            <a:avLst/>
          </a:prstGeom>
          <a:noFill/>
        </p:spPr>
        <p:txBody>
          <a:bodyPr wrap="square" lIns="0" tIns="0" rIns="0" bIns="0" anchor="t">
            <a:spAutoFit/>
          </a:bodyPr>
          <a:lstStyle/>
          <a:p>
            <a:pPr algn="l"/>
            <a:r>
              <a:rPr sz="1050" b="1" i="0">
                <a:solidFill>
                  <a:srgbClr val="0A1221"/>
                </a:solidFill>
                <a:latin typeface="Helvetica Neue"/>
              </a:rPr>
              <a:t>3,102 of 4,832</a:t>
            </a:r>
          </a:p>
        </p:txBody>
      </p:sp>
      <p:sp>
        <p:nvSpPr>
          <p:cNvPr id="36" name="TextBox 35"/>
          <p:cNvSpPr txBox="1"/>
          <p:nvPr/>
        </p:nvSpPr>
        <p:spPr>
          <a:xfrm>
            <a:off x="5340096" y="3273552"/>
            <a:ext cx="3108960" cy="201168"/>
          </a:xfrm>
          <a:prstGeom prst="rect">
            <a:avLst/>
          </a:prstGeom>
          <a:noFill/>
        </p:spPr>
        <p:txBody>
          <a:bodyPr wrap="square" lIns="0" tIns="0" rIns="0" bIns="0" anchor="t">
            <a:spAutoFit/>
          </a:bodyPr>
          <a:lstStyle/>
          <a:p>
            <a:pPr algn="l"/>
            <a:r>
              <a:rPr sz="850" b="0" i="0">
                <a:solidFill>
                  <a:srgbClr val="47576B"/>
                </a:solidFill>
                <a:latin typeface="Helvetica Neue"/>
              </a:rPr>
              <a:t>high-risk lines received stock</a:t>
            </a:r>
          </a:p>
        </p:txBody>
      </p:sp>
      <p:sp>
        <p:nvSpPr>
          <p:cNvPr id="37" name="Oval 36"/>
          <p:cNvSpPr/>
          <p:nvPr/>
        </p:nvSpPr>
        <p:spPr>
          <a:xfrm>
            <a:off x="5148072" y="3653028"/>
            <a:ext cx="82296" cy="82296"/>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340096" y="3602736"/>
            <a:ext cx="3108960" cy="182880"/>
          </a:xfrm>
          <a:prstGeom prst="rect">
            <a:avLst/>
          </a:prstGeom>
          <a:noFill/>
        </p:spPr>
        <p:txBody>
          <a:bodyPr wrap="square" lIns="0" tIns="0" rIns="0" bIns="0" anchor="t">
            <a:spAutoFit/>
          </a:bodyPr>
          <a:lstStyle/>
          <a:p>
            <a:pPr algn="l"/>
            <a:r>
              <a:rPr sz="1050" b="1" i="0">
                <a:solidFill>
                  <a:srgbClr val="0A1221"/>
                </a:solidFill>
                <a:latin typeface="Helvetica Neue"/>
              </a:rPr>
              <a:t>1,730 lines</a:t>
            </a:r>
          </a:p>
        </p:txBody>
      </p:sp>
      <p:sp>
        <p:nvSpPr>
          <p:cNvPr id="39" name="TextBox 38"/>
          <p:cNvSpPr txBox="1"/>
          <p:nvPr/>
        </p:nvSpPr>
        <p:spPr>
          <a:xfrm>
            <a:off x="5340096" y="3785616"/>
            <a:ext cx="3108960" cy="201168"/>
          </a:xfrm>
          <a:prstGeom prst="rect">
            <a:avLst/>
          </a:prstGeom>
          <a:noFill/>
        </p:spPr>
        <p:txBody>
          <a:bodyPr wrap="square" lIns="0" tIns="0" rIns="0" bIns="0" anchor="t">
            <a:spAutoFit/>
          </a:bodyPr>
          <a:lstStyle/>
          <a:p>
            <a:pPr algn="l"/>
            <a:r>
              <a:rPr sz="850" b="0" i="0">
                <a:solidFill>
                  <a:srgbClr val="47576B"/>
                </a:solidFill>
                <a:latin typeface="Helvetica Neue"/>
              </a:rPr>
              <a:t>got zero — every one with a written reason</a:t>
            </a:r>
          </a:p>
        </p:txBody>
      </p:sp>
      <p:sp>
        <p:nvSpPr>
          <p:cNvPr id="40" name="TextBox 39"/>
          <p:cNvSpPr txBox="1"/>
          <p:nvPr/>
        </p:nvSpPr>
        <p:spPr>
          <a:xfrm>
            <a:off x="502920" y="4370832"/>
            <a:ext cx="8138160" cy="274320"/>
          </a:xfrm>
          <a:prstGeom prst="rect">
            <a:avLst/>
          </a:prstGeom>
          <a:noFill/>
        </p:spPr>
        <p:txBody>
          <a:bodyPr wrap="square" lIns="0" tIns="0" rIns="0" bIns="0" anchor="t">
            <a:spAutoFit/>
          </a:bodyPr>
          <a:lstStyle/>
          <a:p>
            <a:pPr algn="l"/>
            <a:r>
              <a:rPr sz="1100" b="0" i="0">
                <a:solidFill>
                  <a:srgbClr val="47576B"/>
                </a:solidFill>
                <a:latin typeface="Helvetica Neue"/>
              </a:rPr>
              <a:t>Stock did not get cheaper. </a:t>
            </a:r>
            <a:r>
              <a:rPr sz="1100" b="1" i="0">
                <a:solidFill>
                  <a:srgbClr val="047857"/>
                </a:solidFill>
                <a:latin typeface="Helvetica Neue"/>
              </a:rPr>
              <a:t>The same units moved onto shelves that actually sell them.</a:t>
            </a:r>
          </a:p>
        </p:txBody>
      </p:sp>
      <p:sp>
        <p:nvSpPr>
          <p:cNvPr id="41" name="TextBox 40"/>
          <p:cNvSpPr txBox="1"/>
          <p:nvPr/>
        </p:nvSpPr>
        <p:spPr>
          <a:xfrm>
            <a:off x="502920" y="4791456"/>
            <a:ext cx="8138160" cy="182880"/>
          </a:xfrm>
          <a:prstGeom prst="rect">
            <a:avLst/>
          </a:prstGeom>
          <a:noFill/>
        </p:spPr>
        <p:txBody>
          <a:bodyPr wrap="square" lIns="0" tIns="0" rIns="0" bIns="0" anchor="t">
            <a:spAutoFit/>
          </a:bodyPr>
          <a:lstStyle/>
          <a:p>
            <a:pPr algn="l"/>
            <a:r>
              <a:rPr sz="650" b="0" i="0">
                <a:solidFill>
                  <a:srgbClr val="8A9AAD"/>
                </a:solidFill>
                <a:latin typeface="Helvetica Neue"/>
              </a:rPr>
              <a:t>Reproducible run on the corrected sportswear package, default settings, no manual edits  ·  Simulated outcomes against the supplied forecast, not realised sales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A12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5943600" cy="155448"/>
          </a:xfrm>
          <a:prstGeom prst="rect">
            <a:avLst/>
          </a:prstGeom>
          <a:noFill/>
        </p:spPr>
        <p:txBody>
          <a:bodyPr wrap="square" lIns="0" tIns="0" rIns="0" bIns="0" anchor="t">
            <a:spAutoFit/>
          </a:bodyPr>
          <a:lstStyle/>
          <a:p>
            <a:pPr algn="l"/>
            <a:r>
              <a:rPr sz="850" b="1" i="0" spc="200">
                <a:solidFill>
                  <a:srgbClr val="10B981"/>
                </a:solidFill>
                <a:latin typeface="Helvetica Neue"/>
              </a:rPr>
              <a:t>THE ROADMAP  ·  09</a:t>
            </a:r>
          </a:p>
        </p:txBody>
      </p:sp>
      <p:sp>
        <p:nvSpPr>
          <p:cNvPr id="4" name="TextBox 3"/>
          <p:cNvSpPr txBox="1"/>
          <p:nvPr/>
        </p:nvSpPr>
        <p:spPr>
          <a:xfrm>
            <a:off x="502920" y="475488"/>
            <a:ext cx="8138160" cy="530352"/>
          </a:xfrm>
          <a:prstGeom prst="rect">
            <a:avLst/>
          </a:prstGeom>
          <a:noFill/>
        </p:spPr>
        <p:txBody>
          <a:bodyPr wrap="square" lIns="0" tIns="0" rIns="0" bIns="0" anchor="t">
            <a:spAutoFit/>
          </a:bodyPr>
          <a:lstStyle/>
          <a:p>
            <a:pPr algn="l"/>
            <a:r>
              <a:rPr sz="2200" b="1" i="0">
                <a:solidFill>
                  <a:srgbClr val="FFFFFF"/>
                </a:solidFill>
                <a:latin typeface="Helvetica Neue"/>
              </a:rPr>
              <a:t>Three things turn this into an AI platform</a:t>
            </a:r>
          </a:p>
        </p:txBody>
      </p:sp>
      <p:sp>
        <p:nvSpPr>
          <p:cNvPr id="5" name="Rounded Rectangle 4"/>
          <p:cNvSpPr/>
          <p:nvPr/>
        </p:nvSpPr>
        <p:spPr>
          <a:xfrm>
            <a:off x="502920" y="1097280"/>
            <a:ext cx="2615184" cy="3017520"/>
          </a:xfrm>
          <a:prstGeom prst="roundRect">
            <a:avLst>
              <a:gd name="adj" fmla="val 3000"/>
            </a:avLst>
          </a:prstGeom>
          <a:solidFill>
            <a:srgbClr val="16223C"/>
          </a:solidFill>
          <a:ln w="9525">
            <a:solidFill>
              <a:srgbClr val="2232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22376" y="1316736"/>
            <a:ext cx="457200" cy="182880"/>
          </a:xfrm>
          <a:prstGeom prst="rect">
            <a:avLst/>
          </a:prstGeom>
          <a:noFill/>
        </p:spPr>
        <p:txBody>
          <a:bodyPr wrap="square" lIns="0" tIns="0" rIns="0" bIns="0" anchor="t">
            <a:spAutoFit/>
          </a:bodyPr>
          <a:lstStyle/>
          <a:p>
            <a:pPr algn="l"/>
            <a:r>
              <a:rPr sz="1300" b="1" i="0">
                <a:solidFill>
                  <a:srgbClr val="17614E"/>
                </a:solidFill>
                <a:latin typeface="Helvetica Neue"/>
              </a:rPr>
              <a:t>01</a:t>
            </a:r>
          </a:p>
        </p:txBody>
      </p:sp>
      <p:sp>
        <p:nvSpPr>
          <p:cNvPr id="7" name="TextBox 6"/>
          <p:cNvSpPr txBox="1"/>
          <p:nvPr/>
        </p:nvSpPr>
        <p:spPr>
          <a:xfrm>
            <a:off x="722376" y="1572768"/>
            <a:ext cx="2176272" cy="155448"/>
          </a:xfrm>
          <a:prstGeom prst="rect">
            <a:avLst/>
          </a:prstGeom>
          <a:noFill/>
        </p:spPr>
        <p:txBody>
          <a:bodyPr wrap="square" lIns="0" tIns="0" rIns="0" bIns="0" anchor="t">
            <a:spAutoFit/>
          </a:bodyPr>
          <a:lstStyle/>
          <a:p>
            <a:pPr algn="l"/>
            <a:r>
              <a:rPr sz="750" b="1" i="0" spc="110">
                <a:solidFill>
                  <a:srgbClr val="10B981"/>
                </a:solidFill>
                <a:latin typeface="Helvetica Neue"/>
              </a:rPr>
              <a:t>AI DEMAND FORECAST</a:t>
            </a:r>
          </a:p>
        </p:txBody>
      </p:sp>
      <p:sp>
        <p:nvSpPr>
          <p:cNvPr id="8" name="TextBox 7"/>
          <p:cNvSpPr txBox="1"/>
          <p:nvPr/>
        </p:nvSpPr>
        <p:spPr>
          <a:xfrm>
            <a:off x="722376" y="1773936"/>
            <a:ext cx="2176272" cy="475488"/>
          </a:xfrm>
          <a:prstGeom prst="rect">
            <a:avLst/>
          </a:prstGeom>
          <a:noFill/>
        </p:spPr>
        <p:txBody>
          <a:bodyPr wrap="square" lIns="0" tIns="0" rIns="0" bIns="0" anchor="t">
            <a:spAutoFit/>
          </a:bodyPr>
          <a:lstStyle/>
          <a:p>
            <a:pPr algn="l">
              <a:lnSpc>
                <a:spcPts val="1400"/>
              </a:lnSpc>
            </a:pPr>
            <a:r>
              <a:rPr sz="1150" b="1" i="0">
                <a:solidFill>
                  <a:srgbClr val="FFFFFF"/>
                </a:solidFill>
                <a:latin typeface="Helvetica Neue"/>
              </a:rPr>
              <a:t>Learns what each shop
sells, week by week</a:t>
            </a:r>
          </a:p>
        </p:txBody>
      </p:sp>
      <p:sp>
        <p:nvSpPr>
          <p:cNvPr id="9" name="TextBox 8"/>
          <p:cNvSpPr txBox="1"/>
          <p:nvPr/>
        </p:nvSpPr>
        <p:spPr>
          <a:xfrm>
            <a:off x="722376" y="2340864"/>
            <a:ext cx="2176272" cy="731520"/>
          </a:xfrm>
          <a:prstGeom prst="rect">
            <a:avLst/>
          </a:prstGeom>
          <a:noFill/>
        </p:spPr>
        <p:txBody>
          <a:bodyPr wrap="square" lIns="0" tIns="0" rIns="0" bIns="0" anchor="t">
            <a:spAutoFit/>
          </a:bodyPr>
          <a:lstStyle/>
          <a:p>
            <a:pPr algn="l">
              <a:lnSpc>
                <a:spcPts val="1150"/>
              </a:lnSpc>
            </a:pPr>
            <a:r>
              <a:rPr sz="850" b="0" i="0">
                <a:solidFill>
                  <a:srgbClr val="C3D1E0"/>
                </a:solidFill>
                <a:latin typeface="Helvetica Neue"/>
              </a:rPr>
              <a:t>Today the plan trusts a supplied forecast. A trained model replaces it and carries its own confidence score.</a:t>
            </a:r>
          </a:p>
        </p:txBody>
      </p:sp>
      <p:sp>
        <p:nvSpPr>
          <p:cNvPr id="10" name="Rounded Rectangle 9"/>
          <p:cNvSpPr/>
          <p:nvPr/>
        </p:nvSpPr>
        <p:spPr>
          <a:xfrm>
            <a:off x="667512" y="3163824"/>
            <a:ext cx="2286000" cy="713232"/>
          </a:xfrm>
          <a:prstGeom prst="roundRect">
            <a:avLst>
              <a:gd name="adj" fmla="val 5000"/>
            </a:avLst>
          </a:prstGeom>
          <a:solidFill>
            <a:srgbClr val="11241E"/>
          </a:solidFill>
          <a:ln w="9525">
            <a:solidFill>
              <a:srgbClr val="176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3816" y="3273552"/>
            <a:ext cx="1993391" cy="182880"/>
          </a:xfrm>
          <a:prstGeom prst="rect">
            <a:avLst/>
          </a:prstGeom>
          <a:noFill/>
        </p:spPr>
        <p:txBody>
          <a:bodyPr wrap="square" lIns="0" tIns="0" rIns="0" bIns="0" anchor="t">
            <a:spAutoFit/>
          </a:bodyPr>
          <a:lstStyle/>
          <a:p>
            <a:pPr algn="l"/>
            <a:r>
              <a:rPr sz="650" b="1" i="0" spc="110">
                <a:solidFill>
                  <a:srgbClr val="10B981"/>
                </a:solidFill>
                <a:latin typeface="Helvetica Neue"/>
              </a:rPr>
              <a:t>WHAT YOU GET</a:t>
            </a:r>
          </a:p>
        </p:txBody>
      </p:sp>
      <p:sp>
        <p:nvSpPr>
          <p:cNvPr id="12" name="TextBox 11"/>
          <p:cNvSpPr txBox="1"/>
          <p:nvPr/>
        </p:nvSpPr>
        <p:spPr>
          <a:xfrm>
            <a:off x="813816" y="3438144"/>
            <a:ext cx="1993391" cy="384048"/>
          </a:xfrm>
          <a:prstGeom prst="rect">
            <a:avLst/>
          </a:prstGeom>
          <a:noFill/>
        </p:spPr>
        <p:txBody>
          <a:bodyPr wrap="square" lIns="0" tIns="0" rIns="0" bIns="0" anchor="t">
            <a:spAutoFit/>
          </a:bodyPr>
          <a:lstStyle/>
          <a:p>
            <a:pPr algn="l">
              <a:lnSpc>
                <a:spcPts val="1100"/>
              </a:lnSpc>
            </a:pPr>
            <a:r>
              <a:rPr sz="850" b="0" i="0">
                <a:solidFill>
                  <a:srgbClr val="FFFFFF"/>
                </a:solidFill>
                <a:latin typeface="Helvetica Neue"/>
              </a:rPr>
              <a:t>Fewer surprises. Stock arrives before the shelf empties, not after.</a:t>
            </a:r>
          </a:p>
        </p:txBody>
      </p:sp>
      <p:sp>
        <p:nvSpPr>
          <p:cNvPr id="13" name="Rounded Rectangle 12"/>
          <p:cNvSpPr/>
          <p:nvPr/>
        </p:nvSpPr>
        <p:spPr>
          <a:xfrm>
            <a:off x="3319272" y="1097280"/>
            <a:ext cx="2615184" cy="3017520"/>
          </a:xfrm>
          <a:prstGeom prst="roundRect">
            <a:avLst>
              <a:gd name="adj" fmla="val 3000"/>
            </a:avLst>
          </a:prstGeom>
          <a:solidFill>
            <a:srgbClr val="16223C"/>
          </a:solidFill>
          <a:ln w="9525">
            <a:solidFill>
              <a:srgbClr val="2232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38728" y="1316736"/>
            <a:ext cx="457200" cy="182880"/>
          </a:xfrm>
          <a:prstGeom prst="rect">
            <a:avLst/>
          </a:prstGeom>
          <a:noFill/>
        </p:spPr>
        <p:txBody>
          <a:bodyPr wrap="square" lIns="0" tIns="0" rIns="0" bIns="0" anchor="t">
            <a:spAutoFit/>
          </a:bodyPr>
          <a:lstStyle/>
          <a:p>
            <a:pPr algn="l"/>
            <a:r>
              <a:rPr sz="1300" b="1" i="0">
                <a:solidFill>
                  <a:srgbClr val="17614E"/>
                </a:solidFill>
                <a:latin typeface="Helvetica Neue"/>
              </a:rPr>
              <a:t>02</a:t>
            </a:r>
          </a:p>
        </p:txBody>
      </p:sp>
      <p:sp>
        <p:nvSpPr>
          <p:cNvPr id="15" name="TextBox 14"/>
          <p:cNvSpPr txBox="1"/>
          <p:nvPr/>
        </p:nvSpPr>
        <p:spPr>
          <a:xfrm>
            <a:off x="3538728" y="1572768"/>
            <a:ext cx="2176272" cy="155448"/>
          </a:xfrm>
          <a:prstGeom prst="rect">
            <a:avLst/>
          </a:prstGeom>
          <a:noFill/>
        </p:spPr>
        <p:txBody>
          <a:bodyPr wrap="square" lIns="0" tIns="0" rIns="0" bIns="0" anchor="t">
            <a:spAutoFit/>
          </a:bodyPr>
          <a:lstStyle/>
          <a:p>
            <a:pPr algn="l"/>
            <a:r>
              <a:rPr sz="750" b="1" i="0" spc="110">
                <a:solidFill>
                  <a:srgbClr val="10B981"/>
                </a:solidFill>
                <a:latin typeface="Helvetica Neue"/>
              </a:rPr>
              <a:t>AI PRIORITY RANKING</a:t>
            </a:r>
          </a:p>
        </p:txBody>
      </p:sp>
      <p:sp>
        <p:nvSpPr>
          <p:cNvPr id="16" name="TextBox 15"/>
          <p:cNvSpPr txBox="1"/>
          <p:nvPr/>
        </p:nvSpPr>
        <p:spPr>
          <a:xfrm>
            <a:off x="3538728" y="1773936"/>
            <a:ext cx="2176272" cy="475488"/>
          </a:xfrm>
          <a:prstGeom prst="rect">
            <a:avLst/>
          </a:prstGeom>
          <a:noFill/>
        </p:spPr>
        <p:txBody>
          <a:bodyPr wrap="square" lIns="0" tIns="0" rIns="0" bIns="0" anchor="t">
            <a:spAutoFit/>
          </a:bodyPr>
          <a:lstStyle/>
          <a:p>
            <a:pPr algn="l">
              <a:lnSpc>
                <a:spcPts val="1400"/>
              </a:lnSpc>
            </a:pPr>
            <a:r>
              <a:rPr sz="1150" b="1" i="0">
                <a:solidFill>
                  <a:srgbClr val="FFFFFF"/>
                </a:solidFill>
                <a:latin typeface="Helvetica Neue"/>
              </a:rPr>
              <a:t>Learns which shop earns
most from the next unit</a:t>
            </a:r>
          </a:p>
        </p:txBody>
      </p:sp>
      <p:sp>
        <p:nvSpPr>
          <p:cNvPr id="17" name="TextBox 16"/>
          <p:cNvSpPr txBox="1"/>
          <p:nvPr/>
        </p:nvSpPr>
        <p:spPr>
          <a:xfrm>
            <a:off x="3538728" y="2340864"/>
            <a:ext cx="2176272" cy="731520"/>
          </a:xfrm>
          <a:prstGeom prst="rect">
            <a:avLst/>
          </a:prstGeom>
          <a:noFill/>
        </p:spPr>
        <p:txBody>
          <a:bodyPr wrap="square" lIns="0" tIns="0" rIns="0" bIns="0" anchor="t">
            <a:spAutoFit/>
          </a:bodyPr>
          <a:lstStyle/>
          <a:p>
            <a:pPr algn="l">
              <a:lnSpc>
                <a:spcPts val="1150"/>
              </a:lnSpc>
            </a:pPr>
            <a:r>
              <a:rPr sz="850" b="0" i="0">
                <a:solidFill>
                  <a:srgbClr val="C3D1E0"/>
                </a:solidFill>
                <a:latin typeface="Helvetica Neue"/>
              </a:rPr>
              <a:t>Today a fixed 50/50 margin-and-service rule ranks the queue. A model learns it from what actually sold.</a:t>
            </a:r>
          </a:p>
        </p:txBody>
      </p:sp>
      <p:sp>
        <p:nvSpPr>
          <p:cNvPr id="18" name="Rounded Rectangle 17"/>
          <p:cNvSpPr/>
          <p:nvPr/>
        </p:nvSpPr>
        <p:spPr>
          <a:xfrm>
            <a:off x="3483864" y="3163824"/>
            <a:ext cx="2286000" cy="713232"/>
          </a:xfrm>
          <a:prstGeom prst="roundRect">
            <a:avLst>
              <a:gd name="adj" fmla="val 5000"/>
            </a:avLst>
          </a:prstGeom>
          <a:solidFill>
            <a:srgbClr val="11241E"/>
          </a:solidFill>
          <a:ln w="9525">
            <a:solidFill>
              <a:srgbClr val="176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30168" y="3273552"/>
            <a:ext cx="1993391" cy="182880"/>
          </a:xfrm>
          <a:prstGeom prst="rect">
            <a:avLst/>
          </a:prstGeom>
          <a:noFill/>
        </p:spPr>
        <p:txBody>
          <a:bodyPr wrap="square" lIns="0" tIns="0" rIns="0" bIns="0" anchor="t">
            <a:spAutoFit/>
          </a:bodyPr>
          <a:lstStyle/>
          <a:p>
            <a:pPr algn="l"/>
            <a:r>
              <a:rPr sz="650" b="1" i="0" spc="110">
                <a:solidFill>
                  <a:srgbClr val="10B981"/>
                </a:solidFill>
                <a:latin typeface="Helvetica Neue"/>
              </a:rPr>
              <a:t>WHAT YOU GET</a:t>
            </a:r>
          </a:p>
        </p:txBody>
      </p:sp>
      <p:sp>
        <p:nvSpPr>
          <p:cNvPr id="20" name="TextBox 19"/>
          <p:cNvSpPr txBox="1"/>
          <p:nvPr/>
        </p:nvSpPr>
        <p:spPr>
          <a:xfrm>
            <a:off x="3630168" y="3438144"/>
            <a:ext cx="1993391" cy="384048"/>
          </a:xfrm>
          <a:prstGeom prst="rect">
            <a:avLst/>
          </a:prstGeom>
          <a:noFill/>
        </p:spPr>
        <p:txBody>
          <a:bodyPr wrap="square" lIns="0" tIns="0" rIns="0" bIns="0" anchor="t">
            <a:spAutoFit/>
          </a:bodyPr>
          <a:lstStyle/>
          <a:p>
            <a:pPr algn="l">
              <a:lnSpc>
                <a:spcPts val="1100"/>
              </a:lnSpc>
            </a:pPr>
            <a:r>
              <a:rPr sz="850" b="0" i="0">
                <a:solidFill>
                  <a:srgbClr val="FFFFFF"/>
                </a:solidFill>
                <a:latin typeface="Helvetica Neue"/>
              </a:rPr>
              <a:t>Scarce warehouse stock lands where it converts, not where the rule guessed.</a:t>
            </a:r>
          </a:p>
        </p:txBody>
      </p:sp>
      <p:sp>
        <p:nvSpPr>
          <p:cNvPr id="21" name="Rounded Rectangle 20"/>
          <p:cNvSpPr/>
          <p:nvPr/>
        </p:nvSpPr>
        <p:spPr>
          <a:xfrm>
            <a:off x="6135624" y="1097280"/>
            <a:ext cx="2615184" cy="3017520"/>
          </a:xfrm>
          <a:prstGeom prst="roundRect">
            <a:avLst>
              <a:gd name="adj" fmla="val 3000"/>
            </a:avLst>
          </a:prstGeom>
          <a:solidFill>
            <a:srgbClr val="16223C"/>
          </a:solidFill>
          <a:ln w="9525">
            <a:solidFill>
              <a:srgbClr val="2232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5080" y="1316736"/>
            <a:ext cx="457200" cy="182880"/>
          </a:xfrm>
          <a:prstGeom prst="rect">
            <a:avLst/>
          </a:prstGeom>
          <a:noFill/>
        </p:spPr>
        <p:txBody>
          <a:bodyPr wrap="square" lIns="0" tIns="0" rIns="0" bIns="0" anchor="t">
            <a:spAutoFit/>
          </a:bodyPr>
          <a:lstStyle/>
          <a:p>
            <a:pPr algn="l"/>
            <a:r>
              <a:rPr sz="1300" b="1" i="0">
                <a:solidFill>
                  <a:srgbClr val="17614E"/>
                </a:solidFill>
                <a:latin typeface="Helvetica Neue"/>
              </a:rPr>
              <a:t>03</a:t>
            </a:r>
          </a:p>
        </p:txBody>
      </p:sp>
      <p:sp>
        <p:nvSpPr>
          <p:cNvPr id="23" name="TextBox 22"/>
          <p:cNvSpPr txBox="1"/>
          <p:nvPr/>
        </p:nvSpPr>
        <p:spPr>
          <a:xfrm>
            <a:off x="6355080" y="1572768"/>
            <a:ext cx="2176272" cy="155448"/>
          </a:xfrm>
          <a:prstGeom prst="rect">
            <a:avLst/>
          </a:prstGeom>
          <a:noFill/>
        </p:spPr>
        <p:txBody>
          <a:bodyPr wrap="square" lIns="0" tIns="0" rIns="0" bIns="0" anchor="t">
            <a:spAutoFit/>
          </a:bodyPr>
          <a:lstStyle/>
          <a:p>
            <a:pPr algn="l"/>
            <a:r>
              <a:rPr sz="750" b="1" i="0" spc="110">
                <a:solidFill>
                  <a:srgbClr val="10B981"/>
                </a:solidFill>
                <a:latin typeface="Helvetica Neue"/>
              </a:rPr>
              <a:t>AUTOMATED ORCHESTRATION</a:t>
            </a:r>
          </a:p>
        </p:txBody>
      </p:sp>
      <p:sp>
        <p:nvSpPr>
          <p:cNvPr id="24" name="TextBox 23"/>
          <p:cNvSpPr txBox="1"/>
          <p:nvPr/>
        </p:nvSpPr>
        <p:spPr>
          <a:xfrm>
            <a:off x="6355080" y="1773936"/>
            <a:ext cx="2176272" cy="475488"/>
          </a:xfrm>
          <a:prstGeom prst="rect">
            <a:avLst/>
          </a:prstGeom>
          <a:noFill/>
        </p:spPr>
        <p:txBody>
          <a:bodyPr wrap="square" lIns="0" tIns="0" rIns="0" bIns="0" anchor="t">
            <a:spAutoFit/>
          </a:bodyPr>
          <a:lstStyle/>
          <a:p>
            <a:pPr algn="l">
              <a:lnSpc>
                <a:spcPts val="1400"/>
              </a:lnSpc>
            </a:pPr>
            <a:r>
              <a:rPr sz="1150" b="1" i="0">
                <a:solidFill>
                  <a:srgbClr val="FFFFFF"/>
                </a:solidFill>
                <a:latin typeface="Helvetica Neue"/>
              </a:rPr>
              <a:t>Runs the cycle nightly
and watches itself</a:t>
            </a:r>
          </a:p>
        </p:txBody>
      </p:sp>
      <p:sp>
        <p:nvSpPr>
          <p:cNvPr id="25" name="TextBox 24"/>
          <p:cNvSpPr txBox="1"/>
          <p:nvPr/>
        </p:nvSpPr>
        <p:spPr>
          <a:xfrm>
            <a:off x="6355080" y="2340864"/>
            <a:ext cx="2176272" cy="731520"/>
          </a:xfrm>
          <a:prstGeom prst="rect">
            <a:avLst/>
          </a:prstGeom>
          <a:noFill/>
        </p:spPr>
        <p:txBody>
          <a:bodyPr wrap="square" lIns="0" tIns="0" rIns="0" bIns="0" anchor="t">
            <a:spAutoFit/>
          </a:bodyPr>
          <a:lstStyle/>
          <a:p>
            <a:pPr algn="l">
              <a:lnSpc>
                <a:spcPts val="1150"/>
              </a:lnSpc>
            </a:pPr>
            <a:r>
              <a:rPr sz="850" b="0" i="0">
                <a:solidFill>
                  <a:srgbClr val="C3D1E0"/>
                </a:solidFill>
                <a:latin typeface="Helvetica Neue"/>
              </a:rPr>
              <a:t>Today a person starts every run. Scheduled jobs refresh data, produce the plan, alert the planner and monitor accuracy.</a:t>
            </a:r>
          </a:p>
        </p:txBody>
      </p:sp>
      <p:sp>
        <p:nvSpPr>
          <p:cNvPr id="26" name="Rounded Rectangle 25"/>
          <p:cNvSpPr/>
          <p:nvPr/>
        </p:nvSpPr>
        <p:spPr>
          <a:xfrm>
            <a:off x="6300216" y="3163824"/>
            <a:ext cx="2286000" cy="713232"/>
          </a:xfrm>
          <a:prstGeom prst="roundRect">
            <a:avLst>
              <a:gd name="adj" fmla="val 5000"/>
            </a:avLst>
          </a:prstGeom>
          <a:solidFill>
            <a:srgbClr val="11241E"/>
          </a:solidFill>
          <a:ln w="9525">
            <a:solidFill>
              <a:srgbClr val="176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46520" y="3273552"/>
            <a:ext cx="1993391" cy="182880"/>
          </a:xfrm>
          <a:prstGeom prst="rect">
            <a:avLst/>
          </a:prstGeom>
          <a:noFill/>
        </p:spPr>
        <p:txBody>
          <a:bodyPr wrap="square" lIns="0" tIns="0" rIns="0" bIns="0" anchor="t">
            <a:spAutoFit/>
          </a:bodyPr>
          <a:lstStyle/>
          <a:p>
            <a:pPr algn="l"/>
            <a:r>
              <a:rPr sz="650" b="1" i="0" spc="110">
                <a:solidFill>
                  <a:srgbClr val="10B981"/>
                </a:solidFill>
                <a:latin typeface="Helvetica Neue"/>
              </a:rPr>
              <a:t>WHAT YOU GET</a:t>
            </a:r>
          </a:p>
        </p:txBody>
      </p:sp>
      <p:sp>
        <p:nvSpPr>
          <p:cNvPr id="28" name="TextBox 27"/>
          <p:cNvSpPr txBox="1"/>
          <p:nvPr/>
        </p:nvSpPr>
        <p:spPr>
          <a:xfrm>
            <a:off x="6446520" y="3438144"/>
            <a:ext cx="1993391" cy="384048"/>
          </a:xfrm>
          <a:prstGeom prst="rect">
            <a:avLst/>
          </a:prstGeom>
          <a:noFill/>
        </p:spPr>
        <p:txBody>
          <a:bodyPr wrap="square" lIns="0" tIns="0" rIns="0" bIns="0" anchor="t">
            <a:spAutoFit/>
          </a:bodyPr>
          <a:lstStyle/>
          <a:p>
            <a:pPr algn="l">
              <a:lnSpc>
                <a:spcPts val="1100"/>
              </a:lnSpc>
            </a:pPr>
            <a:r>
              <a:rPr sz="850" b="0" i="0">
                <a:solidFill>
                  <a:srgbClr val="FFFFFF"/>
                </a:solidFill>
                <a:latin typeface="Helvetica Neue"/>
              </a:rPr>
              <a:t>The planner reviews exceptions instead of starting the machine.</a:t>
            </a:r>
          </a:p>
        </p:txBody>
      </p:sp>
      <p:sp>
        <p:nvSpPr>
          <p:cNvPr id="29" name="TextBox 28"/>
          <p:cNvSpPr txBox="1"/>
          <p:nvPr/>
        </p:nvSpPr>
        <p:spPr>
          <a:xfrm>
            <a:off x="502920" y="4279392"/>
            <a:ext cx="8138160" cy="274320"/>
          </a:xfrm>
          <a:prstGeom prst="rect">
            <a:avLst/>
          </a:prstGeom>
          <a:noFill/>
        </p:spPr>
        <p:txBody>
          <a:bodyPr wrap="square" lIns="0" tIns="0" rIns="0" bIns="0" anchor="t">
            <a:spAutoFit/>
          </a:bodyPr>
          <a:lstStyle/>
          <a:p>
            <a:pPr algn="l"/>
            <a:r>
              <a:rPr sz="1100" b="0" i="0">
                <a:solidFill>
                  <a:srgbClr val="C3D1E0"/>
                </a:solidFill>
                <a:latin typeface="Helvetica Neue"/>
              </a:rPr>
              <a:t>The screen the planner uses does not change. </a:t>
            </a:r>
            <a:r>
              <a:rPr sz="1100" b="1" i="0">
                <a:solidFill>
                  <a:srgbClr val="10B981"/>
                </a:solidFill>
                <a:latin typeface="Helvetica Neue"/>
              </a:rPr>
              <a:t>What changes is how good the numbers behind it get.</a:t>
            </a:r>
          </a:p>
        </p:txBody>
      </p:sp>
      <p:sp>
        <p:nvSpPr>
          <p:cNvPr id="30" name="TextBox 29"/>
          <p:cNvSpPr txBox="1"/>
          <p:nvPr/>
        </p:nvSpPr>
        <p:spPr>
          <a:xfrm>
            <a:off x="502920" y="4791456"/>
            <a:ext cx="8138160" cy="182880"/>
          </a:xfrm>
          <a:prstGeom prst="rect">
            <a:avLst/>
          </a:prstGeom>
          <a:noFill/>
        </p:spPr>
        <p:txBody>
          <a:bodyPr wrap="square" lIns="0" tIns="0" rIns="0" bIns="0" anchor="t">
            <a:spAutoFit/>
          </a:bodyPr>
          <a:lstStyle/>
          <a:p>
            <a:pPr algn="l"/>
            <a:r>
              <a:rPr sz="650" b="0" i="0">
                <a:solidFill>
                  <a:srgbClr val="46586F"/>
                </a:solidFill>
                <a:latin typeface="Helvetica Neue"/>
              </a:rPr>
              <a:t>Each step ships only after it beats what it replaces on held-out data — see the test plan on slide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5943600" cy="155448"/>
          </a:xfrm>
          <a:prstGeom prst="rect">
            <a:avLst/>
          </a:prstGeom>
          <a:noFill/>
        </p:spPr>
        <p:txBody>
          <a:bodyPr wrap="square" lIns="0" tIns="0" rIns="0" bIns="0" anchor="t">
            <a:spAutoFit/>
          </a:bodyPr>
          <a:lstStyle/>
          <a:p>
            <a:pPr algn="l"/>
            <a:r>
              <a:rPr sz="850" b="1" i="0" spc="200">
                <a:solidFill>
                  <a:srgbClr val="047857"/>
                </a:solidFill>
                <a:latin typeface="Helvetica Neue"/>
              </a:rPr>
              <a:t>THE EVIDENCE  ·  12</a:t>
            </a:r>
          </a:p>
        </p:txBody>
      </p:sp>
      <p:sp>
        <p:nvSpPr>
          <p:cNvPr id="4" name="TextBox 3"/>
          <p:cNvSpPr txBox="1"/>
          <p:nvPr/>
        </p:nvSpPr>
        <p:spPr>
          <a:xfrm>
            <a:off x="502920" y="475488"/>
            <a:ext cx="8138160" cy="530352"/>
          </a:xfrm>
          <a:prstGeom prst="rect">
            <a:avLst/>
          </a:prstGeom>
          <a:noFill/>
        </p:spPr>
        <p:txBody>
          <a:bodyPr wrap="square" lIns="0" tIns="0" rIns="0" bIns="0" anchor="t">
            <a:spAutoFit/>
          </a:bodyPr>
          <a:lstStyle/>
          <a:p>
            <a:pPr algn="l"/>
            <a:r>
              <a:rPr sz="2200" b="1" i="0">
                <a:solidFill>
                  <a:srgbClr val="0A1221"/>
                </a:solidFill>
                <a:latin typeface="Helvetica Neue"/>
              </a:rPr>
              <a:t>What we have tested so far</a:t>
            </a:r>
          </a:p>
        </p:txBody>
      </p:sp>
      <p:sp>
        <p:nvSpPr>
          <p:cNvPr id="5" name="TextBox 4"/>
          <p:cNvSpPr txBox="1"/>
          <p:nvPr/>
        </p:nvSpPr>
        <p:spPr>
          <a:xfrm>
            <a:off x="502920" y="1097280"/>
            <a:ext cx="2194560" cy="164592"/>
          </a:xfrm>
          <a:prstGeom prst="rect">
            <a:avLst/>
          </a:prstGeom>
          <a:noFill/>
        </p:spPr>
        <p:txBody>
          <a:bodyPr wrap="square" lIns="0" tIns="0" rIns="0" bIns="0" anchor="t">
            <a:spAutoFit/>
          </a:bodyPr>
          <a:lstStyle/>
          <a:p>
            <a:pPr algn="l"/>
            <a:r>
              <a:rPr sz="750" b="1" i="0" spc="120">
                <a:solidFill>
                  <a:srgbClr val="8A9AAD"/>
                </a:solidFill>
                <a:latin typeface="Helvetica Neue"/>
              </a:rPr>
              <a:t>THE CASE</a:t>
            </a:r>
          </a:p>
        </p:txBody>
      </p:sp>
      <p:sp>
        <p:nvSpPr>
          <p:cNvPr id="6" name="TextBox 5"/>
          <p:cNvSpPr txBox="1"/>
          <p:nvPr/>
        </p:nvSpPr>
        <p:spPr>
          <a:xfrm>
            <a:off x="2788920" y="1097280"/>
            <a:ext cx="2194560" cy="164592"/>
          </a:xfrm>
          <a:prstGeom prst="rect">
            <a:avLst/>
          </a:prstGeom>
          <a:noFill/>
        </p:spPr>
        <p:txBody>
          <a:bodyPr wrap="square" lIns="0" tIns="0" rIns="0" bIns="0" anchor="t">
            <a:spAutoFit/>
          </a:bodyPr>
          <a:lstStyle/>
          <a:p>
            <a:pPr algn="l"/>
            <a:r>
              <a:rPr sz="750" b="1" i="0" spc="120">
                <a:solidFill>
                  <a:srgbClr val="8A9AAD"/>
                </a:solidFill>
                <a:latin typeface="Helvetica Neue"/>
              </a:rPr>
              <a:t>WHAT SHOULD HAPPEN</a:t>
            </a:r>
          </a:p>
        </p:txBody>
      </p:sp>
      <p:sp>
        <p:nvSpPr>
          <p:cNvPr id="7" name="TextBox 6"/>
          <p:cNvSpPr txBox="1"/>
          <p:nvPr/>
        </p:nvSpPr>
        <p:spPr>
          <a:xfrm>
            <a:off x="5074920" y="1097280"/>
            <a:ext cx="2423160" cy="164592"/>
          </a:xfrm>
          <a:prstGeom prst="rect">
            <a:avLst/>
          </a:prstGeom>
          <a:noFill/>
        </p:spPr>
        <p:txBody>
          <a:bodyPr wrap="square" lIns="0" tIns="0" rIns="0" bIns="0" anchor="t">
            <a:spAutoFit/>
          </a:bodyPr>
          <a:lstStyle/>
          <a:p>
            <a:pPr algn="l"/>
            <a:r>
              <a:rPr sz="750" b="1" i="0" spc="120">
                <a:solidFill>
                  <a:srgbClr val="8A9AAD"/>
                </a:solidFill>
                <a:latin typeface="Helvetica Neue"/>
              </a:rPr>
              <a:t>WHAT HAPPENED</a:t>
            </a:r>
          </a:p>
        </p:txBody>
      </p:sp>
      <p:sp>
        <p:nvSpPr>
          <p:cNvPr id="8" name="TextBox 7"/>
          <p:cNvSpPr txBox="1"/>
          <p:nvPr/>
        </p:nvSpPr>
        <p:spPr>
          <a:xfrm>
            <a:off x="7589520" y="1097280"/>
            <a:ext cx="1051560" cy="164592"/>
          </a:xfrm>
          <a:prstGeom prst="rect">
            <a:avLst/>
          </a:prstGeom>
          <a:noFill/>
        </p:spPr>
        <p:txBody>
          <a:bodyPr wrap="square" lIns="0" tIns="0" rIns="0" bIns="0" anchor="t">
            <a:spAutoFit/>
          </a:bodyPr>
          <a:lstStyle/>
          <a:p>
            <a:pPr algn="l"/>
            <a:r>
              <a:rPr sz="750" b="1" i="0" spc="120">
                <a:solidFill>
                  <a:srgbClr val="8A9AAD"/>
                </a:solidFill>
                <a:latin typeface="Helvetica Neue"/>
              </a:rPr>
              <a:t>RESULT</a:t>
            </a:r>
          </a:p>
        </p:txBody>
      </p:sp>
      <p:sp>
        <p:nvSpPr>
          <p:cNvPr id="9" name="Rounded Rectangle 8"/>
          <p:cNvSpPr/>
          <p:nvPr/>
        </p:nvSpPr>
        <p:spPr>
          <a:xfrm>
            <a:off x="502920" y="1316736"/>
            <a:ext cx="8138160" cy="429768"/>
          </a:xfrm>
          <a:prstGeom prst="roundRect">
            <a:avLst>
              <a:gd name="adj" fmla="val 3000"/>
            </a:avLst>
          </a:prstGeom>
          <a:solidFill>
            <a:srgbClr val="F4F7FA"/>
          </a:solidFill>
          <a:ln w="9525">
            <a:solidFill>
              <a:srgbClr val="DF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 y="1367028"/>
            <a:ext cx="2011679" cy="347472"/>
          </a:xfrm>
          <a:prstGeom prst="rect">
            <a:avLst/>
          </a:prstGeom>
          <a:noFill/>
        </p:spPr>
        <p:txBody>
          <a:bodyPr wrap="square" lIns="0" tIns="0" rIns="0" bIns="0" anchor="t">
            <a:spAutoFit/>
          </a:bodyPr>
          <a:lstStyle/>
          <a:p>
            <a:pPr algn="l">
              <a:lnSpc>
                <a:spcPts val="950"/>
              </a:lnSpc>
            </a:pPr>
            <a:r>
              <a:rPr sz="780" b="0" i="0">
                <a:solidFill>
                  <a:srgbClr val="0A1221"/>
                </a:solidFill>
                <a:latin typeface="Helvetica Neue"/>
              </a:rPr>
              <a:t>Shop short of a fast seller,
warehouse has stock</a:t>
            </a:r>
          </a:p>
        </p:txBody>
      </p:sp>
      <p:sp>
        <p:nvSpPr>
          <p:cNvPr id="11" name="TextBox 10"/>
          <p:cNvSpPr txBox="1"/>
          <p:nvPr/>
        </p:nvSpPr>
        <p:spPr>
          <a:xfrm>
            <a:off x="2935224" y="1367028"/>
            <a:ext cx="2011679" cy="347472"/>
          </a:xfrm>
          <a:prstGeom prst="rect">
            <a:avLst/>
          </a:prstGeom>
          <a:noFill/>
        </p:spPr>
        <p:txBody>
          <a:bodyPr wrap="square" lIns="0" tIns="0" rIns="0" bIns="0" anchor="t">
            <a:spAutoFit/>
          </a:bodyPr>
          <a:lstStyle/>
          <a:p>
            <a:pPr algn="l">
              <a:lnSpc>
                <a:spcPts val="950"/>
              </a:lnSpc>
            </a:pPr>
            <a:r>
              <a:rPr sz="780" b="0" i="0">
                <a:solidFill>
                  <a:srgbClr val="47576B"/>
                </a:solidFill>
                <a:latin typeface="Helvetica Neue"/>
              </a:rPr>
              <a:t>It receives a
recommended quantity</a:t>
            </a:r>
          </a:p>
        </p:txBody>
      </p:sp>
      <p:sp>
        <p:nvSpPr>
          <p:cNvPr id="12" name="TextBox 11"/>
          <p:cNvSpPr txBox="1"/>
          <p:nvPr/>
        </p:nvSpPr>
        <p:spPr>
          <a:xfrm>
            <a:off x="5221224" y="1367028"/>
            <a:ext cx="2240279" cy="347472"/>
          </a:xfrm>
          <a:prstGeom prst="rect">
            <a:avLst/>
          </a:prstGeom>
          <a:noFill/>
        </p:spPr>
        <p:txBody>
          <a:bodyPr wrap="square" lIns="0" tIns="0" rIns="0" bIns="0" anchor="t">
            <a:spAutoFit/>
          </a:bodyPr>
          <a:lstStyle/>
          <a:p>
            <a:pPr algn="l">
              <a:lnSpc>
                <a:spcPts val="950"/>
              </a:lnSpc>
            </a:pPr>
            <a:r>
              <a:rPr sz="780" b="0" i="0">
                <a:solidFill>
                  <a:srgbClr val="47576B"/>
                </a:solidFill>
                <a:latin typeface="Helvetica Neue"/>
              </a:rPr>
              <a:t>3,102 of 4,832 high-risk
lines received stock</a:t>
            </a:r>
          </a:p>
        </p:txBody>
      </p:sp>
      <p:sp>
        <p:nvSpPr>
          <p:cNvPr id="13" name="Rounded Rectangle 12"/>
          <p:cNvSpPr/>
          <p:nvPr/>
        </p:nvSpPr>
        <p:spPr>
          <a:xfrm>
            <a:off x="7680960" y="1431036"/>
            <a:ext cx="658368" cy="201168"/>
          </a:xfrm>
          <a:prstGeom prst="roundRect">
            <a:avLst>
              <a:gd name="adj" fmla="val 50000"/>
            </a:avLst>
          </a:prstGeom>
          <a:solidFill>
            <a:srgbClr val="E2EFE9"/>
          </a:solidFill>
          <a:ln w="63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80960" y="1453895"/>
            <a:ext cx="658368" cy="201168"/>
          </a:xfrm>
          <a:prstGeom prst="rect">
            <a:avLst/>
          </a:prstGeom>
          <a:noFill/>
        </p:spPr>
        <p:txBody>
          <a:bodyPr wrap="square" lIns="0" tIns="0" rIns="0" bIns="0" anchor="t">
            <a:spAutoFit/>
          </a:bodyPr>
          <a:lstStyle/>
          <a:p>
            <a:pPr algn="ctr"/>
            <a:r>
              <a:rPr sz="700" b="1" i="0" spc="50">
                <a:solidFill>
                  <a:srgbClr val="047857"/>
                </a:solidFill>
                <a:latin typeface="Helvetica Neue"/>
              </a:rPr>
              <a:t>PASS</a:t>
            </a:r>
          </a:p>
        </p:txBody>
      </p:sp>
      <p:sp>
        <p:nvSpPr>
          <p:cNvPr id="15" name="Rounded Rectangle 14"/>
          <p:cNvSpPr/>
          <p:nvPr/>
        </p:nvSpPr>
        <p:spPr>
          <a:xfrm>
            <a:off x="502920" y="1801368"/>
            <a:ext cx="8138160" cy="429768"/>
          </a:xfrm>
          <a:prstGeom prst="roundRect">
            <a:avLst>
              <a:gd name="adj" fmla="val 3000"/>
            </a:avLst>
          </a:prstGeom>
          <a:solidFill>
            <a:srgbClr val="F4F7FA"/>
          </a:solidFill>
          <a:ln w="9525">
            <a:solidFill>
              <a:srgbClr val="DF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 y="1851660"/>
            <a:ext cx="2011679" cy="347472"/>
          </a:xfrm>
          <a:prstGeom prst="rect">
            <a:avLst/>
          </a:prstGeom>
          <a:noFill/>
        </p:spPr>
        <p:txBody>
          <a:bodyPr wrap="square" lIns="0" tIns="0" rIns="0" bIns="0" anchor="t">
            <a:spAutoFit/>
          </a:bodyPr>
          <a:lstStyle/>
          <a:p>
            <a:pPr algn="l">
              <a:lnSpc>
                <a:spcPts val="950"/>
              </a:lnSpc>
            </a:pPr>
            <a:r>
              <a:rPr sz="780" b="0" i="0">
                <a:solidFill>
                  <a:srgbClr val="0A1221"/>
                </a:solidFill>
                <a:latin typeface="Helvetica Neue"/>
              </a:rPr>
              <a:t>Shop short, but the
warehouse is empty</a:t>
            </a:r>
          </a:p>
        </p:txBody>
      </p:sp>
      <p:sp>
        <p:nvSpPr>
          <p:cNvPr id="17" name="TextBox 16"/>
          <p:cNvSpPr txBox="1"/>
          <p:nvPr/>
        </p:nvSpPr>
        <p:spPr>
          <a:xfrm>
            <a:off x="2935224" y="1851660"/>
            <a:ext cx="2011679" cy="347472"/>
          </a:xfrm>
          <a:prstGeom prst="rect">
            <a:avLst/>
          </a:prstGeom>
          <a:noFill/>
        </p:spPr>
        <p:txBody>
          <a:bodyPr wrap="square" lIns="0" tIns="0" rIns="0" bIns="0" anchor="t">
            <a:spAutoFit/>
          </a:bodyPr>
          <a:lstStyle/>
          <a:p>
            <a:pPr algn="l">
              <a:lnSpc>
                <a:spcPts val="950"/>
              </a:lnSpc>
            </a:pPr>
            <a:r>
              <a:rPr sz="780" b="0" i="0">
                <a:solidFill>
                  <a:srgbClr val="47576B"/>
                </a:solidFill>
                <a:latin typeface="Helvetica Neue"/>
              </a:rPr>
              <a:t>Zero, with the reason
shown on screen</a:t>
            </a:r>
          </a:p>
        </p:txBody>
      </p:sp>
      <p:sp>
        <p:nvSpPr>
          <p:cNvPr id="18" name="TextBox 17"/>
          <p:cNvSpPr txBox="1"/>
          <p:nvPr/>
        </p:nvSpPr>
        <p:spPr>
          <a:xfrm>
            <a:off x="5221224" y="1851660"/>
            <a:ext cx="2240279" cy="347472"/>
          </a:xfrm>
          <a:prstGeom prst="rect">
            <a:avLst/>
          </a:prstGeom>
          <a:noFill/>
        </p:spPr>
        <p:txBody>
          <a:bodyPr wrap="square" lIns="0" tIns="0" rIns="0" bIns="0" anchor="t">
            <a:spAutoFit/>
          </a:bodyPr>
          <a:lstStyle/>
          <a:p>
            <a:pPr algn="l">
              <a:lnSpc>
                <a:spcPts val="950"/>
              </a:lnSpc>
            </a:pPr>
            <a:r>
              <a:rPr sz="780" b="0" i="0">
                <a:solidFill>
                  <a:srgbClr val="47576B"/>
                </a:solidFill>
                <a:latin typeface="Helvetica Neue"/>
              </a:rPr>
              <a:t>1,730 zeros, each with a
written explanation</a:t>
            </a:r>
          </a:p>
        </p:txBody>
      </p:sp>
      <p:sp>
        <p:nvSpPr>
          <p:cNvPr id="19" name="Rounded Rectangle 18"/>
          <p:cNvSpPr/>
          <p:nvPr/>
        </p:nvSpPr>
        <p:spPr>
          <a:xfrm>
            <a:off x="7680960" y="1915667"/>
            <a:ext cx="658368" cy="201168"/>
          </a:xfrm>
          <a:prstGeom prst="roundRect">
            <a:avLst>
              <a:gd name="adj" fmla="val 50000"/>
            </a:avLst>
          </a:prstGeom>
          <a:solidFill>
            <a:srgbClr val="E2EFE9"/>
          </a:solidFill>
          <a:ln w="63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80960" y="1938527"/>
            <a:ext cx="658368" cy="201168"/>
          </a:xfrm>
          <a:prstGeom prst="rect">
            <a:avLst/>
          </a:prstGeom>
          <a:noFill/>
        </p:spPr>
        <p:txBody>
          <a:bodyPr wrap="square" lIns="0" tIns="0" rIns="0" bIns="0" anchor="t">
            <a:spAutoFit/>
          </a:bodyPr>
          <a:lstStyle/>
          <a:p>
            <a:pPr algn="ctr"/>
            <a:r>
              <a:rPr sz="700" b="1" i="0" spc="50">
                <a:solidFill>
                  <a:srgbClr val="047857"/>
                </a:solidFill>
                <a:latin typeface="Helvetica Neue"/>
              </a:rPr>
              <a:t>PASS</a:t>
            </a:r>
          </a:p>
        </p:txBody>
      </p:sp>
      <p:sp>
        <p:nvSpPr>
          <p:cNvPr id="21" name="Rounded Rectangle 20"/>
          <p:cNvSpPr/>
          <p:nvPr/>
        </p:nvSpPr>
        <p:spPr>
          <a:xfrm>
            <a:off x="502920" y="2286000"/>
            <a:ext cx="8138160" cy="429768"/>
          </a:xfrm>
          <a:prstGeom prst="roundRect">
            <a:avLst>
              <a:gd name="adj" fmla="val 3000"/>
            </a:avLst>
          </a:prstGeom>
          <a:solidFill>
            <a:srgbClr val="F4F7FA"/>
          </a:solidFill>
          <a:ln w="9525">
            <a:solidFill>
              <a:srgbClr val="DF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9224" y="2336292"/>
            <a:ext cx="2011679" cy="347472"/>
          </a:xfrm>
          <a:prstGeom prst="rect">
            <a:avLst/>
          </a:prstGeom>
          <a:noFill/>
        </p:spPr>
        <p:txBody>
          <a:bodyPr wrap="square" lIns="0" tIns="0" rIns="0" bIns="0" anchor="t">
            <a:spAutoFit/>
          </a:bodyPr>
          <a:lstStyle/>
          <a:p>
            <a:pPr algn="l">
              <a:lnSpc>
                <a:spcPts val="950"/>
              </a:lnSpc>
            </a:pPr>
            <a:r>
              <a:rPr sz="780" b="0" i="0">
                <a:solidFill>
                  <a:srgbClr val="0A1221"/>
                </a:solidFill>
                <a:latin typeface="Helvetica Neue"/>
              </a:rPr>
              <a:t>Shelf holds 7, has 5,
pack size is 6</a:t>
            </a:r>
          </a:p>
        </p:txBody>
      </p:sp>
      <p:sp>
        <p:nvSpPr>
          <p:cNvPr id="23" name="TextBox 22"/>
          <p:cNvSpPr txBox="1"/>
          <p:nvPr/>
        </p:nvSpPr>
        <p:spPr>
          <a:xfrm>
            <a:off x="2935224" y="2336292"/>
            <a:ext cx="2011679" cy="347472"/>
          </a:xfrm>
          <a:prstGeom prst="rect">
            <a:avLst/>
          </a:prstGeom>
          <a:noFill/>
        </p:spPr>
        <p:txBody>
          <a:bodyPr wrap="square" lIns="0" tIns="0" rIns="0" bIns="0" anchor="t">
            <a:spAutoFit/>
          </a:bodyPr>
          <a:lstStyle/>
          <a:p>
            <a:pPr algn="l">
              <a:lnSpc>
                <a:spcPts val="950"/>
              </a:lnSpc>
            </a:pPr>
            <a:r>
              <a:rPr sz="780" b="0" i="0">
                <a:solidFill>
                  <a:srgbClr val="47576B"/>
                </a:solidFill>
                <a:latin typeface="Helvetica Neue"/>
              </a:rPr>
              <a:t>No shipment — it would
not fit</a:t>
            </a:r>
          </a:p>
        </p:txBody>
      </p:sp>
      <p:sp>
        <p:nvSpPr>
          <p:cNvPr id="24" name="TextBox 23"/>
          <p:cNvSpPr txBox="1"/>
          <p:nvPr/>
        </p:nvSpPr>
        <p:spPr>
          <a:xfrm>
            <a:off x="5221224" y="2336292"/>
            <a:ext cx="2240279" cy="347472"/>
          </a:xfrm>
          <a:prstGeom prst="rect">
            <a:avLst/>
          </a:prstGeom>
          <a:noFill/>
        </p:spPr>
        <p:txBody>
          <a:bodyPr wrap="square" lIns="0" tIns="0" rIns="0" bIns="0" anchor="t">
            <a:spAutoFit/>
          </a:bodyPr>
          <a:lstStyle/>
          <a:p>
            <a:pPr algn="l">
              <a:lnSpc>
                <a:spcPts val="950"/>
              </a:lnSpc>
            </a:pPr>
            <a:r>
              <a:rPr sz="780" b="0" i="0">
                <a:solidFill>
                  <a:srgbClr val="47576B"/>
                </a:solidFill>
                <a:latin typeface="Helvetica Neue"/>
              </a:rPr>
              <a:t>Zero, reason given as
shelf capacity</a:t>
            </a:r>
          </a:p>
        </p:txBody>
      </p:sp>
      <p:sp>
        <p:nvSpPr>
          <p:cNvPr id="25" name="Rounded Rectangle 24"/>
          <p:cNvSpPr/>
          <p:nvPr/>
        </p:nvSpPr>
        <p:spPr>
          <a:xfrm>
            <a:off x="7680960" y="2400300"/>
            <a:ext cx="658368" cy="201168"/>
          </a:xfrm>
          <a:prstGeom prst="roundRect">
            <a:avLst>
              <a:gd name="adj" fmla="val 50000"/>
            </a:avLst>
          </a:prstGeom>
          <a:solidFill>
            <a:srgbClr val="E2EFE9"/>
          </a:solidFill>
          <a:ln w="63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80960" y="2423160"/>
            <a:ext cx="658368" cy="201168"/>
          </a:xfrm>
          <a:prstGeom prst="rect">
            <a:avLst/>
          </a:prstGeom>
          <a:noFill/>
        </p:spPr>
        <p:txBody>
          <a:bodyPr wrap="square" lIns="0" tIns="0" rIns="0" bIns="0" anchor="t">
            <a:spAutoFit/>
          </a:bodyPr>
          <a:lstStyle/>
          <a:p>
            <a:pPr algn="ctr"/>
            <a:r>
              <a:rPr sz="700" b="1" i="0" spc="50">
                <a:solidFill>
                  <a:srgbClr val="047857"/>
                </a:solidFill>
                <a:latin typeface="Helvetica Neue"/>
              </a:rPr>
              <a:t>PASS</a:t>
            </a:r>
          </a:p>
        </p:txBody>
      </p:sp>
      <p:sp>
        <p:nvSpPr>
          <p:cNvPr id="27" name="Rounded Rectangle 26"/>
          <p:cNvSpPr/>
          <p:nvPr/>
        </p:nvSpPr>
        <p:spPr>
          <a:xfrm>
            <a:off x="502920" y="2770632"/>
            <a:ext cx="8138160" cy="429768"/>
          </a:xfrm>
          <a:prstGeom prst="roundRect">
            <a:avLst>
              <a:gd name="adj" fmla="val 3000"/>
            </a:avLst>
          </a:prstGeom>
          <a:solidFill>
            <a:srgbClr val="F4F7FA"/>
          </a:solidFill>
          <a:ln w="9525">
            <a:solidFill>
              <a:srgbClr val="DF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9224" y="2820924"/>
            <a:ext cx="2011679" cy="347472"/>
          </a:xfrm>
          <a:prstGeom prst="rect">
            <a:avLst/>
          </a:prstGeom>
          <a:noFill/>
        </p:spPr>
        <p:txBody>
          <a:bodyPr wrap="square" lIns="0" tIns="0" rIns="0" bIns="0" anchor="t">
            <a:spAutoFit/>
          </a:bodyPr>
          <a:lstStyle/>
          <a:p>
            <a:pPr algn="l">
              <a:lnSpc>
                <a:spcPts val="950"/>
              </a:lnSpc>
            </a:pPr>
            <a:r>
              <a:rPr sz="780" b="0" i="0">
                <a:solidFill>
                  <a:srgbClr val="0A1221"/>
                </a:solidFill>
                <a:latin typeface="Helvetica Neue"/>
              </a:rPr>
              <a:t>A full plan of
33,412 units</a:t>
            </a:r>
          </a:p>
        </p:txBody>
      </p:sp>
      <p:sp>
        <p:nvSpPr>
          <p:cNvPr id="29" name="TextBox 28"/>
          <p:cNvSpPr txBox="1"/>
          <p:nvPr/>
        </p:nvSpPr>
        <p:spPr>
          <a:xfrm>
            <a:off x="2935224" y="2820924"/>
            <a:ext cx="2011679" cy="347472"/>
          </a:xfrm>
          <a:prstGeom prst="rect">
            <a:avLst/>
          </a:prstGeom>
          <a:noFill/>
        </p:spPr>
        <p:txBody>
          <a:bodyPr wrap="square" lIns="0" tIns="0" rIns="0" bIns="0" anchor="t">
            <a:spAutoFit/>
          </a:bodyPr>
          <a:lstStyle/>
          <a:p>
            <a:pPr algn="l">
              <a:lnSpc>
                <a:spcPts val="950"/>
              </a:lnSpc>
            </a:pPr>
            <a:r>
              <a:rPr sz="780" b="0" i="0">
                <a:solidFill>
                  <a:srgbClr val="47576B"/>
                </a:solidFill>
                <a:latin typeface="Helvetica Neue"/>
              </a:rPr>
              <a:t>No rule broken
anywhere</a:t>
            </a:r>
          </a:p>
        </p:txBody>
      </p:sp>
      <p:sp>
        <p:nvSpPr>
          <p:cNvPr id="30" name="TextBox 29"/>
          <p:cNvSpPr txBox="1"/>
          <p:nvPr/>
        </p:nvSpPr>
        <p:spPr>
          <a:xfrm>
            <a:off x="5221224" y="2820924"/>
            <a:ext cx="2240279" cy="347472"/>
          </a:xfrm>
          <a:prstGeom prst="rect">
            <a:avLst/>
          </a:prstGeom>
          <a:noFill/>
        </p:spPr>
        <p:txBody>
          <a:bodyPr wrap="square" lIns="0" tIns="0" rIns="0" bIns="0" anchor="t">
            <a:spAutoFit/>
          </a:bodyPr>
          <a:lstStyle/>
          <a:p>
            <a:pPr algn="l">
              <a:lnSpc>
                <a:spcPts val="950"/>
              </a:lnSpc>
            </a:pPr>
            <a:r>
              <a:rPr sz="780" b="0" i="0">
                <a:solidFill>
                  <a:srgbClr val="47576B"/>
                </a:solidFill>
                <a:latin typeface="Helvetica Neue"/>
              </a:rPr>
              <a:t>Zero breaches across
every shipment line</a:t>
            </a:r>
          </a:p>
        </p:txBody>
      </p:sp>
      <p:sp>
        <p:nvSpPr>
          <p:cNvPr id="31" name="Rounded Rectangle 30"/>
          <p:cNvSpPr/>
          <p:nvPr/>
        </p:nvSpPr>
        <p:spPr>
          <a:xfrm>
            <a:off x="7680960" y="2884932"/>
            <a:ext cx="658368" cy="201168"/>
          </a:xfrm>
          <a:prstGeom prst="roundRect">
            <a:avLst>
              <a:gd name="adj" fmla="val 50000"/>
            </a:avLst>
          </a:prstGeom>
          <a:solidFill>
            <a:srgbClr val="E2EFE9"/>
          </a:solidFill>
          <a:ln w="63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680960" y="2907792"/>
            <a:ext cx="658368" cy="201168"/>
          </a:xfrm>
          <a:prstGeom prst="rect">
            <a:avLst/>
          </a:prstGeom>
          <a:noFill/>
        </p:spPr>
        <p:txBody>
          <a:bodyPr wrap="square" lIns="0" tIns="0" rIns="0" bIns="0" anchor="t">
            <a:spAutoFit/>
          </a:bodyPr>
          <a:lstStyle/>
          <a:p>
            <a:pPr algn="ctr"/>
            <a:r>
              <a:rPr sz="700" b="1" i="0" spc="50">
                <a:solidFill>
                  <a:srgbClr val="047857"/>
                </a:solidFill>
                <a:latin typeface="Helvetica Neue"/>
              </a:rPr>
              <a:t>PASS</a:t>
            </a:r>
          </a:p>
        </p:txBody>
      </p:sp>
      <p:sp>
        <p:nvSpPr>
          <p:cNvPr id="33" name="Rounded Rectangle 32"/>
          <p:cNvSpPr/>
          <p:nvPr/>
        </p:nvSpPr>
        <p:spPr>
          <a:xfrm>
            <a:off x="502920" y="3255264"/>
            <a:ext cx="8138160" cy="429768"/>
          </a:xfrm>
          <a:prstGeom prst="roundRect">
            <a:avLst>
              <a:gd name="adj" fmla="val 3000"/>
            </a:avLst>
          </a:prstGeom>
          <a:solidFill>
            <a:srgbClr val="F4F7FA"/>
          </a:solidFill>
          <a:ln w="9525">
            <a:solidFill>
              <a:srgbClr val="DF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9224" y="3305556"/>
            <a:ext cx="2011679" cy="347472"/>
          </a:xfrm>
          <a:prstGeom prst="rect">
            <a:avLst/>
          </a:prstGeom>
          <a:noFill/>
        </p:spPr>
        <p:txBody>
          <a:bodyPr wrap="square" lIns="0" tIns="0" rIns="0" bIns="0" anchor="t">
            <a:spAutoFit/>
          </a:bodyPr>
          <a:lstStyle/>
          <a:p>
            <a:pPr algn="l">
              <a:lnSpc>
                <a:spcPts val="950"/>
              </a:lnSpc>
            </a:pPr>
            <a:r>
              <a:rPr sz="780" b="0" i="0">
                <a:solidFill>
                  <a:srgbClr val="0A1221"/>
                </a:solidFill>
                <a:latin typeface="Helvetica Neue"/>
              </a:rPr>
              <a:t>Planner changes a quantity
without explaining</a:t>
            </a:r>
          </a:p>
        </p:txBody>
      </p:sp>
      <p:sp>
        <p:nvSpPr>
          <p:cNvPr id="35" name="TextBox 34"/>
          <p:cNvSpPr txBox="1"/>
          <p:nvPr/>
        </p:nvSpPr>
        <p:spPr>
          <a:xfrm>
            <a:off x="2935224" y="3305556"/>
            <a:ext cx="2011679" cy="347472"/>
          </a:xfrm>
          <a:prstGeom prst="rect">
            <a:avLst/>
          </a:prstGeom>
          <a:noFill/>
        </p:spPr>
        <p:txBody>
          <a:bodyPr wrap="square" lIns="0" tIns="0" rIns="0" bIns="0" anchor="t">
            <a:spAutoFit/>
          </a:bodyPr>
          <a:lstStyle/>
          <a:p>
            <a:pPr algn="l">
              <a:lnSpc>
                <a:spcPts val="950"/>
              </a:lnSpc>
            </a:pPr>
            <a:r>
              <a:rPr sz="780" b="0" i="0">
                <a:solidFill>
                  <a:srgbClr val="47576B"/>
                </a:solidFill>
                <a:latin typeface="Helvetica Neue"/>
              </a:rPr>
              <a:t>Approval is blocked
until they do</a:t>
            </a:r>
          </a:p>
        </p:txBody>
      </p:sp>
      <p:sp>
        <p:nvSpPr>
          <p:cNvPr id="36" name="TextBox 35"/>
          <p:cNvSpPr txBox="1"/>
          <p:nvPr/>
        </p:nvSpPr>
        <p:spPr>
          <a:xfrm>
            <a:off x="5221224" y="3305556"/>
            <a:ext cx="2240279" cy="347472"/>
          </a:xfrm>
          <a:prstGeom prst="rect">
            <a:avLst/>
          </a:prstGeom>
          <a:noFill/>
        </p:spPr>
        <p:txBody>
          <a:bodyPr wrap="square" lIns="0" tIns="0" rIns="0" bIns="0" anchor="t">
            <a:spAutoFit/>
          </a:bodyPr>
          <a:lstStyle/>
          <a:p>
            <a:pPr algn="l">
              <a:lnSpc>
                <a:spcPts val="950"/>
              </a:lnSpc>
            </a:pPr>
            <a:r>
              <a:rPr sz="780" b="0" i="0">
                <a:solidFill>
                  <a:srgbClr val="47576B"/>
                </a:solidFill>
                <a:latin typeface="Helvetica Neue"/>
              </a:rPr>
              <a:t>Blocked, and re-checked
on the server</a:t>
            </a:r>
          </a:p>
        </p:txBody>
      </p:sp>
      <p:sp>
        <p:nvSpPr>
          <p:cNvPr id="37" name="Rounded Rectangle 36"/>
          <p:cNvSpPr/>
          <p:nvPr/>
        </p:nvSpPr>
        <p:spPr>
          <a:xfrm>
            <a:off x="7680960" y="3369564"/>
            <a:ext cx="658368" cy="201168"/>
          </a:xfrm>
          <a:prstGeom prst="roundRect">
            <a:avLst>
              <a:gd name="adj" fmla="val 50000"/>
            </a:avLst>
          </a:prstGeom>
          <a:solidFill>
            <a:srgbClr val="E2EFE9"/>
          </a:solidFill>
          <a:ln w="63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680960" y="3392424"/>
            <a:ext cx="658368" cy="201168"/>
          </a:xfrm>
          <a:prstGeom prst="rect">
            <a:avLst/>
          </a:prstGeom>
          <a:noFill/>
        </p:spPr>
        <p:txBody>
          <a:bodyPr wrap="square" lIns="0" tIns="0" rIns="0" bIns="0" anchor="t">
            <a:spAutoFit/>
          </a:bodyPr>
          <a:lstStyle/>
          <a:p>
            <a:pPr algn="ctr"/>
            <a:r>
              <a:rPr sz="700" b="1" i="0" spc="50">
                <a:solidFill>
                  <a:srgbClr val="047857"/>
                </a:solidFill>
                <a:latin typeface="Helvetica Neue"/>
              </a:rPr>
              <a:t>PASS</a:t>
            </a:r>
          </a:p>
        </p:txBody>
      </p:sp>
      <p:sp>
        <p:nvSpPr>
          <p:cNvPr id="39" name="Rounded Rectangle 38"/>
          <p:cNvSpPr/>
          <p:nvPr/>
        </p:nvSpPr>
        <p:spPr>
          <a:xfrm>
            <a:off x="502920" y="3739896"/>
            <a:ext cx="8138160" cy="429768"/>
          </a:xfrm>
          <a:prstGeom prst="roundRect">
            <a:avLst>
              <a:gd name="adj" fmla="val 3000"/>
            </a:avLst>
          </a:prstGeom>
          <a:solidFill>
            <a:srgbClr val="F4F7FA"/>
          </a:solidFill>
          <a:ln w="9525">
            <a:solidFill>
              <a:srgbClr val="DF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9224" y="3790187"/>
            <a:ext cx="2011679" cy="347472"/>
          </a:xfrm>
          <a:prstGeom prst="rect">
            <a:avLst/>
          </a:prstGeom>
          <a:noFill/>
        </p:spPr>
        <p:txBody>
          <a:bodyPr wrap="square" lIns="0" tIns="0" rIns="0" bIns="0" anchor="t">
            <a:spAutoFit/>
          </a:bodyPr>
          <a:lstStyle/>
          <a:p>
            <a:pPr algn="l">
              <a:lnSpc>
                <a:spcPts val="950"/>
              </a:lnSpc>
            </a:pPr>
            <a:r>
              <a:rPr sz="780" b="0" i="0">
                <a:solidFill>
                  <a:srgbClr val="0A1221"/>
                </a:solidFill>
                <a:latin typeface="Helvetica Neue"/>
              </a:rPr>
              <a:t>The same plan sent for
approval twice</a:t>
            </a:r>
          </a:p>
        </p:txBody>
      </p:sp>
      <p:sp>
        <p:nvSpPr>
          <p:cNvPr id="41" name="TextBox 40"/>
          <p:cNvSpPr txBox="1"/>
          <p:nvPr/>
        </p:nvSpPr>
        <p:spPr>
          <a:xfrm>
            <a:off x="2935224" y="3790187"/>
            <a:ext cx="2011679" cy="347472"/>
          </a:xfrm>
          <a:prstGeom prst="rect">
            <a:avLst/>
          </a:prstGeom>
          <a:noFill/>
        </p:spPr>
        <p:txBody>
          <a:bodyPr wrap="square" lIns="0" tIns="0" rIns="0" bIns="0" anchor="t">
            <a:spAutoFit/>
          </a:bodyPr>
          <a:lstStyle/>
          <a:p>
            <a:pPr algn="l">
              <a:lnSpc>
                <a:spcPts val="950"/>
              </a:lnSpc>
            </a:pPr>
            <a:r>
              <a:rPr sz="780" b="0" i="0">
                <a:solidFill>
                  <a:srgbClr val="47576B"/>
                </a:solidFill>
                <a:latin typeface="Helvetica Neue"/>
              </a:rPr>
              <a:t>The second one is
refused</a:t>
            </a:r>
          </a:p>
        </p:txBody>
      </p:sp>
      <p:sp>
        <p:nvSpPr>
          <p:cNvPr id="42" name="TextBox 41"/>
          <p:cNvSpPr txBox="1"/>
          <p:nvPr/>
        </p:nvSpPr>
        <p:spPr>
          <a:xfrm>
            <a:off x="5221224" y="3790187"/>
            <a:ext cx="2240279" cy="347472"/>
          </a:xfrm>
          <a:prstGeom prst="rect">
            <a:avLst/>
          </a:prstGeom>
          <a:noFill/>
        </p:spPr>
        <p:txBody>
          <a:bodyPr wrap="square" lIns="0" tIns="0" rIns="0" bIns="0" anchor="t">
            <a:spAutoFit/>
          </a:bodyPr>
          <a:lstStyle/>
          <a:p>
            <a:pPr algn="l">
              <a:lnSpc>
                <a:spcPts val="950"/>
              </a:lnSpc>
            </a:pPr>
            <a:r>
              <a:rPr sz="780" b="0" i="0">
                <a:solidFill>
                  <a:srgbClr val="47576B"/>
                </a:solidFill>
                <a:latin typeface="Helvetica Neue"/>
              </a:rPr>
              <a:t>Refused — stock cannot be
committed twice</a:t>
            </a:r>
          </a:p>
        </p:txBody>
      </p:sp>
      <p:sp>
        <p:nvSpPr>
          <p:cNvPr id="43" name="Rounded Rectangle 42"/>
          <p:cNvSpPr/>
          <p:nvPr/>
        </p:nvSpPr>
        <p:spPr>
          <a:xfrm>
            <a:off x="7680960" y="3854196"/>
            <a:ext cx="658368" cy="201168"/>
          </a:xfrm>
          <a:prstGeom prst="roundRect">
            <a:avLst>
              <a:gd name="adj" fmla="val 50000"/>
            </a:avLst>
          </a:prstGeom>
          <a:solidFill>
            <a:srgbClr val="E2EFE9"/>
          </a:solidFill>
          <a:ln w="63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680960" y="3877056"/>
            <a:ext cx="658368" cy="201168"/>
          </a:xfrm>
          <a:prstGeom prst="rect">
            <a:avLst/>
          </a:prstGeom>
          <a:noFill/>
        </p:spPr>
        <p:txBody>
          <a:bodyPr wrap="square" lIns="0" tIns="0" rIns="0" bIns="0" anchor="t">
            <a:spAutoFit/>
          </a:bodyPr>
          <a:lstStyle/>
          <a:p>
            <a:pPr algn="ctr"/>
            <a:r>
              <a:rPr sz="700" b="1" i="0" spc="50">
                <a:solidFill>
                  <a:srgbClr val="047857"/>
                </a:solidFill>
                <a:latin typeface="Helvetica Neue"/>
              </a:rPr>
              <a:t>PASS</a:t>
            </a:r>
          </a:p>
        </p:txBody>
      </p:sp>
      <p:sp>
        <p:nvSpPr>
          <p:cNvPr id="45" name="Rounded Rectangle 44"/>
          <p:cNvSpPr/>
          <p:nvPr/>
        </p:nvSpPr>
        <p:spPr>
          <a:xfrm>
            <a:off x="502920" y="4224528"/>
            <a:ext cx="8138160" cy="530352"/>
          </a:xfrm>
          <a:prstGeom prst="roundRect">
            <a:avLst>
              <a:gd name="adj" fmla="val 4000"/>
            </a:avLst>
          </a:prstGeom>
          <a:solidFill>
            <a:srgbClr val="F4F7FA"/>
          </a:solidFill>
          <a:ln w="9525">
            <a:solidFill>
              <a:srgbClr val="DF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85800" y="4315968"/>
            <a:ext cx="7772400" cy="384048"/>
          </a:xfrm>
          <a:prstGeom prst="rect">
            <a:avLst/>
          </a:prstGeom>
          <a:noFill/>
        </p:spPr>
        <p:txBody>
          <a:bodyPr wrap="square" lIns="0" tIns="0" rIns="0" bIns="0" anchor="t">
            <a:spAutoFit/>
          </a:bodyPr>
          <a:lstStyle/>
          <a:p>
            <a:pPr algn="l">
              <a:lnSpc>
                <a:spcPts val="1000"/>
              </a:lnSpc>
            </a:pPr>
            <a:r>
              <a:rPr sz="800" b="1" i="0">
                <a:solidFill>
                  <a:srgbClr val="0A1221"/>
                </a:solidFill>
                <a:latin typeface="Helvetica Neue"/>
              </a:rPr>
              <a:t>Every line above comes from a working system </a:t>
            </a:r>
            <a:r>
              <a:rPr sz="800" b="0" i="0">
                <a:solidFill>
                  <a:srgbClr val="47576B"/>
                </a:solidFill>
                <a:latin typeface="Helvetica Neue"/>
              </a:rPr>
              <a:t>running the full sportswear dataset, with default settings and no manual edits. They show the machine behaves correctly, predictably and within your rules. The commercial figures are simulated against the supplied forecast — measured service and margin come from the pilot on real shops.</a:t>
            </a:r>
          </a:p>
        </p:txBody>
      </p:sp>
      <p:sp>
        <p:nvSpPr>
          <p:cNvPr id="47" name="TextBox 46"/>
          <p:cNvSpPr txBox="1"/>
          <p:nvPr/>
        </p:nvSpPr>
        <p:spPr>
          <a:xfrm>
            <a:off x="502920" y="4791456"/>
            <a:ext cx="8138160" cy="182880"/>
          </a:xfrm>
          <a:prstGeom prst="rect">
            <a:avLst/>
          </a:prstGeom>
          <a:noFill/>
        </p:spPr>
        <p:txBody>
          <a:bodyPr wrap="square" lIns="0" tIns="0" rIns="0" bIns="0" anchor="t">
            <a:spAutoFit/>
          </a:bodyPr>
          <a:lstStyle/>
          <a:p>
            <a:pPr algn="l"/>
            <a:r>
              <a:rPr sz="650" b="0" i="0">
                <a:solidFill>
                  <a:srgbClr val="8A9AAD"/>
                </a:solidFill>
                <a:latin typeface="Helvetica Neue"/>
              </a:rPr>
              <a:t>Reproducible run on the corrected sportswear package  ·  The forecasting pipeline was built and validated on a public retail dataset; a sportswear-specific model is the next build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5943600" cy="155448"/>
          </a:xfrm>
          <a:prstGeom prst="rect">
            <a:avLst/>
          </a:prstGeom>
          <a:noFill/>
        </p:spPr>
        <p:txBody>
          <a:bodyPr wrap="square" lIns="0" tIns="0" rIns="0" bIns="0" anchor="t">
            <a:spAutoFit/>
          </a:bodyPr>
          <a:lstStyle/>
          <a:p>
            <a:pPr algn="l"/>
            <a:r>
              <a:rPr sz="850" b="1" i="0" spc="200">
                <a:solidFill>
                  <a:srgbClr val="047857"/>
                </a:solidFill>
                <a:latin typeface="Helvetica Neue"/>
              </a:rPr>
              <a:t>COST AND TIMELINE  ·  13</a:t>
            </a:r>
          </a:p>
        </p:txBody>
      </p:sp>
      <p:sp>
        <p:nvSpPr>
          <p:cNvPr id="4" name="TextBox 3"/>
          <p:cNvSpPr txBox="1"/>
          <p:nvPr/>
        </p:nvSpPr>
        <p:spPr>
          <a:xfrm>
            <a:off x="502920" y="475488"/>
            <a:ext cx="8138160" cy="530352"/>
          </a:xfrm>
          <a:prstGeom prst="rect">
            <a:avLst/>
          </a:prstGeom>
          <a:noFill/>
        </p:spPr>
        <p:txBody>
          <a:bodyPr wrap="square" lIns="0" tIns="0" rIns="0" bIns="0" anchor="t">
            <a:spAutoFit/>
          </a:bodyPr>
          <a:lstStyle/>
          <a:p>
            <a:pPr algn="l"/>
            <a:r>
              <a:rPr sz="2200" b="1" i="0">
                <a:solidFill>
                  <a:srgbClr val="0A1221"/>
                </a:solidFill>
                <a:latin typeface="Helvetica Neue"/>
              </a:rPr>
              <a:t>Twenty weeks to a measured answer</a:t>
            </a:r>
          </a:p>
        </p:txBody>
      </p:sp>
      <p:sp>
        <p:nvSpPr>
          <p:cNvPr id="5" name="Rounded Rectangle 4"/>
          <p:cNvSpPr/>
          <p:nvPr/>
        </p:nvSpPr>
        <p:spPr>
          <a:xfrm>
            <a:off x="502920" y="1133856"/>
            <a:ext cx="1911095" cy="1517904"/>
          </a:xfrm>
          <a:prstGeom prst="roundRect">
            <a:avLst>
              <a:gd name="adj" fmla="val 4000"/>
            </a:avLst>
          </a:prstGeom>
          <a:solidFill>
            <a:srgbClr val="F4F7FA"/>
          </a:solidFill>
          <a:ln w="9525">
            <a:solidFill>
              <a:srgbClr val="DF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7512" y="1298448"/>
            <a:ext cx="1581912" cy="155448"/>
          </a:xfrm>
          <a:prstGeom prst="rect">
            <a:avLst/>
          </a:prstGeom>
          <a:noFill/>
        </p:spPr>
        <p:txBody>
          <a:bodyPr wrap="square" lIns="0" tIns="0" rIns="0" bIns="0" anchor="t">
            <a:spAutoFit/>
          </a:bodyPr>
          <a:lstStyle/>
          <a:p>
            <a:pPr algn="l"/>
            <a:r>
              <a:rPr sz="700" b="1" i="0" spc="110">
                <a:solidFill>
                  <a:srgbClr val="8A9AAD"/>
                </a:solidFill>
                <a:latin typeface="Helvetica Neue"/>
              </a:rPr>
              <a:t>NOW</a:t>
            </a:r>
          </a:p>
        </p:txBody>
      </p:sp>
      <p:sp>
        <p:nvSpPr>
          <p:cNvPr id="7" name="TextBox 6"/>
          <p:cNvSpPr txBox="1"/>
          <p:nvPr/>
        </p:nvSpPr>
        <p:spPr>
          <a:xfrm>
            <a:off x="667512" y="1499616"/>
            <a:ext cx="1581912" cy="420624"/>
          </a:xfrm>
          <a:prstGeom prst="rect">
            <a:avLst/>
          </a:prstGeom>
          <a:noFill/>
        </p:spPr>
        <p:txBody>
          <a:bodyPr wrap="square" lIns="0" tIns="0" rIns="0" bIns="0" anchor="t">
            <a:spAutoFit/>
          </a:bodyPr>
          <a:lstStyle/>
          <a:p>
            <a:pPr algn="l">
              <a:lnSpc>
                <a:spcPts val="1300"/>
              </a:lnSpc>
            </a:pPr>
            <a:r>
              <a:rPr sz="1050" b="1" i="0">
                <a:solidFill>
                  <a:srgbClr val="0A1221"/>
                </a:solidFill>
                <a:latin typeface="Helvetica Neue"/>
              </a:rPr>
              <a:t>A working prototype</a:t>
            </a:r>
          </a:p>
        </p:txBody>
      </p:sp>
      <p:sp>
        <p:nvSpPr>
          <p:cNvPr id="8" name="TextBox 7"/>
          <p:cNvSpPr txBox="1"/>
          <p:nvPr/>
        </p:nvSpPr>
        <p:spPr>
          <a:xfrm>
            <a:off x="667512" y="1956816"/>
            <a:ext cx="1581912" cy="384048"/>
          </a:xfrm>
          <a:prstGeom prst="rect">
            <a:avLst/>
          </a:prstGeom>
          <a:noFill/>
        </p:spPr>
        <p:txBody>
          <a:bodyPr wrap="square" lIns="0" tIns="0" rIns="0" bIns="0" anchor="t">
            <a:spAutoFit/>
          </a:bodyPr>
          <a:lstStyle/>
          <a:p>
            <a:pPr algn="l">
              <a:lnSpc>
                <a:spcPts val="1050"/>
              </a:lnSpc>
            </a:pPr>
            <a:r>
              <a:rPr sz="819" b="0" i="0">
                <a:solidFill>
                  <a:srgbClr val="47576B"/>
                </a:solidFill>
                <a:latin typeface="Helvetica Neue"/>
              </a:rPr>
              <a:t>Already built and running</a:t>
            </a:r>
          </a:p>
        </p:txBody>
      </p:sp>
      <p:sp>
        <p:nvSpPr>
          <p:cNvPr id="9" name="TextBox 8"/>
          <p:cNvSpPr txBox="1"/>
          <p:nvPr/>
        </p:nvSpPr>
        <p:spPr>
          <a:xfrm>
            <a:off x="667512" y="2359152"/>
            <a:ext cx="1581912" cy="219456"/>
          </a:xfrm>
          <a:prstGeom prst="rect">
            <a:avLst/>
          </a:prstGeom>
          <a:noFill/>
        </p:spPr>
        <p:txBody>
          <a:bodyPr wrap="square" lIns="0" tIns="0" rIns="0" bIns="0" anchor="t">
            <a:spAutoFit/>
          </a:bodyPr>
          <a:lstStyle/>
          <a:p>
            <a:pPr algn="l"/>
            <a:r>
              <a:rPr sz="1200" b="1" i="0">
                <a:solidFill>
                  <a:srgbClr val="8A9AAD"/>
                </a:solidFill>
                <a:latin typeface="Helvetica Neue"/>
              </a:rPr>
              <a:t>no charge</a:t>
            </a:r>
          </a:p>
        </p:txBody>
      </p:sp>
      <p:sp>
        <p:nvSpPr>
          <p:cNvPr id="10" name="Rounded Rectangle 9"/>
          <p:cNvSpPr/>
          <p:nvPr/>
        </p:nvSpPr>
        <p:spPr>
          <a:xfrm>
            <a:off x="2578608" y="1133856"/>
            <a:ext cx="1911095" cy="1517904"/>
          </a:xfrm>
          <a:prstGeom prst="roundRect">
            <a:avLst>
              <a:gd name="adj" fmla="val 4000"/>
            </a:avLst>
          </a:prstGeom>
          <a:solidFill>
            <a:srgbClr val="F4F7FA"/>
          </a:solidFill>
          <a:ln w="9525">
            <a:solidFill>
              <a:srgbClr val="DF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0" y="1298448"/>
            <a:ext cx="1581912" cy="155448"/>
          </a:xfrm>
          <a:prstGeom prst="rect">
            <a:avLst/>
          </a:prstGeom>
          <a:noFill/>
        </p:spPr>
        <p:txBody>
          <a:bodyPr wrap="square" lIns="0" tIns="0" rIns="0" bIns="0" anchor="t">
            <a:spAutoFit/>
          </a:bodyPr>
          <a:lstStyle/>
          <a:p>
            <a:pPr algn="l"/>
            <a:r>
              <a:rPr sz="700" b="1" i="0" spc="110">
                <a:solidFill>
                  <a:srgbClr val="047857"/>
                </a:solidFill>
                <a:latin typeface="Helvetica Neue"/>
              </a:rPr>
              <a:t>WEEKS 1–6</a:t>
            </a:r>
          </a:p>
        </p:txBody>
      </p:sp>
      <p:sp>
        <p:nvSpPr>
          <p:cNvPr id="12" name="TextBox 11"/>
          <p:cNvSpPr txBox="1"/>
          <p:nvPr/>
        </p:nvSpPr>
        <p:spPr>
          <a:xfrm>
            <a:off x="2743200" y="1499616"/>
            <a:ext cx="1581912" cy="420624"/>
          </a:xfrm>
          <a:prstGeom prst="rect">
            <a:avLst/>
          </a:prstGeom>
          <a:noFill/>
        </p:spPr>
        <p:txBody>
          <a:bodyPr wrap="square" lIns="0" tIns="0" rIns="0" bIns="0" anchor="t">
            <a:spAutoFit/>
          </a:bodyPr>
          <a:lstStyle/>
          <a:p>
            <a:pPr algn="l">
              <a:lnSpc>
                <a:spcPts val="1300"/>
              </a:lnSpc>
            </a:pPr>
            <a:r>
              <a:rPr sz="1050" b="1" i="0">
                <a:solidFill>
                  <a:srgbClr val="0A1221"/>
                </a:solidFill>
                <a:latin typeface="Helvetica Neue"/>
              </a:rPr>
              <a:t>Connect your real data</a:t>
            </a:r>
          </a:p>
        </p:txBody>
      </p:sp>
      <p:sp>
        <p:nvSpPr>
          <p:cNvPr id="13" name="TextBox 12"/>
          <p:cNvSpPr txBox="1"/>
          <p:nvPr/>
        </p:nvSpPr>
        <p:spPr>
          <a:xfrm>
            <a:off x="2743200" y="1956816"/>
            <a:ext cx="1581912" cy="384048"/>
          </a:xfrm>
          <a:prstGeom prst="rect">
            <a:avLst/>
          </a:prstGeom>
          <a:noFill/>
        </p:spPr>
        <p:txBody>
          <a:bodyPr wrap="square" lIns="0" tIns="0" rIns="0" bIns="0" anchor="t">
            <a:spAutoFit/>
          </a:bodyPr>
          <a:lstStyle/>
          <a:p>
            <a:pPr algn="l">
              <a:lnSpc>
                <a:spcPts val="1050"/>
              </a:lnSpc>
            </a:pPr>
            <a:r>
              <a:rPr sz="819" b="0" i="0">
                <a:solidFill>
                  <a:srgbClr val="47576B"/>
                </a:solidFill>
                <a:latin typeface="Helvetica Neue"/>
              </a:rPr>
              <a:t>One category, one region, ten shops</a:t>
            </a:r>
          </a:p>
        </p:txBody>
      </p:sp>
      <p:sp>
        <p:nvSpPr>
          <p:cNvPr id="14" name="TextBox 13"/>
          <p:cNvSpPr txBox="1"/>
          <p:nvPr/>
        </p:nvSpPr>
        <p:spPr>
          <a:xfrm>
            <a:off x="2743200" y="2359152"/>
            <a:ext cx="1581912" cy="219456"/>
          </a:xfrm>
          <a:prstGeom prst="rect">
            <a:avLst/>
          </a:prstGeom>
          <a:noFill/>
        </p:spPr>
        <p:txBody>
          <a:bodyPr wrap="square" lIns="0" tIns="0" rIns="0" bIns="0" anchor="t">
            <a:spAutoFit/>
          </a:bodyPr>
          <a:lstStyle/>
          <a:p>
            <a:pPr algn="l"/>
            <a:r>
              <a:rPr sz="1200" b="1" i="0">
                <a:solidFill>
                  <a:srgbClr val="0A1221"/>
                </a:solidFill>
                <a:latin typeface="Helvetica Neue"/>
              </a:rPr>
              <a:t>€17,500</a:t>
            </a:r>
          </a:p>
        </p:txBody>
      </p:sp>
      <p:sp>
        <p:nvSpPr>
          <p:cNvPr id="15" name="Rounded Rectangle 14"/>
          <p:cNvSpPr/>
          <p:nvPr/>
        </p:nvSpPr>
        <p:spPr>
          <a:xfrm>
            <a:off x="4654296" y="1133856"/>
            <a:ext cx="1911095" cy="1517904"/>
          </a:xfrm>
          <a:prstGeom prst="roundRect">
            <a:avLst>
              <a:gd name="adj" fmla="val 4000"/>
            </a:avLst>
          </a:prstGeom>
          <a:solidFill>
            <a:srgbClr val="F4F7FA"/>
          </a:solidFill>
          <a:ln w="9525">
            <a:solidFill>
              <a:srgbClr val="DF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18888" y="1298448"/>
            <a:ext cx="1581912" cy="155448"/>
          </a:xfrm>
          <a:prstGeom prst="rect">
            <a:avLst/>
          </a:prstGeom>
          <a:noFill/>
        </p:spPr>
        <p:txBody>
          <a:bodyPr wrap="square" lIns="0" tIns="0" rIns="0" bIns="0" anchor="t">
            <a:spAutoFit/>
          </a:bodyPr>
          <a:lstStyle/>
          <a:p>
            <a:pPr algn="l"/>
            <a:r>
              <a:rPr sz="700" b="1" i="0" spc="110">
                <a:solidFill>
                  <a:srgbClr val="047857"/>
                </a:solidFill>
                <a:latin typeface="Helvetica Neue"/>
              </a:rPr>
              <a:t>WEEKS 7–14</a:t>
            </a:r>
          </a:p>
        </p:txBody>
      </p:sp>
      <p:sp>
        <p:nvSpPr>
          <p:cNvPr id="17" name="TextBox 16"/>
          <p:cNvSpPr txBox="1"/>
          <p:nvPr/>
        </p:nvSpPr>
        <p:spPr>
          <a:xfrm>
            <a:off x="4818888" y="1499616"/>
            <a:ext cx="1581912" cy="420624"/>
          </a:xfrm>
          <a:prstGeom prst="rect">
            <a:avLst/>
          </a:prstGeom>
          <a:noFill/>
        </p:spPr>
        <p:txBody>
          <a:bodyPr wrap="square" lIns="0" tIns="0" rIns="0" bIns="0" anchor="t">
            <a:spAutoFit/>
          </a:bodyPr>
          <a:lstStyle/>
          <a:p>
            <a:pPr algn="l">
              <a:lnSpc>
                <a:spcPts val="1300"/>
              </a:lnSpc>
            </a:pPr>
            <a:r>
              <a:rPr sz="1050" b="1" i="0">
                <a:solidFill>
                  <a:srgbClr val="0A1221"/>
                </a:solidFill>
                <a:latin typeface="Helvetica Neue"/>
              </a:rPr>
              <a:t>Build the sportswear forecast</a:t>
            </a:r>
          </a:p>
        </p:txBody>
      </p:sp>
      <p:sp>
        <p:nvSpPr>
          <p:cNvPr id="18" name="TextBox 17"/>
          <p:cNvSpPr txBox="1"/>
          <p:nvPr/>
        </p:nvSpPr>
        <p:spPr>
          <a:xfrm>
            <a:off x="4818888" y="1956816"/>
            <a:ext cx="1581912" cy="384048"/>
          </a:xfrm>
          <a:prstGeom prst="rect">
            <a:avLst/>
          </a:prstGeom>
          <a:noFill/>
        </p:spPr>
        <p:txBody>
          <a:bodyPr wrap="square" lIns="0" tIns="0" rIns="0" bIns="0" anchor="t">
            <a:spAutoFit/>
          </a:bodyPr>
          <a:lstStyle/>
          <a:p>
            <a:pPr algn="l">
              <a:lnSpc>
                <a:spcPts val="1050"/>
              </a:lnSpc>
            </a:pPr>
            <a:r>
              <a:rPr sz="819" b="0" i="0">
                <a:solidFill>
                  <a:srgbClr val="47576B"/>
                </a:solidFill>
                <a:latin typeface="Helvetica Neue"/>
              </a:rPr>
              <a:t>Train it, test it, prove it beats today</a:t>
            </a:r>
          </a:p>
        </p:txBody>
      </p:sp>
      <p:sp>
        <p:nvSpPr>
          <p:cNvPr id="19" name="TextBox 18"/>
          <p:cNvSpPr txBox="1"/>
          <p:nvPr/>
        </p:nvSpPr>
        <p:spPr>
          <a:xfrm>
            <a:off x="4818888" y="2359152"/>
            <a:ext cx="1581912" cy="219456"/>
          </a:xfrm>
          <a:prstGeom prst="rect">
            <a:avLst/>
          </a:prstGeom>
          <a:noFill/>
        </p:spPr>
        <p:txBody>
          <a:bodyPr wrap="square" lIns="0" tIns="0" rIns="0" bIns="0" anchor="t">
            <a:spAutoFit/>
          </a:bodyPr>
          <a:lstStyle/>
          <a:p>
            <a:pPr algn="l"/>
            <a:r>
              <a:rPr sz="1200" b="1" i="0">
                <a:solidFill>
                  <a:srgbClr val="0A1221"/>
                </a:solidFill>
                <a:latin typeface="Helvetica Neue"/>
              </a:rPr>
              <a:t>€28,000</a:t>
            </a:r>
          </a:p>
        </p:txBody>
      </p:sp>
      <p:sp>
        <p:nvSpPr>
          <p:cNvPr id="20" name="Rounded Rectangle 19"/>
          <p:cNvSpPr/>
          <p:nvPr/>
        </p:nvSpPr>
        <p:spPr>
          <a:xfrm>
            <a:off x="6729984" y="1133856"/>
            <a:ext cx="1911095" cy="1517904"/>
          </a:xfrm>
          <a:prstGeom prst="roundRect">
            <a:avLst>
              <a:gd name="adj" fmla="val 4000"/>
            </a:avLst>
          </a:prstGeom>
          <a:solidFill>
            <a:srgbClr val="F4F7FA"/>
          </a:solidFill>
          <a:ln w="9525">
            <a:solidFill>
              <a:srgbClr val="DF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94576" y="1298448"/>
            <a:ext cx="1581912" cy="155448"/>
          </a:xfrm>
          <a:prstGeom prst="rect">
            <a:avLst/>
          </a:prstGeom>
          <a:noFill/>
        </p:spPr>
        <p:txBody>
          <a:bodyPr wrap="square" lIns="0" tIns="0" rIns="0" bIns="0" anchor="t">
            <a:spAutoFit/>
          </a:bodyPr>
          <a:lstStyle/>
          <a:p>
            <a:pPr algn="l"/>
            <a:r>
              <a:rPr sz="700" b="1" i="0" spc="110">
                <a:solidFill>
                  <a:srgbClr val="047857"/>
                </a:solidFill>
                <a:latin typeface="Helvetica Neue"/>
              </a:rPr>
              <a:t>WEEKS 15–20</a:t>
            </a:r>
          </a:p>
        </p:txBody>
      </p:sp>
      <p:sp>
        <p:nvSpPr>
          <p:cNvPr id="22" name="TextBox 21"/>
          <p:cNvSpPr txBox="1"/>
          <p:nvPr/>
        </p:nvSpPr>
        <p:spPr>
          <a:xfrm>
            <a:off x="6894576" y="1499616"/>
            <a:ext cx="1581912" cy="420624"/>
          </a:xfrm>
          <a:prstGeom prst="rect">
            <a:avLst/>
          </a:prstGeom>
          <a:noFill/>
        </p:spPr>
        <p:txBody>
          <a:bodyPr wrap="square" lIns="0" tIns="0" rIns="0" bIns="0" anchor="t">
            <a:spAutoFit/>
          </a:bodyPr>
          <a:lstStyle/>
          <a:p>
            <a:pPr algn="l">
              <a:lnSpc>
                <a:spcPts val="1300"/>
              </a:lnSpc>
            </a:pPr>
            <a:r>
              <a:rPr sz="1050" b="1" i="0">
                <a:solidFill>
                  <a:srgbClr val="0A1221"/>
                </a:solidFill>
                <a:latin typeface="Helvetica Neue"/>
              </a:rPr>
              <a:t>Automate and pilot</a:t>
            </a:r>
          </a:p>
        </p:txBody>
      </p:sp>
      <p:sp>
        <p:nvSpPr>
          <p:cNvPr id="23" name="TextBox 22"/>
          <p:cNvSpPr txBox="1"/>
          <p:nvPr/>
        </p:nvSpPr>
        <p:spPr>
          <a:xfrm>
            <a:off x="6894576" y="1956816"/>
            <a:ext cx="1581912" cy="384048"/>
          </a:xfrm>
          <a:prstGeom prst="rect">
            <a:avLst/>
          </a:prstGeom>
          <a:noFill/>
        </p:spPr>
        <p:txBody>
          <a:bodyPr wrap="square" lIns="0" tIns="0" rIns="0" bIns="0" anchor="t">
            <a:spAutoFit/>
          </a:bodyPr>
          <a:lstStyle/>
          <a:p>
            <a:pPr algn="l">
              <a:lnSpc>
                <a:spcPts val="1050"/>
              </a:lnSpc>
            </a:pPr>
            <a:r>
              <a:rPr sz="819" b="0" i="0">
                <a:solidFill>
                  <a:srgbClr val="47576B"/>
                </a:solidFill>
                <a:latin typeface="Helvetica Neue"/>
              </a:rPr>
              <a:t>Nightly cycle, measured on real sales</a:t>
            </a:r>
          </a:p>
        </p:txBody>
      </p:sp>
      <p:sp>
        <p:nvSpPr>
          <p:cNvPr id="24" name="TextBox 23"/>
          <p:cNvSpPr txBox="1"/>
          <p:nvPr/>
        </p:nvSpPr>
        <p:spPr>
          <a:xfrm>
            <a:off x="6894576" y="2359152"/>
            <a:ext cx="1581912" cy="219456"/>
          </a:xfrm>
          <a:prstGeom prst="rect">
            <a:avLst/>
          </a:prstGeom>
          <a:noFill/>
        </p:spPr>
        <p:txBody>
          <a:bodyPr wrap="square" lIns="0" tIns="0" rIns="0" bIns="0" anchor="t">
            <a:spAutoFit/>
          </a:bodyPr>
          <a:lstStyle/>
          <a:p>
            <a:pPr algn="l"/>
            <a:r>
              <a:rPr sz="1200" b="1" i="0">
                <a:solidFill>
                  <a:srgbClr val="0A1221"/>
                </a:solidFill>
                <a:latin typeface="Helvetica Neue"/>
              </a:rPr>
              <a:t>€21,000</a:t>
            </a:r>
          </a:p>
        </p:txBody>
      </p:sp>
      <p:sp>
        <p:nvSpPr>
          <p:cNvPr id="25" name="Rounded Rectangle 24"/>
          <p:cNvSpPr/>
          <p:nvPr/>
        </p:nvSpPr>
        <p:spPr>
          <a:xfrm>
            <a:off x="502920" y="2798064"/>
            <a:ext cx="3977639" cy="1371600"/>
          </a:xfrm>
          <a:prstGeom prst="roundRect">
            <a:avLst>
              <a:gd name="adj" fmla="val 4000"/>
            </a:avLst>
          </a:prstGeom>
          <a:solidFill>
            <a:srgbClr val="F4F7FA"/>
          </a:solidFill>
          <a:ln w="9525">
            <a:solidFill>
              <a:srgbClr val="DF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4088" y="2944368"/>
            <a:ext cx="3657600" cy="155448"/>
          </a:xfrm>
          <a:prstGeom prst="rect">
            <a:avLst/>
          </a:prstGeom>
          <a:noFill/>
        </p:spPr>
        <p:txBody>
          <a:bodyPr wrap="square" lIns="0" tIns="0" rIns="0" bIns="0" anchor="t">
            <a:spAutoFit/>
          </a:bodyPr>
          <a:lstStyle/>
          <a:p>
            <a:pPr algn="l"/>
            <a:r>
              <a:rPr sz="800" b="1" i="0" spc="120">
                <a:solidFill>
                  <a:srgbClr val="8A9AAD"/>
                </a:solidFill>
                <a:latin typeface="Helvetica Neue"/>
              </a:rPr>
              <a:t>WHAT IT COMES TO</a:t>
            </a:r>
          </a:p>
        </p:txBody>
      </p:sp>
      <p:sp>
        <p:nvSpPr>
          <p:cNvPr id="27" name="TextBox 26"/>
          <p:cNvSpPr txBox="1"/>
          <p:nvPr/>
        </p:nvSpPr>
        <p:spPr>
          <a:xfrm>
            <a:off x="704088" y="3163824"/>
            <a:ext cx="2651760" cy="201168"/>
          </a:xfrm>
          <a:prstGeom prst="rect">
            <a:avLst/>
          </a:prstGeom>
          <a:noFill/>
        </p:spPr>
        <p:txBody>
          <a:bodyPr wrap="square" lIns="0" tIns="0" rIns="0" bIns="0" anchor="t">
            <a:spAutoFit/>
          </a:bodyPr>
          <a:lstStyle/>
          <a:p>
            <a:pPr algn="l"/>
            <a:r>
              <a:rPr sz="900" b="0" i="0">
                <a:solidFill>
                  <a:srgbClr val="47576B"/>
                </a:solidFill>
                <a:latin typeface="Helvetica Neue"/>
              </a:rPr>
              <a:t>Our fees, twenty weeks</a:t>
            </a:r>
          </a:p>
        </p:txBody>
      </p:sp>
      <p:sp>
        <p:nvSpPr>
          <p:cNvPr id="28" name="TextBox 27"/>
          <p:cNvSpPr txBox="1"/>
          <p:nvPr/>
        </p:nvSpPr>
        <p:spPr>
          <a:xfrm>
            <a:off x="3383280" y="3163824"/>
            <a:ext cx="914400" cy="201168"/>
          </a:xfrm>
          <a:prstGeom prst="rect">
            <a:avLst/>
          </a:prstGeom>
          <a:noFill/>
        </p:spPr>
        <p:txBody>
          <a:bodyPr wrap="square" lIns="0" tIns="0" rIns="0" bIns="0" anchor="t">
            <a:spAutoFit/>
          </a:bodyPr>
          <a:lstStyle/>
          <a:p>
            <a:pPr algn="r"/>
            <a:r>
              <a:rPr sz="900" b="1" i="0">
                <a:solidFill>
                  <a:srgbClr val="0A1221"/>
                </a:solidFill>
                <a:latin typeface="Helvetica Neue"/>
              </a:rPr>
              <a:t>€66,500</a:t>
            </a:r>
          </a:p>
        </p:txBody>
      </p:sp>
      <p:sp>
        <p:nvSpPr>
          <p:cNvPr id="29" name="TextBox 28"/>
          <p:cNvSpPr txBox="1"/>
          <p:nvPr/>
        </p:nvSpPr>
        <p:spPr>
          <a:xfrm>
            <a:off x="704088" y="3383280"/>
            <a:ext cx="2651760" cy="201168"/>
          </a:xfrm>
          <a:prstGeom prst="rect">
            <a:avLst/>
          </a:prstGeom>
          <a:noFill/>
        </p:spPr>
        <p:txBody>
          <a:bodyPr wrap="square" lIns="0" tIns="0" rIns="0" bIns="0" anchor="t">
            <a:spAutoFit/>
          </a:bodyPr>
          <a:lstStyle/>
          <a:p>
            <a:pPr algn="l"/>
            <a:r>
              <a:rPr sz="900" b="0" i="0">
                <a:solidFill>
                  <a:srgbClr val="47576B"/>
                </a:solidFill>
                <a:latin typeface="Helvetica Neue"/>
              </a:rPr>
              <a:t>Software and hosting</a:t>
            </a:r>
          </a:p>
        </p:txBody>
      </p:sp>
      <p:sp>
        <p:nvSpPr>
          <p:cNvPr id="30" name="TextBox 29"/>
          <p:cNvSpPr txBox="1"/>
          <p:nvPr/>
        </p:nvSpPr>
        <p:spPr>
          <a:xfrm>
            <a:off x="3383280" y="3383280"/>
            <a:ext cx="914400" cy="201168"/>
          </a:xfrm>
          <a:prstGeom prst="rect">
            <a:avLst/>
          </a:prstGeom>
          <a:noFill/>
        </p:spPr>
        <p:txBody>
          <a:bodyPr wrap="square" lIns="0" tIns="0" rIns="0" bIns="0" anchor="t">
            <a:spAutoFit/>
          </a:bodyPr>
          <a:lstStyle/>
          <a:p>
            <a:pPr algn="r"/>
            <a:r>
              <a:rPr sz="900" b="1" i="0">
                <a:solidFill>
                  <a:srgbClr val="0A1221"/>
                </a:solidFill>
                <a:latin typeface="Helvetica Neue"/>
              </a:rPr>
              <a:t>€2,500</a:t>
            </a:r>
          </a:p>
        </p:txBody>
      </p:sp>
      <p:sp>
        <p:nvSpPr>
          <p:cNvPr id="31" name="TextBox 30"/>
          <p:cNvSpPr txBox="1"/>
          <p:nvPr/>
        </p:nvSpPr>
        <p:spPr>
          <a:xfrm>
            <a:off x="704088" y="3602736"/>
            <a:ext cx="2651760" cy="201168"/>
          </a:xfrm>
          <a:prstGeom prst="rect">
            <a:avLst/>
          </a:prstGeom>
          <a:noFill/>
        </p:spPr>
        <p:txBody>
          <a:bodyPr wrap="square" lIns="0" tIns="0" rIns="0" bIns="0" anchor="t">
            <a:spAutoFit/>
          </a:bodyPr>
          <a:lstStyle/>
          <a:p>
            <a:pPr algn="l"/>
            <a:r>
              <a:rPr sz="900" b="0" i="0">
                <a:solidFill>
                  <a:srgbClr val="47576B"/>
                </a:solidFill>
                <a:latin typeface="Helvetica Neue"/>
              </a:rPr>
              <a:t>Your planner, two days a week</a:t>
            </a:r>
          </a:p>
        </p:txBody>
      </p:sp>
      <p:sp>
        <p:nvSpPr>
          <p:cNvPr id="32" name="TextBox 31"/>
          <p:cNvSpPr txBox="1"/>
          <p:nvPr/>
        </p:nvSpPr>
        <p:spPr>
          <a:xfrm>
            <a:off x="3383280" y="3602736"/>
            <a:ext cx="914400" cy="201168"/>
          </a:xfrm>
          <a:prstGeom prst="rect">
            <a:avLst/>
          </a:prstGeom>
          <a:noFill/>
        </p:spPr>
        <p:txBody>
          <a:bodyPr wrap="square" lIns="0" tIns="0" rIns="0" bIns="0" anchor="t">
            <a:spAutoFit/>
          </a:bodyPr>
          <a:lstStyle/>
          <a:p>
            <a:pPr algn="r"/>
            <a:r>
              <a:rPr sz="900" b="1" i="0">
                <a:solidFill>
                  <a:srgbClr val="0A1221"/>
                </a:solidFill>
                <a:latin typeface="Helvetica Neue"/>
              </a:rPr>
              <a:t>your time</a:t>
            </a:r>
          </a:p>
        </p:txBody>
      </p:sp>
      <p:sp>
        <p:nvSpPr>
          <p:cNvPr id="33" name="Rectangle 32"/>
          <p:cNvSpPr/>
          <p:nvPr/>
        </p:nvSpPr>
        <p:spPr>
          <a:xfrm>
            <a:off x="704088" y="3803904"/>
            <a:ext cx="3593592" cy="10972"/>
          </a:xfrm>
          <a:prstGeom prst="rect">
            <a:avLst/>
          </a:prstGeom>
          <a:solidFill>
            <a:srgbClr val="DFE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04088" y="3877056"/>
            <a:ext cx="2651760" cy="219456"/>
          </a:xfrm>
          <a:prstGeom prst="rect">
            <a:avLst/>
          </a:prstGeom>
          <a:noFill/>
        </p:spPr>
        <p:txBody>
          <a:bodyPr wrap="square" lIns="0" tIns="0" rIns="0" bIns="0" anchor="t">
            <a:spAutoFit/>
          </a:bodyPr>
          <a:lstStyle/>
          <a:p>
            <a:pPr algn="l"/>
            <a:r>
              <a:rPr sz="1000" b="1" i="0">
                <a:solidFill>
                  <a:srgbClr val="0A1221"/>
                </a:solidFill>
                <a:latin typeface="Helvetica Neue"/>
              </a:rPr>
              <a:t>Total to a measured result</a:t>
            </a:r>
          </a:p>
        </p:txBody>
      </p:sp>
      <p:sp>
        <p:nvSpPr>
          <p:cNvPr id="35" name="TextBox 34"/>
          <p:cNvSpPr txBox="1"/>
          <p:nvPr/>
        </p:nvSpPr>
        <p:spPr>
          <a:xfrm>
            <a:off x="3200400" y="3858768"/>
            <a:ext cx="1097280" cy="237744"/>
          </a:xfrm>
          <a:prstGeom prst="rect">
            <a:avLst/>
          </a:prstGeom>
          <a:noFill/>
        </p:spPr>
        <p:txBody>
          <a:bodyPr wrap="square" lIns="0" tIns="0" rIns="0" bIns="0" anchor="t">
            <a:spAutoFit/>
          </a:bodyPr>
          <a:lstStyle/>
          <a:p>
            <a:pPr algn="r"/>
            <a:r>
              <a:rPr sz="1300" b="1" i="0">
                <a:solidFill>
                  <a:srgbClr val="047857"/>
                </a:solidFill>
                <a:latin typeface="Helvetica Neue"/>
              </a:rPr>
              <a:t>€69,000</a:t>
            </a:r>
          </a:p>
        </p:txBody>
      </p:sp>
      <p:sp>
        <p:nvSpPr>
          <p:cNvPr id="36" name="Rounded Rectangle 35"/>
          <p:cNvSpPr/>
          <p:nvPr/>
        </p:nvSpPr>
        <p:spPr>
          <a:xfrm>
            <a:off x="4663440" y="2798064"/>
            <a:ext cx="3977639" cy="1371600"/>
          </a:xfrm>
          <a:prstGeom prst="roundRect">
            <a:avLst>
              <a:gd name="adj" fmla="val 4000"/>
            </a:avLst>
          </a:prstGeom>
          <a:solidFill>
            <a:srgbClr val="F1F6F4"/>
          </a:solidFill>
          <a:ln w="9525">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864608" y="2944368"/>
            <a:ext cx="3657600" cy="155448"/>
          </a:xfrm>
          <a:prstGeom prst="rect">
            <a:avLst/>
          </a:prstGeom>
          <a:noFill/>
        </p:spPr>
        <p:txBody>
          <a:bodyPr wrap="square" lIns="0" tIns="0" rIns="0" bIns="0" anchor="t">
            <a:spAutoFit/>
          </a:bodyPr>
          <a:lstStyle/>
          <a:p>
            <a:pPr algn="l"/>
            <a:r>
              <a:rPr sz="800" b="1" i="0" spc="120">
                <a:solidFill>
                  <a:srgbClr val="047857"/>
                </a:solidFill>
                <a:latin typeface="Helvetica Neue"/>
              </a:rPr>
              <a:t>WHEN IT PAYS FOR ITSELF</a:t>
            </a:r>
          </a:p>
        </p:txBody>
      </p:sp>
      <p:sp>
        <p:nvSpPr>
          <p:cNvPr id="38" name="TextBox 37"/>
          <p:cNvSpPr txBox="1"/>
          <p:nvPr/>
        </p:nvSpPr>
        <p:spPr>
          <a:xfrm>
            <a:off x="4864608" y="3182112"/>
            <a:ext cx="3611880" cy="676656"/>
          </a:xfrm>
          <a:prstGeom prst="rect">
            <a:avLst/>
          </a:prstGeom>
          <a:noFill/>
        </p:spPr>
        <p:txBody>
          <a:bodyPr wrap="square" lIns="0" tIns="0" rIns="0" bIns="0" anchor="t">
            <a:spAutoFit/>
          </a:bodyPr>
          <a:lstStyle/>
          <a:p>
            <a:pPr algn="l">
              <a:lnSpc>
                <a:spcPts val="1300"/>
              </a:lnSpc>
            </a:pPr>
            <a:r>
              <a:rPr sz="1000" b="0" i="0">
                <a:solidFill>
                  <a:srgbClr val="47576B"/>
                </a:solidFill>
                <a:latin typeface="Helvetica Neue"/>
              </a:rPr>
              <a:t>If the pilot delivers even a quarter of the modelled benefit, </a:t>
            </a:r>
            <a:r>
              <a:rPr sz="1000" b="1" i="0">
                <a:solidFill>
                  <a:srgbClr val="0A1221"/>
                </a:solidFill>
                <a:latin typeface="Helvetica Neue"/>
              </a:rPr>
              <a:t>€69,000 is repaid in under four months</a:t>
            </a:r>
            <a:r>
              <a:rPr sz="1000" b="0" i="0">
                <a:solidFill>
                  <a:srgbClr val="47576B"/>
                </a:solidFill>
                <a:latin typeface="Helvetica Neue"/>
              </a:rPr>
              <a:t> and the cycle keeps running after that.</a:t>
            </a:r>
          </a:p>
        </p:txBody>
      </p:sp>
      <p:sp>
        <p:nvSpPr>
          <p:cNvPr id="39" name="TextBox 38"/>
          <p:cNvSpPr txBox="1"/>
          <p:nvPr/>
        </p:nvSpPr>
        <p:spPr>
          <a:xfrm>
            <a:off x="4864608" y="3877056"/>
            <a:ext cx="3611880" cy="201168"/>
          </a:xfrm>
          <a:prstGeom prst="rect">
            <a:avLst/>
          </a:prstGeom>
          <a:noFill/>
        </p:spPr>
        <p:txBody>
          <a:bodyPr wrap="square" lIns="0" tIns="0" rIns="0" bIns="0" anchor="t">
            <a:spAutoFit/>
          </a:bodyPr>
          <a:lstStyle/>
          <a:p>
            <a:pPr algn="l"/>
            <a:r>
              <a:rPr sz="800" b="0" i="1">
                <a:solidFill>
                  <a:srgbClr val="8A9AAD"/>
                </a:solidFill>
                <a:latin typeface="Helvetica Neue"/>
              </a:rPr>
              <a:t>Full modelled benefit was €1.11m a year. A quarter is €277k.</a:t>
            </a:r>
          </a:p>
        </p:txBody>
      </p:sp>
      <p:sp>
        <p:nvSpPr>
          <p:cNvPr id="40" name="TextBox 39"/>
          <p:cNvSpPr txBox="1"/>
          <p:nvPr/>
        </p:nvSpPr>
        <p:spPr>
          <a:xfrm>
            <a:off x="502920" y="4791456"/>
            <a:ext cx="8138160" cy="182880"/>
          </a:xfrm>
          <a:prstGeom prst="rect">
            <a:avLst/>
          </a:prstGeom>
          <a:noFill/>
        </p:spPr>
        <p:txBody>
          <a:bodyPr wrap="square" lIns="0" tIns="0" rIns="0" bIns="0" anchor="t">
            <a:spAutoFit/>
          </a:bodyPr>
          <a:lstStyle/>
          <a:p>
            <a:pPr algn="l"/>
            <a:r>
              <a:rPr sz="650" b="0" i="0">
                <a:solidFill>
                  <a:srgbClr val="8A9AAD"/>
                </a:solidFill>
                <a:latin typeface="Helvetica Neue"/>
              </a:rPr>
              <a:t>Assumes a €700 day rate, one engineer, your data available by week 2, and one planner released two days a week. Excludes ERP integration work your own IT may need  ·  Not a fixed-price quote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A12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5943600" cy="155448"/>
          </a:xfrm>
          <a:prstGeom prst="rect">
            <a:avLst/>
          </a:prstGeom>
          <a:noFill/>
        </p:spPr>
        <p:txBody>
          <a:bodyPr wrap="square" lIns="0" tIns="0" rIns="0" bIns="0" anchor="t">
            <a:spAutoFit/>
          </a:bodyPr>
          <a:lstStyle/>
          <a:p>
            <a:pPr algn="l"/>
            <a:r>
              <a:rPr sz="850" b="1" i="0" spc="200">
                <a:solidFill>
                  <a:srgbClr val="10B981"/>
                </a:solidFill>
                <a:latin typeface="Helvetica Neue"/>
              </a:rPr>
              <a:t>WHAT WE ARE ASKING FOR  ·  14</a:t>
            </a:r>
          </a:p>
        </p:txBody>
      </p:sp>
      <p:sp>
        <p:nvSpPr>
          <p:cNvPr id="4" name="TextBox 3"/>
          <p:cNvSpPr txBox="1"/>
          <p:nvPr/>
        </p:nvSpPr>
        <p:spPr>
          <a:xfrm>
            <a:off x="502920" y="475488"/>
            <a:ext cx="8138160" cy="530352"/>
          </a:xfrm>
          <a:prstGeom prst="rect">
            <a:avLst/>
          </a:prstGeom>
          <a:noFill/>
        </p:spPr>
        <p:txBody>
          <a:bodyPr wrap="square" lIns="0" tIns="0" rIns="0" bIns="0" anchor="t">
            <a:spAutoFit/>
          </a:bodyPr>
          <a:lstStyle/>
          <a:p>
            <a:pPr algn="l"/>
            <a:r>
              <a:rPr sz="2200" b="1" i="0">
                <a:solidFill>
                  <a:srgbClr val="FFFFFF"/>
                </a:solidFill>
                <a:latin typeface="Helvetica Neue"/>
              </a:rPr>
              <a:t>Six weeks, ten shops, one honest answer</a:t>
            </a:r>
          </a:p>
        </p:txBody>
      </p:sp>
      <p:sp>
        <p:nvSpPr>
          <p:cNvPr id="5" name="Rounded Rectangle 4"/>
          <p:cNvSpPr/>
          <p:nvPr/>
        </p:nvSpPr>
        <p:spPr>
          <a:xfrm>
            <a:off x="502920" y="1097280"/>
            <a:ext cx="4160520" cy="2999232"/>
          </a:xfrm>
          <a:prstGeom prst="roundRect">
            <a:avLst>
              <a:gd name="adj" fmla="val 3000"/>
            </a:avLst>
          </a:prstGeom>
          <a:solidFill>
            <a:srgbClr val="16223C"/>
          </a:solidFill>
          <a:ln w="9525">
            <a:solidFill>
              <a:srgbClr val="2232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1335024"/>
            <a:ext cx="3657600" cy="155448"/>
          </a:xfrm>
          <a:prstGeom prst="rect">
            <a:avLst/>
          </a:prstGeom>
          <a:noFill/>
        </p:spPr>
        <p:txBody>
          <a:bodyPr wrap="square" lIns="0" tIns="0" rIns="0" bIns="0" anchor="t">
            <a:spAutoFit/>
          </a:bodyPr>
          <a:lstStyle/>
          <a:p>
            <a:pPr algn="l"/>
            <a:r>
              <a:rPr sz="800" b="1" i="0" spc="120">
                <a:solidFill>
                  <a:srgbClr val="6B7F96"/>
                </a:solidFill>
                <a:latin typeface="Helvetica Neue"/>
              </a:rPr>
              <a:t>WHAT WE NEED FROM YOU</a:t>
            </a:r>
          </a:p>
        </p:txBody>
      </p:sp>
      <p:sp>
        <p:nvSpPr>
          <p:cNvPr id="7" name="Oval 6"/>
          <p:cNvSpPr/>
          <p:nvPr/>
        </p:nvSpPr>
        <p:spPr>
          <a:xfrm>
            <a:off x="740664" y="1591056"/>
            <a:ext cx="182880" cy="1828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0664" y="1613916"/>
            <a:ext cx="182880" cy="164592"/>
          </a:xfrm>
          <a:prstGeom prst="rect">
            <a:avLst/>
          </a:prstGeom>
          <a:noFill/>
        </p:spPr>
        <p:txBody>
          <a:bodyPr wrap="square" lIns="0" tIns="0" rIns="0" bIns="0" anchor="t">
            <a:spAutoFit/>
          </a:bodyPr>
          <a:lstStyle/>
          <a:p>
            <a:pPr algn="ctr"/>
            <a:r>
              <a:rPr sz="750" b="1" i="0">
                <a:solidFill>
                  <a:srgbClr val="0A1221"/>
                </a:solidFill>
                <a:latin typeface="Helvetica Neue"/>
              </a:rPr>
              <a:t>1</a:t>
            </a:r>
          </a:p>
        </p:txBody>
      </p:sp>
      <p:sp>
        <p:nvSpPr>
          <p:cNvPr id="9" name="TextBox 8"/>
          <p:cNvSpPr txBox="1"/>
          <p:nvPr/>
        </p:nvSpPr>
        <p:spPr>
          <a:xfrm>
            <a:off x="1014984" y="1572768"/>
            <a:ext cx="3017520" cy="182880"/>
          </a:xfrm>
          <a:prstGeom prst="rect">
            <a:avLst/>
          </a:prstGeom>
          <a:noFill/>
        </p:spPr>
        <p:txBody>
          <a:bodyPr wrap="square" lIns="0" tIns="0" rIns="0" bIns="0" anchor="t">
            <a:spAutoFit/>
          </a:bodyPr>
          <a:lstStyle/>
          <a:p>
            <a:pPr algn="l"/>
            <a:r>
              <a:rPr sz="1050" b="1" i="0">
                <a:solidFill>
                  <a:srgbClr val="FFFFFF"/>
                </a:solidFill>
                <a:latin typeface="Helvetica Neue"/>
              </a:rPr>
              <a:t>Two years of sales history</a:t>
            </a:r>
          </a:p>
        </p:txBody>
      </p:sp>
      <p:sp>
        <p:nvSpPr>
          <p:cNvPr id="10" name="TextBox 9"/>
          <p:cNvSpPr txBox="1"/>
          <p:nvPr/>
        </p:nvSpPr>
        <p:spPr>
          <a:xfrm>
            <a:off x="1014984" y="1764792"/>
            <a:ext cx="3017520" cy="219456"/>
          </a:xfrm>
          <a:prstGeom prst="rect">
            <a:avLst/>
          </a:prstGeom>
          <a:noFill/>
        </p:spPr>
        <p:txBody>
          <a:bodyPr wrap="square" lIns="0" tIns="0" rIns="0" bIns="0" anchor="t">
            <a:spAutoFit/>
          </a:bodyPr>
          <a:lstStyle/>
          <a:p>
            <a:pPr algn="l"/>
            <a:r>
              <a:rPr sz="850" b="0" i="0">
                <a:solidFill>
                  <a:srgbClr val="C3D1E0"/>
                </a:solidFill>
                <a:latin typeface="Helvetica Neue"/>
              </a:rPr>
              <a:t>Whatever your till system already keeps</a:t>
            </a:r>
          </a:p>
        </p:txBody>
      </p:sp>
      <p:sp>
        <p:nvSpPr>
          <p:cNvPr id="11" name="Oval 10"/>
          <p:cNvSpPr/>
          <p:nvPr/>
        </p:nvSpPr>
        <p:spPr>
          <a:xfrm>
            <a:off x="740664" y="2194560"/>
            <a:ext cx="182880" cy="1828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0664" y="2217420"/>
            <a:ext cx="182880" cy="164592"/>
          </a:xfrm>
          <a:prstGeom prst="rect">
            <a:avLst/>
          </a:prstGeom>
          <a:noFill/>
        </p:spPr>
        <p:txBody>
          <a:bodyPr wrap="square" lIns="0" tIns="0" rIns="0" bIns="0" anchor="t">
            <a:spAutoFit/>
          </a:bodyPr>
          <a:lstStyle/>
          <a:p>
            <a:pPr algn="ctr"/>
            <a:r>
              <a:rPr sz="750" b="1" i="0">
                <a:solidFill>
                  <a:srgbClr val="0A1221"/>
                </a:solidFill>
                <a:latin typeface="Helvetica Neue"/>
              </a:rPr>
              <a:t>2</a:t>
            </a:r>
          </a:p>
        </p:txBody>
      </p:sp>
      <p:sp>
        <p:nvSpPr>
          <p:cNvPr id="13" name="TextBox 12"/>
          <p:cNvSpPr txBox="1"/>
          <p:nvPr/>
        </p:nvSpPr>
        <p:spPr>
          <a:xfrm>
            <a:off x="1014984" y="2176272"/>
            <a:ext cx="3017520" cy="182880"/>
          </a:xfrm>
          <a:prstGeom prst="rect">
            <a:avLst/>
          </a:prstGeom>
          <a:noFill/>
        </p:spPr>
        <p:txBody>
          <a:bodyPr wrap="square" lIns="0" tIns="0" rIns="0" bIns="0" anchor="t">
            <a:spAutoFit/>
          </a:bodyPr>
          <a:lstStyle/>
          <a:p>
            <a:pPr algn="l"/>
            <a:r>
              <a:rPr sz="1050" b="1" i="0">
                <a:solidFill>
                  <a:srgbClr val="FFFFFF"/>
                </a:solidFill>
                <a:latin typeface="Helvetica Neue"/>
              </a:rPr>
              <a:t>Today’s stock and assortment</a:t>
            </a:r>
          </a:p>
        </p:txBody>
      </p:sp>
      <p:sp>
        <p:nvSpPr>
          <p:cNvPr id="14" name="TextBox 13"/>
          <p:cNvSpPr txBox="1"/>
          <p:nvPr/>
        </p:nvSpPr>
        <p:spPr>
          <a:xfrm>
            <a:off x="1014984" y="2368296"/>
            <a:ext cx="3017520" cy="219456"/>
          </a:xfrm>
          <a:prstGeom prst="rect">
            <a:avLst/>
          </a:prstGeom>
          <a:noFill/>
        </p:spPr>
        <p:txBody>
          <a:bodyPr wrap="square" lIns="0" tIns="0" rIns="0" bIns="0" anchor="t">
            <a:spAutoFit/>
          </a:bodyPr>
          <a:lstStyle/>
          <a:p>
            <a:pPr algn="l"/>
            <a:r>
              <a:rPr sz="850" b="0" i="0">
                <a:solidFill>
                  <a:srgbClr val="C3D1E0"/>
                </a:solidFill>
                <a:latin typeface="Helvetica Neue"/>
              </a:rPr>
              <a:t>What each shop holds and is allowed to hold</a:t>
            </a:r>
          </a:p>
        </p:txBody>
      </p:sp>
      <p:sp>
        <p:nvSpPr>
          <p:cNvPr id="15" name="Oval 14"/>
          <p:cNvSpPr/>
          <p:nvPr/>
        </p:nvSpPr>
        <p:spPr>
          <a:xfrm>
            <a:off x="740664" y="2798064"/>
            <a:ext cx="182880" cy="1828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0664" y="2820924"/>
            <a:ext cx="182880" cy="164592"/>
          </a:xfrm>
          <a:prstGeom prst="rect">
            <a:avLst/>
          </a:prstGeom>
          <a:noFill/>
        </p:spPr>
        <p:txBody>
          <a:bodyPr wrap="square" lIns="0" tIns="0" rIns="0" bIns="0" anchor="t">
            <a:spAutoFit/>
          </a:bodyPr>
          <a:lstStyle/>
          <a:p>
            <a:pPr algn="ctr"/>
            <a:r>
              <a:rPr sz="750" b="1" i="0">
                <a:solidFill>
                  <a:srgbClr val="0A1221"/>
                </a:solidFill>
                <a:latin typeface="Helvetica Neue"/>
              </a:rPr>
              <a:t>3</a:t>
            </a:r>
          </a:p>
        </p:txBody>
      </p:sp>
      <p:sp>
        <p:nvSpPr>
          <p:cNvPr id="17" name="TextBox 16"/>
          <p:cNvSpPr txBox="1"/>
          <p:nvPr/>
        </p:nvSpPr>
        <p:spPr>
          <a:xfrm>
            <a:off x="1014984" y="2779776"/>
            <a:ext cx="3017520" cy="182880"/>
          </a:xfrm>
          <a:prstGeom prst="rect">
            <a:avLst/>
          </a:prstGeom>
          <a:noFill/>
        </p:spPr>
        <p:txBody>
          <a:bodyPr wrap="square" lIns="0" tIns="0" rIns="0" bIns="0" anchor="t">
            <a:spAutoFit/>
          </a:bodyPr>
          <a:lstStyle/>
          <a:p>
            <a:pPr algn="l"/>
            <a:r>
              <a:rPr sz="1050" b="1" i="0">
                <a:solidFill>
                  <a:srgbClr val="FFFFFF"/>
                </a:solidFill>
                <a:latin typeface="Helvetica Neue"/>
              </a:rPr>
              <a:t>One category, one region</a:t>
            </a:r>
          </a:p>
        </p:txBody>
      </p:sp>
      <p:sp>
        <p:nvSpPr>
          <p:cNvPr id="18" name="TextBox 17"/>
          <p:cNvSpPr txBox="1"/>
          <p:nvPr/>
        </p:nvSpPr>
        <p:spPr>
          <a:xfrm>
            <a:off x="1014984" y="2971800"/>
            <a:ext cx="3017520" cy="219456"/>
          </a:xfrm>
          <a:prstGeom prst="rect">
            <a:avLst/>
          </a:prstGeom>
          <a:noFill/>
        </p:spPr>
        <p:txBody>
          <a:bodyPr wrap="square" lIns="0" tIns="0" rIns="0" bIns="0" anchor="t">
            <a:spAutoFit/>
          </a:bodyPr>
          <a:lstStyle/>
          <a:p>
            <a:pPr algn="l"/>
            <a:r>
              <a:rPr sz="850" b="0" i="0">
                <a:solidFill>
                  <a:srgbClr val="C3D1E0"/>
                </a:solidFill>
                <a:latin typeface="Helvetica Neue"/>
              </a:rPr>
              <a:t>Ten shops is enough to prove or disprove this</a:t>
            </a:r>
          </a:p>
        </p:txBody>
      </p:sp>
      <p:sp>
        <p:nvSpPr>
          <p:cNvPr id="19" name="Oval 18"/>
          <p:cNvSpPr/>
          <p:nvPr/>
        </p:nvSpPr>
        <p:spPr>
          <a:xfrm>
            <a:off x="740664" y="3401568"/>
            <a:ext cx="182880" cy="1828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0664" y="3424428"/>
            <a:ext cx="182880" cy="164592"/>
          </a:xfrm>
          <a:prstGeom prst="rect">
            <a:avLst/>
          </a:prstGeom>
          <a:noFill/>
        </p:spPr>
        <p:txBody>
          <a:bodyPr wrap="square" lIns="0" tIns="0" rIns="0" bIns="0" anchor="t">
            <a:spAutoFit/>
          </a:bodyPr>
          <a:lstStyle/>
          <a:p>
            <a:pPr algn="ctr"/>
            <a:r>
              <a:rPr sz="750" b="1" i="0">
                <a:solidFill>
                  <a:srgbClr val="0A1221"/>
                </a:solidFill>
                <a:latin typeface="Helvetica Neue"/>
              </a:rPr>
              <a:t>4</a:t>
            </a:r>
          </a:p>
        </p:txBody>
      </p:sp>
      <p:sp>
        <p:nvSpPr>
          <p:cNvPr id="21" name="TextBox 20"/>
          <p:cNvSpPr txBox="1"/>
          <p:nvPr/>
        </p:nvSpPr>
        <p:spPr>
          <a:xfrm>
            <a:off x="1014984" y="3383280"/>
            <a:ext cx="3017520" cy="182880"/>
          </a:xfrm>
          <a:prstGeom prst="rect">
            <a:avLst/>
          </a:prstGeom>
          <a:noFill/>
        </p:spPr>
        <p:txBody>
          <a:bodyPr wrap="square" lIns="0" tIns="0" rIns="0" bIns="0" anchor="t">
            <a:spAutoFit/>
          </a:bodyPr>
          <a:lstStyle/>
          <a:p>
            <a:pPr algn="l"/>
            <a:r>
              <a:rPr sz="1050" b="1" i="0">
                <a:solidFill>
                  <a:srgbClr val="FFFFFF"/>
                </a:solidFill>
                <a:latin typeface="Helvetica Neue"/>
              </a:rPr>
              <a:t>One planner, two days a week</a:t>
            </a:r>
          </a:p>
        </p:txBody>
      </p:sp>
      <p:sp>
        <p:nvSpPr>
          <p:cNvPr id="22" name="TextBox 21"/>
          <p:cNvSpPr txBox="1"/>
          <p:nvPr/>
        </p:nvSpPr>
        <p:spPr>
          <a:xfrm>
            <a:off x="1014984" y="3575304"/>
            <a:ext cx="3017520" cy="219456"/>
          </a:xfrm>
          <a:prstGeom prst="rect">
            <a:avLst/>
          </a:prstGeom>
          <a:noFill/>
        </p:spPr>
        <p:txBody>
          <a:bodyPr wrap="square" lIns="0" tIns="0" rIns="0" bIns="0" anchor="t">
            <a:spAutoFit/>
          </a:bodyPr>
          <a:lstStyle/>
          <a:p>
            <a:pPr algn="l"/>
            <a:r>
              <a:rPr sz="850" b="0" i="0">
                <a:solidFill>
                  <a:srgbClr val="C3D1E0"/>
                </a:solidFill>
                <a:latin typeface="Helvetica Neue"/>
              </a:rPr>
              <a:t>The person who knows why the rules exist</a:t>
            </a:r>
          </a:p>
        </p:txBody>
      </p:sp>
      <p:sp>
        <p:nvSpPr>
          <p:cNvPr id="23" name="Rounded Rectangle 22"/>
          <p:cNvSpPr/>
          <p:nvPr/>
        </p:nvSpPr>
        <p:spPr>
          <a:xfrm>
            <a:off x="4892040" y="1097280"/>
            <a:ext cx="3749039" cy="2999232"/>
          </a:xfrm>
          <a:prstGeom prst="roundRect">
            <a:avLst>
              <a:gd name="adj" fmla="val 3000"/>
            </a:avLst>
          </a:prstGeom>
          <a:solidFill>
            <a:srgbClr val="16223C"/>
          </a:solidFill>
          <a:ln w="9525">
            <a:solidFill>
              <a:srgbClr val="2232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29784" y="1335024"/>
            <a:ext cx="3273552" cy="155448"/>
          </a:xfrm>
          <a:prstGeom prst="rect">
            <a:avLst/>
          </a:prstGeom>
          <a:noFill/>
        </p:spPr>
        <p:txBody>
          <a:bodyPr wrap="square" lIns="0" tIns="0" rIns="0" bIns="0" anchor="t">
            <a:spAutoFit/>
          </a:bodyPr>
          <a:lstStyle/>
          <a:p>
            <a:pPr algn="l"/>
            <a:r>
              <a:rPr sz="800" b="1" i="0" spc="120">
                <a:solidFill>
                  <a:srgbClr val="10B981"/>
                </a:solidFill>
                <a:latin typeface="Helvetica Neue"/>
              </a:rPr>
              <a:t>WHAT YOU GET BACK</a:t>
            </a:r>
          </a:p>
        </p:txBody>
      </p:sp>
      <p:sp>
        <p:nvSpPr>
          <p:cNvPr id="25" name="TextBox 24"/>
          <p:cNvSpPr txBox="1"/>
          <p:nvPr/>
        </p:nvSpPr>
        <p:spPr>
          <a:xfrm>
            <a:off x="5129784" y="1609344"/>
            <a:ext cx="3273552" cy="201168"/>
          </a:xfrm>
          <a:prstGeom prst="rect">
            <a:avLst/>
          </a:prstGeom>
          <a:noFill/>
        </p:spPr>
        <p:txBody>
          <a:bodyPr wrap="square" lIns="0" tIns="0" rIns="0" bIns="0" anchor="t">
            <a:spAutoFit/>
          </a:bodyPr>
          <a:lstStyle/>
          <a:p>
            <a:pPr algn="l"/>
            <a:r>
              <a:rPr sz="1100" b="1" i="0">
                <a:solidFill>
                  <a:srgbClr val="10B981"/>
                </a:solidFill>
                <a:latin typeface="Helvetica Neue"/>
              </a:rPr>
              <a:t>A number, not a promise</a:t>
            </a:r>
          </a:p>
        </p:txBody>
      </p:sp>
      <p:sp>
        <p:nvSpPr>
          <p:cNvPr id="26" name="TextBox 25"/>
          <p:cNvSpPr txBox="1"/>
          <p:nvPr/>
        </p:nvSpPr>
        <p:spPr>
          <a:xfrm>
            <a:off x="5129784" y="1828800"/>
            <a:ext cx="3273552" cy="420624"/>
          </a:xfrm>
          <a:prstGeom prst="rect">
            <a:avLst/>
          </a:prstGeom>
          <a:noFill/>
        </p:spPr>
        <p:txBody>
          <a:bodyPr wrap="square" lIns="0" tIns="0" rIns="0" bIns="0" anchor="t">
            <a:spAutoFit/>
          </a:bodyPr>
          <a:lstStyle/>
          <a:p>
            <a:pPr algn="l">
              <a:lnSpc>
                <a:spcPts val="1150"/>
              </a:lnSpc>
            </a:pPr>
            <a:r>
              <a:rPr sz="900" b="0" i="0">
                <a:solidFill>
                  <a:srgbClr val="C3D1E0"/>
                </a:solidFill>
                <a:latin typeface="Helvetica Neue"/>
              </a:rPr>
              <a:t>Measured service, stock and margin on ten real shops.</a:t>
            </a:r>
          </a:p>
        </p:txBody>
      </p:sp>
      <p:sp>
        <p:nvSpPr>
          <p:cNvPr id="27" name="TextBox 26"/>
          <p:cNvSpPr txBox="1"/>
          <p:nvPr/>
        </p:nvSpPr>
        <p:spPr>
          <a:xfrm>
            <a:off x="5129784" y="2395728"/>
            <a:ext cx="3273552" cy="201168"/>
          </a:xfrm>
          <a:prstGeom prst="rect">
            <a:avLst/>
          </a:prstGeom>
          <a:noFill/>
        </p:spPr>
        <p:txBody>
          <a:bodyPr wrap="square" lIns="0" tIns="0" rIns="0" bIns="0" anchor="t">
            <a:spAutoFit/>
          </a:bodyPr>
          <a:lstStyle/>
          <a:p>
            <a:pPr algn="l"/>
            <a:r>
              <a:rPr sz="1100" b="1" i="0">
                <a:solidFill>
                  <a:srgbClr val="10B981"/>
                </a:solidFill>
                <a:latin typeface="Helvetica Neue"/>
              </a:rPr>
              <a:t>A decision point at week 20</a:t>
            </a:r>
          </a:p>
        </p:txBody>
      </p:sp>
      <p:sp>
        <p:nvSpPr>
          <p:cNvPr id="28" name="TextBox 27"/>
          <p:cNvSpPr txBox="1"/>
          <p:nvPr/>
        </p:nvSpPr>
        <p:spPr>
          <a:xfrm>
            <a:off x="5129784" y="2615184"/>
            <a:ext cx="3273552" cy="420624"/>
          </a:xfrm>
          <a:prstGeom prst="rect">
            <a:avLst/>
          </a:prstGeom>
          <a:noFill/>
        </p:spPr>
        <p:txBody>
          <a:bodyPr wrap="square" lIns="0" tIns="0" rIns="0" bIns="0" anchor="t">
            <a:spAutoFit/>
          </a:bodyPr>
          <a:lstStyle/>
          <a:p>
            <a:pPr algn="l">
              <a:lnSpc>
                <a:spcPts val="1150"/>
              </a:lnSpc>
            </a:pPr>
            <a:r>
              <a:rPr sz="900" b="0" i="0">
                <a:solidFill>
                  <a:srgbClr val="C3D1E0"/>
                </a:solidFill>
                <a:latin typeface="Helvetica Neue"/>
              </a:rPr>
              <a:t>Roll it out, change it, or stop. All three are acceptable answers.</a:t>
            </a:r>
          </a:p>
        </p:txBody>
      </p:sp>
      <p:sp>
        <p:nvSpPr>
          <p:cNvPr id="29" name="TextBox 28"/>
          <p:cNvSpPr txBox="1"/>
          <p:nvPr/>
        </p:nvSpPr>
        <p:spPr>
          <a:xfrm>
            <a:off x="5129784" y="3182112"/>
            <a:ext cx="3273552" cy="201168"/>
          </a:xfrm>
          <a:prstGeom prst="rect">
            <a:avLst/>
          </a:prstGeom>
          <a:noFill/>
        </p:spPr>
        <p:txBody>
          <a:bodyPr wrap="square" lIns="0" tIns="0" rIns="0" bIns="0" anchor="t">
            <a:spAutoFit/>
          </a:bodyPr>
          <a:lstStyle/>
          <a:p>
            <a:pPr algn="l"/>
            <a:r>
              <a:rPr sz="1100" b="1" i="0">
                <a:solidFill>
                  <a:srgbClr val="10B981"/>
                </a:solidFill>
                <a:latin typeface="Helvetica Neue"/>
              </a:rPr>
              <a:t>Everything we build, documented</a:t>
            </a:r>
          </a:p>
        </p:txBody>
      </p:sp>
      <p:sp>
        <p:nvSpPr>
          <p:cNvPr id="30" name="TextBox 29"/>
          <p:cNvSpPr txBox="1"/>
          <p:nvPr/>
        </p:nvSpPr>
        <p:spPr>
          <a:xfrm>
            <a:off x="5129784" y="3401568"/>
            <a:ext cx="3273552" cy="420624"/>
          </a:xfrm>
          <a:prstGeom prst="rect">
            <a:avLst/>
          </a:prstGeom>
          <a:noFill/>
        </p:spPr>
        <p:txBody>
          <a:bodyPr wrap="square" lIns="0" tIns="0" rIns="0" bIns="0" anchor="t">
            <a:spAutoFit/>
          </a:bodyPr>
          <a:lstStyle/>
          <a:p>
            <a:pPr algn="l">
              <a:lnSpc>
                <a:spcPts val="1150"/>
              </a:lnSpc>
            </a:pPr>
            <a:r>
              <a:rPr sz="900" b="0" i="0">
                <a:solidFill>
                  <a:srgbClr val="C3D1E0"/>
                </a:solidFill>
                <a:latin typeface="Helvetica Neue"/>
              </a:rPr>
              <a:t>The model, the rules and the evidence stay with you either way.</a:t>
            </a:r>
          </a:p>
        </p:txBody>
      </p:sp>
      <p:sp>
        <p:nvSpPr>
          <p:cNvPr id="31" name="Rounded Rectangle 30"/>
          <p:cNvSpPr/>
          <p:nvPr/>
        </p:nvSpPr>
        <p:spPr>
          <a:xfrm>
            <a:off x="502920" y="4224528"/>
            <a:ext cx="8138160" cy="493776"/>
          </a:xfrm>
          <a:prstGeom prst="roundRect">
            <a:avLst>
              <a:gd name="adj" fmla="val 3000"/>
            </a:avLst>
          </a:prstGeom>
          <a:solidFill>
            <a:srgbClr val="1B2A1F"/>
          </a:solidFill>
          <a:ln w="9525">
            <a:solidFill>
              <a:srgbClr val="176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13232" y="4334256"/>
            <a:ext cx="7772400" cy="310896"/>
          </a:xfrm>
          <a:prstGeom prst="rect">
            <a:avLst/>
          </a:prstGeom>
          <a:noFill/>
        </p:spPr>
        <p:txBody>
          <a:bodyPr wrap="square" lIns="0" tIns="0" rIns="0" bIns="0" anchor="t">
            <a:spAutoFit/>
          </a:bodyPr>
          <a:lstStyle/>
          <a:p>
            <a:pPr algn="l">
              <a:lnSpc>
                <a:spcPts val="1300"/>
              </a:lnSpc>
            </a:pPr>
            <a:r>
              <a:rPr sz="1050" b="0" i="0">
                <a:solidFill>
                  <a:srgbClr val="C3D1E0"/>
                </a:solidFill>
                <a:latin typeface="Helvetica Neue"/>
              </a:rPr>
              <a:t>You asked what “the AI” is. </a:t>
            </a:r>
            <a:r>
              <a:rPr sz="1050" b="1" i="0">
                <a:solidFill>
                  <a:srgbClr val="FFFFFF"/>
                </a:solidFill>
                <a:latin typeface="Helvetica Neue"/>
              </a:rPr>
              <a:t>It is a forecast and a ranking, both checked against what really sold, inside a system that shows its reasoning on every 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22026</TotalTime>
  <Words>3532</Words>
  <Application>Microsoft Macintosh PowerPoint</Application>
  <PresentationFormat>On-screen Show (16:9)</PresentationFormat>
  <Paragraphs>455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ni4ka7 ni4ka7</cp:lastModifiedBy>
  <cp:revision>4</cp:revision>
  <dcterms:created xsi:type="dcterms:W3CDTF">2026-09-19T12:05:14Z</dcterms:created>
  <dcterms:modified xsi:type="dcterms:W3CDTF">2026-10-10T00:15:23Z</dcterms:modified>
</cp:coreProperties>
</file>